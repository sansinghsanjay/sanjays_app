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61" r:id="rId3"/>
    <p:sldId id="259" r:id="rId4"/>
    <p:sldId id="260" r:id="rId5"/>
    <p:sldId id="275" r:id="rId6"/>
    <p:sldId id="276" r:id="rId7"/>
    <p:sldId id="277" r:id="rId8"/>
    <p:sldId id="278" r:id="rId9"/>
    <p:sldId id="279" r:id="rId10"/>
    <p:sldId id="280" r:id="rId11"/>
    <p:sldId id="283" r:id="rId12"/>
    <p:sldId id="285" r:id="rId13"/>
    <p:sldId id="264" r:id="rId14"/>
    <p:sldId id="286" r:id="rId15"/>
    <p:sldId id="287" r:id="rId16"/>
    <p:sldId id="288" r:id="rId17"/>
    <p:sldId id="273" r:id="rId18"/>
    <p:sldId id="272" r:id="rId19"/>
    <p:sldId id="266" r:id="rId20"/>
    <p:sldId id="282" r:id="rId21"/>
    <p:sldId id="28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039" autoAdjust="0"/>
  </p:normalViewPr>
  <p:slideViewPr>
    <p:cSldViewPr snapToGrid="0">
      <p:cViewPr varScale="1">
        <p:scale>
          <a:sx n="74" d="100"/>
          <a:sy n="74" d="100"/>
        </p:scale>
        <p:origin x="1042"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508B55E-841C-491D-9D1B-6059B06288E6}" type="doc">
      <dgm:prSet loTypeId="urn:microsoft.com/office/officeart/2005/8/layout/cycle2" loCatId="cycle" qsTypeId="urn:microsoft.com/office/officeart/2005/8/quickstyle/simple1" qsCatId="simple" csTypeId="urn:microsoft.com/office/officeart/2005/8/colors/colorful1" csCatId="colorful" phldr="1"/>
      <dgm:spPr/>
      <dgm:t>
        <a:bodyPr/>
        <a:lstStyle/>
        <a:p>
          <a:endParaRPr lang="en-IN"/>
        </a:p>
      </dgm:t>
    </dgm:pt>
    <dgm:pt modelId="{B30EBD39-38DB-4A22-8F63-60F7711F0CD4}">
      <dgm:prSet phldrT="[Text]" phldr="0" custT="1"/>
      <dgm:spPr/>
      <dgm:t>
        <a:bodyPr/>
        <a:lstStyle/>
        <a:p>
          <a:r>
            <a:rPr lang="en-IN" sz="1600" dirty="0"/>
            <a:t>3. Develop</a:t>
          </a:r>
        </a:p>
      </dgm:t>
    </dgm:pt>
    <dgm:pt modelId="{6F92F4EC-0DA5-434E-B351-88C97D847336}" type="parTrans" cxnId="{427BD2FC-48F1-417A-AD07-D703621105A0}">
      <dgm:prSet/>
      <dgm:spPr/>
      <dgm:t>
        <a:bodyPr/>
        <a:lstStyle/>
        <a:p>
          <a:endParaRPr lang="en-IN"/>
        </a:p>
      </dgm:t>
    </dgm:pt>
    <dgm:pt modelId="{624A177C-CB4E-4A4D-A117-F8D4E7C8906B}" type="sibTrans" cxnId="{427BD2FC-48F1-417A-AD07-D703621105A0}">
      <dgm:prSet/>
      <dgm:spPr/>
      <dgm:t>
        <a:bodyPr/>
        <a:lstStyle/>
        <a:p>
          <a:endParaRPr lang="en-IN"/>
        </a:p>
      </dgm:t>
    </dgm:pt>
    <dgm:pt modelId="{CA960571-4FAB-4944-92CA-D93C9234DDF4}">
      <dgm:prSet phldrT="[Text]" phldr="0" custT="1"/>
      <dgm:spPr/>
      <dgm:t>
        <a:bodyPr/>
        <a:lstStyle/>
        <a:p>
          <a:r>
            <a:rPr lang="en-IN" sz="1600" dirty="0"/>
            <a:t>4. Test</a:t>
          </a:r>
        </a:p>
      </dgm:t>
    </dgm:pt>
    <dgm:pt modelId="{AF6CCFAC-05AE-4D48-8290-566109A10231}" type="parTrans" cxnId="{C9B603BA-1FA6-4FE6-AE8C-8E4DDDA07939}">
      <dgm:prSet/>
      <dgm:spPr/>
      <dgm:t>
        <a:bodyPr/>
        <a:lstStyle/>
        <a:p>
          <a:endParaRPr lang="en-IN"/>
        </a:p>
      </dgm:t>
    </dgm:pt>
    <dgm:pt modelId="{8E2D9C11-4318-4C3B-95A6-C98779BCDAE0}" type="sibTrans" cxnId="{C9B603BA-1FA6-4FE6-AE8C-8E4DDDA07939}">
      <dgm:prSet/>
      <dgm:spPr/>
      <dgm:t>
        <a:bodyPr/>
        <a:lstStyle/>
        <a:p>
          <a:endParaRPr lang="en-IN"/>
        </a:p>
      </dgm:t>
    </dgm:pt>
    <dgm:pt modelId="{41809680-513D-4099-A8E9-F37A52743F57}">
      <dgm:prSet phldrT="[Text]" phldr="0" custT="1"/>
      <dgm:spPr/>
      <dgm:t>
        <a:bodyPr/>
        <a:lstStyle/>
        <a:p>
          <a:r>
            <a:rPr lang="en-IN" sz="1600" dirty="0"/>
            <a:t>5. Deploy</a:t>
          </a:r>
        </a:p>
      </dgm:t>
    </dgm:pt>
    <dgm:pt modelId="{3FF0FAF4-F26B-40E2-9CA1-6FF2D9E4AD46}" type="parTrans" cxnId="{38F3289C-D341-4D4A-B303-BD3D7B473B77}">
      <dgm:prSet/>
      <dgm:spPr/>
      <dgm:t>
        <a:bodyPr/>
        <a:lstStyle/>
        <a:p>
          <a:endParaRPr lang="en-IN"/>
        </a:p>
      </dgm:t>
    </dgm:pt>
    <dgm:pt modelId="{E5A606FC-0A55-4519-BC1F-06FF77F0F73D}" type="sibTrans" cxnId="{38F3289C-D341-4D4A-B303-BD3D7B473B77}">
      <dgm:prSet/>
      <dgm:spPr/>
      <dgm:t>
        <a:bodyPr/>
        <a:lstStyle/>
        <a:p>
          <a:endParaRPr lang="en-IN"/>
        </a:p>
      </dgm:t>
    </dgm:pt>
    <dgm:pt modelId="{7880FB37-4505-4702-8884-BBA74A39E2C8}">
      <dgm:prSet phldrT="[Text]" phldr="0" custT="1"/>
      <dgm:spPr/>
      <dgm:t>
        <a:bodyPr/>
        <a:lstStyle/>
        <a:p>
          <a:r>
            <a:rPr lang="en-IN" sz="1600" dirty="0"/>
            <a:t>1. Plan</a:t>
          </a:r>
        </a:p>
      </dgm:t>
    </dgm:pt>
    <dgm:pt modelId="{40C67C0E-6A8E-424C-8E50-66268DB8F5CB}" type="parTrans" cxnId="{03AF602F-040C-49A7-B11E-05C4A830712A}">
      <dgm:prSet/>
      <dgm:spPr/>
      <dgm:t>
        <a:bodyPr/>
        <a:lstStyle/>
        <a:p>
          <a:endParaRPr lang="en-IN"/>
        </a:p>
      </dgm:t>
    </dgm:pt>
    <dgm:pt modelId="{9B7472CE-C93E-4D6F-932E-82621F7FA0B7}" type="sibTrans" cxnId="{03AF602F-040C-49A7-B11E-05C4A830712A}">
      <dgm:prSet/>
      <dgm:spPr/>
      <dgm:t>
        <a:bodyPr/>
        <a:lstStyle/>
        <a:p>
          <a:endParaRPr lang="en-IN"/>
        </a:p>
      </dgm:t>
    </dgm:pt>
    <dgm:pt modelId="{4D6989A5-CEDA-4C3D-A08A-CAA19E3565CE}">
      <dgm:prSet phldrT="[Text]" phldr="0" custT="1"/>
      <dgm:spPr/>
      <dgm:t>
        <a:bodyPr/>
        <a:lstStyle/>
        <a:p>
          <a:r>
            <a:rPr lang="en-IN" sz="1600" dirty="0"/>
            <a:t>2. Design</a:t>
          </a:r>
        </a:p>
      </dgm:t>
    </dgm:pt>
    <dgm:pt modelId="{BBE24AC8-8019-4D18-AC68-01EB453659A0}" type="parTrans" cxnId="{72B805FB-3CAD-4A7B-AB2A-2365E6A038E4}">
      <dgm:prSet/>
      <dgm:spPr/>
      <dgm:t>
        <a:bodyPr/>
        <a:lstStyle/>
        <a:p>
          <a:endParaRPr lang="en-IN"/>
        </a:p>
      </dgm:t>
    </dgm:pt>
    <dgm:pt modelId="{F5AAFB41-53F9-4284-B6B5-82056834684D}" type="sibTrans" cxnId="{72B805FB-3CAD-4A7B-AB2A-2365E6A038E4}">
      <dgm:prSet/>
      <dgm:spPr/>
      <dgm:t>
        <a:bodyPr/>
        <a:lstStyle/>
        <a:p>
          <a:endParaRPr lang="en-IN"/>
        </a:p>
      </dgm:t>
    </dgm:pt>
    <dgm:pt modelId="{59065ACC-CAF5-445F-BE8E-941BD0B182FA}">
      <dgm:prSet custT="1"/>
      <dgm:spPr/>
      <dgm:t>
        <a:bodyPr/>
        <a:lstStyle/>
        <a:p>
          <a:r>
            <a:rPr lang="en-IN" sz="1600" dirty="0"/>
            <a:t>6. Review</a:t>
          </a:r>
        </a:p>
      </dgm:t>
    </dgm:pt>
    <dgm:pt modelId="{3AFE8F63-CAC5-4AA3-BFA9-B358EACC071F}" type="parTrans" cxnId="{95FBC963-5BE7-4197-92B2-D08BC5C5C09E}">
      <dgm:prSet/>
      <dgm:spPr/>
      <dgm:t>
        <a:bodyPr/>
        <a:lstStyle/>
        <a:p>
          <a:endParaRPr lang="en-IN"/>
        </a:p>
      </dgm:t>
    </dgm:pt>
    <dgm:pt modelId="{5337366B-9256-4D5E-88F4-9C7D0DE6E1DD}" type="sibTrans" cxnId="{95FBC963-5BE7-4197-92B2-D08BC5C5C09E}">
      <dgm:prSet/>
      <dgm:spPr/>
      <dgm:t>
        <a:bodyPr/>
        <a:lstStyle/>
        <a:p>
          <a:endParaRPr lang="en-IN"/>
        </a:p>
      </dgm:t>
    </dgm:pt>
    <dgm:pt modelId="{AB21089D-7B1E-464C-8697-8652B94F3AB6}" type="pres">
      <dgm:prSet presAssocID="{F508B55E-841C-491D-9D1B-6059B06288E6}" presName="cycle" presStyleCnt="0">
        <dgm:presLayoutVars>
          <dgm:dir/>
          <dgm:resizeHandles val="exact"/>
        </dgm:presLayoutVars>
      </dgm:prSet>
      <dgm:spPr/>
    </dgm:pt>
    <dgm:pt modelId="{EB6D2291-70B7-487D-A811-785EA01B17A8}" type="pres">
      <dgm:prSet presAssocID="{B30EBD39-38DB-4A22-8F63-60F7711F0CD4}" presName="node" presStyleLbl="node1" presStyleIdx="0" presStyleCnt="6">
        <dgm:presLayoutVars>
          <dgm:bulletEnabled val="1"/>
        </dgm:presLayoutVars>
      </dgm:prSet>
      <dgm:spPr/>
    </dgm:pt>
    <dgm:pt modelId="{AC10447C-045E-42F5-B0B6-0C43D0227E48}" type="pres">
      <dgm:prSet presAssocID="{624A177C-CB4E-4A4D-A117-F8D4E7C8906B}" presName="sibTrans" presStyleLbl="sibTrans2D1" presStyleIdx="0" presStyleCnt="6" custAng="16910683" custFlipVert="1" custLinFactNeighborX="8666" custLinFactNeighborY="-6825"/>
      <dgm:spPr/>
    </dgm:pt>
    <dgm:pt modelId="{48CA99D7-5408-415A-8B70-38F581907B17}" type="pres">
      <dgm:prSet presAssocID="{624A177C-CB4E-4A4D-A117-F8D4E7C8906B}" presName="connectorText" presStyleLbl="sibTrans2D1" presStyleIdx="0" presStyleCnt="6"/>
      <dgm:spPr/>
    </dgm:pt>
    <dgm:pt modelId="{9CFB28CF-A087-4F3A-925D-2EFCBB14A986}" type="pres">
      <dgm:prSet presAssocID="{CA960571-4FAB-4944-92CA-D93C9234DDF4}" presName="node" presStyleLbl="node1" presStyleIdx="1" presStyleCnt="6">
        <dgm:presLayoutVars>
          <dgm:bulletEnabled val="1"/>
        </dgm:presLayoutVars>
      </dgm:prSet>
      <dgm:spPr/>
    </dgm:pt>
    <dgm:pt modelId="{EC4ED902-BD10-4102-A619-D678467DDD17}" type="pres">
      <dgm:prSet presAssocID="{8E2D9C11-4318-4C3B-95A6-C98779BCDAE0}" presName="sibTrans" presStyleLbl="sibTrans2D1" presStyleIdx="1" presStyleCnt="6" custAng="21421168"/>
      <dgm:spPr/>
    </dgm:pt>
    <dgm:pt modelId="{434157A7-D9C0-43E5-9002-BEEE145ACCC0}" type="pres">
      <dgm:prSet presAssocID="{8E2D9C11-4318-4C3B-95A6-C98779BCDAE0}" presName="connectorText" presStyleLbl="sibTrans2D1" presStyleIdx="1" presStyleCnt="6"/>
      <dgm:spPr/>
    </dgm:pt>
    <dgm:pt modelId="{EE2CBD1D-C922-4D2D-8ADE-2E7C4CC583FA}" type="pres">
      <dgm:prSet presAssocID="{41809680-513D-4099-A8E9-F37A52743F57}" presName="node" presStyleLbl="node1" presStyleIdx="2" presStyleCnt="6">
        <dgm:presLayoutVars>
          <dgm:bulletEnabled val="1"/>
        </dgm:presLayoutVars>
      </dgm:prSet>
      <dgm:spPr/>
    </dgm:pt>
    <dgm:pt modelId="{DCE15EA9-5C42-4AB6-82CC-E04CF52D42AB}" type="pres">
      <dgm:prSet presAssocID="{E5A606FC-0A55-4519-BC1F-06FF77F0F73D}" presName="sibTrans" presStyleLbl="sibTrans2D1" presStyleIdx="2" presStyleCnt="6" custAng="15078176" custFlipHor="1" custLinFactNeighborX="23110" custLinFactNeighborY="43225"/>
      <dgm:spPr/>
    </dgm:pt>
    <dgm:pt modelId="{B8223F63-C200-46E4-896E-A66A965F72AD}" type="pres">
      <dgm:prSet presAssocID="{E5A606FC-0A55-4519-BC1F-06FF77F0F73D}" presName="connectorText" presStyleLbl="sibTrans2D1" presStyleIdx="2" presStyleCnt="6"/>
      <dgm:spPr/>
    </dgm:pt>
    <dgm:pt modelId="{B9431B08-B5B8-4392-8797-97537FCBE834}" type="pres">
      <dgm:prSet presAssocID="{59065ACC-CAF5-445F-BE8E-941BD0B182FA}" presName="node" presStyleLbl="node1" presStyleIdx="3" presStyleCnt="6">
        <dgm:presLayoutVars>
          <dgm:bulletEnabled val="1"/>
        </dgm:presLayoutVars>
      </dgm:prSet>
      <dgm:spPr/>
    </dgm:pt>
    <dgm:pt modelId="{445D4639-FCC0-4FE8-AABD-063BEB3B6532}" type="pres">
      <dgm:prSet presAssocID="{5337366B-9256-4D5E-88F4-9C7D0DE6E1DD}" presName="sibTrans" presStyleLbl="sibTrans2D1" presStyleIdx="3" presStyleCnt="6" custAng="315958" custLinFactNeighborX="-14444" custLinFactNeighborY="4550"/>
      <dgm:spPr/>
    </dgm:pt>
    <dgm:pt modelId="{3D6BEEA6-46CB-4B95-92FA-80DA71FF0B07}" type="pres">
      <dgm:prSet presAssocID="{5337366B-9256-4D5E-88F4-9C7D0DE6E1DD}" presName="connectorText" presStyleLbl="sibTrans2D1" presStyleIdx="3" presStyleCnt="6"/>
      <dgm:spPr/>
    </dgm:pt>
    <dgm:pt modelId="{7E038720-DAD5-4AAE-B440-2CF8FFADE515}" type="pres">
      <dgm:prSet presAssocID="{7880FB37-4505-4702-8884-BBA74A39E2C8}" presName="node" presStyleLbl="node1" presStyleIdx="4" presStyleCnt="6">
        <dgm:presLayoutVars>
          <dgm:bulletEnabled val="1"/>
        </dgm:presLayoutVars>
      </dgm:prSet>
      <dgm:spPr/>
    </dgm:pt>
    <dgm:pt modelId="{84C38F47-DD8A-432F-9D7D-76EE93143AFD}" type="pres">
      <dgm:prSet presAssocID="{9B7472CE-C93E-4D6F-932E-82621F7FA0B7}" presName="sibTrans" presStyleLbl="sibTrans2D1" presStyleIdx="4" presStyleCnt="6" custAng="10994409" custFlipVert="1" custFlipHor="1" custLinFactNeighborX="-5778" custLinFactNeighborY="-2229"/>
      <dgm:spPr/>
    </dgm:pt>
    <dgm:pt modelId="{216CDD35-6668-443D-87F7-B439164C0337}" type="pres">
      <dgm:prSet presAssocID="{9B7472CE-C93E-4D6F-932E-82621F7FA0B7}" presName="connectorText" presStyleLbl="sibTrans2D1" presStyleIdx="4" presStyleCnt="6"/>
      <dgm:spPr/>
    </dgm:pt>
    <dgm:pt modelId="{BB669EC7-662B-458B-935F-3AAC144453D1}" type="pres">
      <dgm:prSet presAssocID="{4D6989A5-CEDA-4C3D-A08A-CAA19E3565CE}" presName="node" presStyleLbl="node1" presStyleIdx="5" presStyleCnt="6">
        <dgm:presLayoutVars>
          <dgm:bulletEnabled val="1"/>
        </dgm:presLayoutVars>
      </dgm:prSet>
      <dgm:spPr/>
    </dgm:pt>
    <dgm:pt modelId="{EDE2F577-5208-4B5B-83F3-960A1118760A}" type="pres">
      <dgm:prSet presAssocID="{F5AAFB41-53F9-4284-B6B5-82056834684D}" presName="sibTrans" presStyleLbl="sibTrans2D1" presStyleIdx="5" presStyleCnt="6" custAng="21567237" custLinFactNeighborX="-5778" custLinFactNeighborY="-20475"/>
      <dgm:spPr/>
    </dgm:pt>
    <dgm:pt modelId="{88DD4D14-B0BB-40DB-885E-A32C0E837947}" type="pres">
      <dgm:prSet presAssocID="{F5AAFB41-53F9-4284-B6B5-82056834684D}" presName="connectorText" presStyleLbl="sibTrans2D1" presStyleIdx="5" presStyleCnt="6"/>
      <dgm:spPr/>
    </dgm:pt>
  </dgm:ptLst>
  <dgm:cxnLst>
    <dgm:cxn modelId="{4DEC4406-9005-48CE-B98E-29CD25FE3ABB}" type="presOf" srcId="{5337366B-9256-4D5E-88F4-9C7D0DE6E1DD}" destId="{445D4639-FCC0-4FE8-AABD-063BEB3B6532}" srcOrd="0" destOrd="0" presId="urn:microsoft.com/office/officeart/2005/8/layout/cycle2"/>
    <dgm:cxn modelId="{3392A30C-63A9-47E3-AA06-03DBC607BC8C}" type="presOf" srcId="{59065ACC-CAF5-445F-BE8E-941BD0B182FA}" destId="{B9431B08-B5B8-4392-8797-97537FCBE834}" srcOrd="0" destOrd="0" presId="urn:microsoft.com/office/officeart/2005/8/layout/cycle2"/>
    <dgm:cxn modelId="{D30DF611-32A4-40E9-889A-162581CD1A9F}" type="presOf" srcId="{8E2D9C11-4318-4C3B-95A6-C98779BCDAE0}" destId="{434157A7-D9C0-43E5-9002-BEEE145ACCC0}" srcOrd="1" destOrd="0" presId="urn:microsoft.com/office/officeart/2005/8/layout/cycle2"/>
    <dgm:cxn modelId="{9D24BF14-AF96-43BB-985C-F0F3EB490B2A}" type="presOf" srcId="{41809680-513D-4099-A8E9-F37A52743F57}" destId="{EE2CBD1D-C922-4D2D-8ADE-2E7C4CC583FA}" srcOrd="0" destOrd="0" presId="urn:microsoft.com/office/officeart/2005/8/layout/cycle2"/>
    <dgm:cxn modelId="{9CA4B01E-8F1A-4AD6-A339-4FCDBC18E033}" type="presOf" srcId="{CA960571-4FAB-4944-92CA-D93C9234DDF4}" destId="{9CFB28CF-A087-4F3A-925D-2EFCBB14A986}" srcOrd="0" destOrd="0" presId="urn:microsoft.com/office/officeart/2005/8/layout/cycle2"/>
    <dgm:cxn modelId="{44FD3029-0E84-495F-A3E0-64A67A0817D8}" type="presOf" srcId="{B30EBD39-38DB-4A22-8F63-60F7711F0CD4}" destId="{EB6D2291-70B7-487D-A811-785EA01B17A8}" srcOrd="0" destOrd="0" presId="urn:microsoft.com/office/officeart/2005/8/layout/cycle2"/>
    <dgm:cxn modelId="{F007782B-3712-4D4B-8A99-42BCACE98459}" type="presOf" srcId="{624A177C-CB4E-4A4D-A117-F8D4E7C8906B}" destId="{AC10447C-045E-42F5-B0B6-0C43D0227E48}" srcOrd="0" destOrd="0" presId="urn:microsoft.com/office/officeart/2005/8/layout/cycle2"/>
    <dgm:cxn modelId="{03AF602F-040C-49A7-B11E-05C4A830712A}" srcId="{F508B55E-841C-491D-9D1B-6059B06288E6}" destId="{7880FB37-4505-4702-8884-BBA74A39E2C8}" srcOrd="4" destOrd="0" parTransId="{40C67C0E-6A8E-424C-8E50-66268DB8F5CB}" sibTransId="{9B7472CE-C93E-4D6F-932E-82621F7FA0B7}"/>
    <dgm:cxn modelId="{35233E40-723A-4707-9B6E-42F1752F44EE}" type="presOf" srcId="{F508B55E-841C-491D-9D1B-6059B06288E6}" destId="{AB21089D-7B1E-464C-8697-8652B94F3AB6}" srcOrd="0" destOrd="0" presId="urn:microsoft.com/office/officeart/2005/8/layout/cycle2"/>
    <dgm:cxn modelId="{77E44D42-9771-4A1F-B5D2-BC8245B91C95}" type="presOf" srcId="{9B7472CE-C93E-4D6F-932E-82621F7FA0B7}" destId="{216CDD35-6668-443D-87F7-B439164C0337}" srcOrd="1" destOrd="0" presId="urn:microsoft.com/office/officeart/2005/8/layout/cycle2"/>
    <dgm:cxn modelId="{95FBC963-5BE7-4197-92B2-D08BC5C5C09E}" srcId="{F508B55E-841C-491D-9D1B-6059B06288E6}" destId="{59065ACC-CAF5-445F-BE8E-941BD0B182FA}" srcOrd="3" destOrd="0" parTransId="{3AFE8F63-CAC5-4AA3-BFA9-B358EACC071F}" sibTransId="{5337366B-9256-4D5E-88F4-9C7D0DE6E1DD}"/>
    <dgm:cxn modelId="{1636EA4B-0699-45C6-8135-483AE4533F73}" type="presOf" srcId="{7880FB37-4505-4702-8884-BBA74A39E2C8}" destId="{7E038720-DAD5-4AAE-B440-2CF8FFADE515}" srcOrd="0" destOrd="0" presId="urn:microsoft.com/office/officeart/2005/8/layout/cycle2"/>
    <dgm:cxn modelId="{D6EB1E50-6264-49BE-B31C-21212E30FF8B}" type="presOf" srcId="{8E2D9C11-4318-4C3B-95A6-C98779BCDAE0}" destId="{EC4ED902-BD10-4102-A619-D678467DDD17}" srcOrd="0" destOrd="0" presId="urn:microsoft.com/office/officeart/2005/8/layout/cycle2"/>
    <dgm:cxn modelId="{E161D188-3D7B-4D2B-BAE2-4BDA6DF95009}" type="presOf" srcId="{624A177C-CB4E-4A4D-A117-F8D4E7C8906B}" destId="{48CA99D7-5408-415A-8B70-38F581907B17}" srcOrd="1" destOrd="0" presId="urn:microsoft.com/office/officeart/2005/8/layout/cycle2"/>
    <dgm:cxn modelId="{38F3289C-D341-4D4A-B303-BD3D7B473B77}" srcId="{F508B55E-841C-491D-9D1B-6059B06288E6}" destId="{41809680-513D-4099-A8E9-F37A52743F57}" srcOrd="2" destOrd="0" parTransId="{3FF0FAF4-F26B-40E2-9CA1-6FF2D9E4AD46}" sibTransId="{E5A606FC-0A55-4519-BC1F-06FF77F0F73D}"/>
    <dgm:cxn modelId="{492105A3-7AF0-4E18-85E1-97309B6FEF41}" type="presOf" srcId="{F5AAFB41-53F9-4284-B6B5-82056834684D}" destId="{EDE2F577-5208-4B5B-83F3-960A1118760A}" srcOrd="0" destOrd="0" presId="urn:microsoft.com/office/officeart/2005/8/layout/cycle2"/>
    <dgm:cxn modelId="{5AD9FEAA-579F-40BB-A41E-B963F2FB597F}" type="presOf" srcId="{4D6989A5-CEDA-4C3D-A08A-CAA19E3565CE}" destId="{BB669EC7-662B-458B-935F-3AAC144453D1}" srcOrd="0" destOrd="0" presId="urn:microsoft.com/office/officeart/2005/8/layout/cycle2"/>
    <dgm:cxn modelId="{C9B603BA-1FA6-4FE6-AE8C-8E4DDDA07939}" srcId="{F508B55E-841C-491D-9D1B-6059B06288E6}" destId="{CA960571-4FAB-4944-92CA-D93C9234DDF4}" srcOrd="1" destOrd="0" parTransId="{AF6CCFAC-05AE-4D48-8290-566109A10231}" sibTransId="{8E2D9C11-4318-4C3B-95A6-C98779BCDAE0}"/>
    <dgm:cxn modelId="{2DC813DA-29BA-457C-9FD1-518ACD365367}" type="presOf" srcId="{5337366B-9256-4D5E-88F4-9C7D0DE6E1DD}" destId="{3D6BEEA6-46CB-4B95-92FA-80DA71FF0B07}" srcOrd="1" destOrd="0" presId="urn:microsoft.com/office/officeart/2005/8/layout/cycle2"/>
    <dgm:cxn modelId="{6E796BED-4BF5-4D4A-84A5-97D980106E6F}" type="presOf" srcId="{E5A606FC-0A55-4519-BC1F-06FF77F0F73D}" destId="{B8223F63-C200-46E4-896E-A66A965F72AD}" srcOrd="1" destOrd="0" presId="urn:microsoft.com/office/officeart/2005/8/layout/cycle2"/>
    <dgm:cxn modelId="{639CE6EF-F3AC-4C2D-A8BA-ACABA8C5CC76}" type="presOf" srcId="{9B7472CE-C93E-4D6F-932E-82621F7FA0B7}" destId="{84C38F47-DD8A-432F-9D7D-76EE93143AFD}" srcOrd="0" destOrd="0" presId="urn:microsoft.com/office/officeart/2005/8/layout/cycle2"/>
    <dgm:cxn modelId="{8E2B7FF7-BF84-4F32-A656-64EE81696ECD}" type="presOf" srcId="{E5A606FC-0A55-4519-BC1F-06FF77F0F73D}" destId="{DCE15EA9-5C42-4AB6-82CC-E04CF52D42AB}" srcOrd="0" destOrd="0" presId="urn:microsoft.com/office/officeart/2005/8/layout/cycle2"/>
    <dgm:cxn modelId="{72B805FB-3CAD-4A7B-AB2A-2365E6A038E4}" srcId="{F508B55E-841C-491D-9D1B-6059B06288E6}" destId="{4D6989A5-CEDA-4C3D-A08A-CAA19E3565CE}" srcOrd="5" destOrd="0" parTransId="{BBE24AC8-8019-4D18-AC68-01EB453659A0}" sibTransId="{F5AAFB41-53F9-4284-B6B5-82056834684D}"/>
    <dgm:cxn modelId="{427BD2FC-48F1-417A-AD07-D703621105A0}" srcId="{F508B55E-841C-491D-9D1B-6059B06288E6}" destId="{B30EBD39-38DB-4A22-8F63-60F7711F0CD4}" srcOrd="0" destOrd="0" parTransId="{6F92F4EC-0DA5-434E-B351-88C97D847336}" sibTransId="{624A177C-CB4E-4A4D-A117-F8D4E7C8906B}"/>
    <dgm:cxn modelId="{2F2FA9FD-78B2-4FF6-9E3A-62485D784093}" type="presOf" srcId="{F5AAFB41-53F9-4284-B6B5-82056834684D}" destId="{88DD4D14-B0BB-40DB-885E-A32C0E837947}" srcOrd="1" destOrd="0" presId="urn:microsoft.com/office/officeart/2005/8/layout/cycle2"/>
    <dgm:cxn modelId="{7F0537DC-B7AC-48DD-B8D8-44968B67FAB2}" type="presParOf" srcId="{AB21089D-7B1E-464C-8697-8652B94F3AB6}" destId="{EB6D2291-70B7-487D-A811-785EA01B17A8}" srcOrd="0" destOrd="0" presId="urn:microsoft.com/office/officeart/2005/8/layout/cycle2"/>
    <dgm:cxn modelId="{B7423113-F224-4CB6-A7B0-3411F01FFF83}" type="presParOf" srcId="{AB21089D-7B1E-464C-8697-8652B94F3AB6}" destId="{AC10447C-045E-42F5-B0B6-0C43D0227E48}" srcOrd="1" destOrd="0" presId="urn:microsoft.com/office/officeart/2005/8/layout/cycle2"/>
    <dgm:cxn modelId="{EB52769F-B26A-4856-9A8C-50BF50D97EBE}" type="presParOf" srcId="{AC10447C-045E-42F5-B0B6-0C43D0227E48}" destId="{48CA99D7-5408-415A-8B70-38F581907B17}" srcOrd="0" destOrd="0" presId="urn:microsoft.com/office/officeart/2005/8/layout/cycle2"/>
    <dgm:cxn modelId="{508513F8-F01A-4FFE-B39F-CF6068225E84}" type="presParOf" srcId="{AB21089D-7B1E-464C-8697-8652B94F3AB6}" destId="{9CFB28CF-A087-4F3A-925D-2EFCBB14A986}" srcOrd="2" destOrd="0" presId="urn:microsoft.com/office/officeart/2005/8/layout/cycle2"/>
    <dgm:cxn modelId="{D0F81D1B-84AE-4EAC-B8C3-F316FCD33171}" type="presParOf" srcId="{AB21089D-7B1E-464C-8697-8652B94F3AB6}" destId="{EC4ED902-BD10-4102-A619-D678467DDD17}" srcOrd="3" destOrd="0" presId="urn:microsoft.com/office/officeart/2005/8/layout/cycle2"/>
    <dgm:cxn modelId="{C4F74095-5FB5-4DF3-AEFC-582FAC939C9F}" type="presParOf" srcId="{EC4ED902-BD10-4102-A619-D678467DDD17}" destId="{434157A7-D9C0-43E5-9002-BEEE145ACCC0}" srcOrd="0" destOrd="0" presId="urn:microsoft.com/office/officeart/2005/8/layout/cycle2"/>
    <dgm:cxn modelId="{DDB25EB5-70D8-4DF7-A1E9-CF719D43B9D3}" type="presParOf" srcId="{AB21089D-7B1E-464C-8697-8652B94F3AB6}" destId="{EE2CBD1D-C922-4D2D-8ADE-2E7C4CC583FA}" srcOrd="4" destOrd="0" presId="urn:microsoft.com/office/officeart/2005/8/layout/cycle2"/>
    <dgm:cxn modelId="{4EC76EAA-0855-4606-B01E-D766080D9F3C}" type="presParOf" srcId="{AB21089D-7B1E-464C-8697-8652B94F3AB6}" destId="{DCE15EA9-5C42-4AB6-82CC-E04CF52D42AB}" srcOrd="5" destOrd="0" presId="urn:microsoft.com/office/officeart/2005/8/layout/cycle2"/>
    <dgm:cxn modelId="{305CE00D-74FC-48DD-B622-3E1DAD7654CB}" type="presParOf" srcId="{DCE15EA9-5C42-4AB6-82CC-E04CF52D42AB}" destId="{B8223F63-C200-46E4-896E-A66A965F72AD}" srcOrd="0" destOrd="0" presId="urn:microsoft.com/office/officeart/2005/8/layout/cycle2"/>
    <dgm:cxn modelId="{48D3BC27-F0D4-4CDE-9DB2-67CFD345B4F0}" type="presParOf" srcId="{AB21089D-7B1E-464C-8697-8652B94F3AB6}" destId="{B9431B08-B5B8-4392-8797-97537FCBE834}" srcOrd="6" destOrd="0" presId="urn:microsoft.com/office/officeart/2005/8/layout/cycle2"/>
    <dgm:cxn modelId="{99735393-F926-455F-864A-D653BE73CD8B}" type="presParOf" srcId="{AB21089D-7B1E-464C-8697-8652B94F3AB6}" destId="{445D4639-FCC0-4FE8-AABD-063BEB3B6532}" srcOrd="7" destOrd="0" presId="urn:microsoft.com/office/officeart/2005/8/layout/cycle2"/>
    <dgm:cxn modelId="{9312585E-2F78-4E1F-B486-309806028802}" type="presParOf" srcId="{445D4639-FCC0-4FE8-AABD-063BEB3B6532}" destId="{3D6BEEA6-46CB-4B95-92FA-80DA71FF0B07}" srcOrd="0" destOrd="0" presId="urn:microsoft.com/office/officeart/2005/8/layout/cycle2"/>
    <dgm:cxn modelId="{806DDDBE-85CE-42E6-BA19-7B7B1F1DBBFA}" type="presParOf" srcId="{AB21089D-7B1E-464C-8697-8652B94F3AB6}" destId="{7E038720-DAD5-4AAE-B440-2CF8FFADE515}" srcOrd="8" destOrd="0" presId="urn:microsoft.com/office/officeart/2005/8/layout/cycle2"/>
    <dgm:cxn modelId="{BD917D7A-BAFC-4F45-AFDB-058F4404420B}" type="presParOf" srcId="{AB21089D-7B1E-464C-8697-8652B94F3AB6}" destId="{84C38F47-DD8A-432F-9D7D-76EE93143AFD}" srcOrd="9" destOrd="0" presId="urn:microsoft.com/office/officeart/2005/8/layout/cycle2"/>
    <dgm:cxn modelId="{6FA714FF-E5FF-4DE0-94E6-EF3882CE1142}" type="presParOf" srcId="{84C38F47-DD8A-432F-9D7D-76EE93143AFD}" destId="{216CDD35-6668-443D-87F7-B439164C0337}" srcOrd="0" destOrd="0" presId="urn:microsoft.com/office/officeart/2005/8/layout/cycle2"/>
    <dgm:cxn modelId="{BFD9E7BD-ED70-46E1-A3D8-BBC350FA49F9}" type="presParOf" srcId="{AB21089D-7B1E-464C-8697-8652B94F3AB6}" destId="{BB669EC7-662B-458B-935F-3AAC144453D1}" srcOrd="10" destOrd="0" presId="urn:microsoft.com/office/officeart/2005/8/layout/cycle2"/>
    <dgm:cxn modelId="{51A2A518-85B1-4E5E-BC0C-11BAA14196AC}" type="presParOf" srcId="{AB21089D-7B1E-464C-8697-8652B94F3AB6}" destId="{EDE2F577-5208-4B5B-83F3-960A1118760A}" srcOrd="11" destOrd="0" presId="urn:microsoft.com/office/officeart/2005/8/layout/cycle2"/>
    <dgm:cxn modelId="{00FF3117-0923-4733-BE17-EDAC9CC76273}" type="presParOf" srcId="{EDE2F577-5208-4B5B-83F3-960A1118760A}" destId="{88DD4D14-B0BB-40DB-885E-A32C0E837947}"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08B55E-841C-491D-9D1B-6059B06288E6}" type="doc">
      <dgm:prSet loTypeId="urn:microsoft.com/office/officeart/2005/8/layout/cycle2" loCatId="cycle" qsTypeId="urn:microsoft.com/office/officeart/2005/8/quickstyle/simple1" qsCatId="simple" csTypeId="urn:microsoft.com/office/officeart/2005/8/colors/colorful1" csCatId="colorful" phldr="1"/>
      <dgm:spPr/>
      <dgm:t>
        <a:bodyPr/>
        <a:lstStyle/>
        <a:p>
          <a:endParaRPr lang="en-IN"/>
        </a:p>
      </dgm:t>
    </dgm:pt>
    <dgm:pt modelId="{B30EBD39-38DB-4A22-8F63-60F7711F0CD4}">
      <dgm:prSet phldrT="[Text]" phldr="0" custT="1"/>
      <dgm:spPr/>
      <dgm:t>
        <a:bodyPr/>
        <a:lstStyle/>
        <a:p>
          <a:r>
            <a:rPr lang="en-IN" sz="1600" dirty="0"/>
            <a:t>3. Develop</a:t>
          </a:r>
        </a:p>
      </dgm:t>
    </dgm:pt>
    <dgm:pt modelId="{6F92F4EC-0DA5-434E-B351-88C97D847336}" type="parTrans" cxnId="{427BD2FC-48F1-417A-AD07-D703621105A0}">
      <dgm:prSet/>
      <dgm:spPr/>
      <dgm:t>
        <a:bodyPr/>
        <a:lstStyle/>
        <a:p>
          <a:endParaRPr lang="en-IN"/>
        </a:p>
      </dgm:t>
    </dgm:pt>
    <dgm:pt modelId="{624A177C-CB4E-4A4D-A117-F8D4E7C8906B}" type="sibTrans" cxnId="{427BD2FC-48F1-417A-AD07-D703621105A0}">
      <dgm:prSet/>
      <dgm:spPr/>
      <dgm:t>
        <a:bodyPr/>
        <a:lstStyle/>
        <a:p>
          <a:endParaRPr lang="en-IN"/>
        </a:p>
      </dgm:t>
    </dgm:pt>
    <dgm:pt modelId="{CA960571-4FAB-4944-92CA-D93C9234DDF4}">
      <dgm:prSet phldrT="[Text]" phldr="0" custT="1"/>
      <dgm:spPr/>
      <dgm:t>
        <a:bodyPr/>
        <a:lstStyle/>
        <a:p>
          <a:r>
            <a:rPr lang="en-IN" sz="1600" dirty="0"/>
            <a:t>4. Test</a:t>
          </a:r>
        </a:p>
      </dgm:t>
    </dgm:pt>
    <dgm:pt modelId="{AF6CCFAC-05AE-4D48-8290-566109A10231}" type="parTrans" cxnId="{C9B603BA-1FA6-4FE6-AE8C-8E4DDDA07939}">
      <dgm:prSet/>
      <dgm:spPr/>
      <dgm:t>
        <a:bodyPr/>
        <a:lstStyle/>
        <a:p>
          <a:endParaRPr lang="en-IN"/>
        </a:p>
      </dgm:t>
    </dgm:pt>
    <dgm:pt modelId="{8E2D9C11-4318-4C3B-95A6-C98779BCDAE0}" type="sibTrans" cxnId="{C9B603BA-1FA6-4FE6-AE8C-8E4DDDA07939}">
      <dgm:prSet/>
      <dgm:spPr/>
      <dgm:t>
        <a:bodyPr/>
        <a:lstStyle/>
        <a:p>
          <a:endParaRPr lang="en-IN"/>
        </a:p>
      </dgm:t>
    </dgm:pt>
    <dgm:pt modelId="{41809680-513D-4099-A8E9-F37A52743F57}">
      <dgm:prSet phldrT="[Text]" phldr="0" custT="1"/>
      <dgm:spPr/>
      <dgm:t>
        <a:bodyPr/>
        <a:lstStyle/>
        <a:p>
          <a:r>
            <a:rPr lang="en-IN" sz="1600" dirty="0"/>
            <a:t>5. Deploy</a:t>
          </a:r>
        </a:p>
      </dgm:t>
    </dgm:pt>
    <dgm:pt modelId="{3FF0FAF4-F26B-40E2-9CA1-6FF2D9E4AD46}" type="parTrans" cxnId="{38F3289C-D341-4D4A-B303-BD3D7B473B77}">
      <dgm:prSet/>
      <dgm:spPr/>
      <dgm:t>
        <a:bodyPr/>
        <a:lstStyle/>
        <a:p>
          <a:endParaRPr lang="en-IN"/>
        </a:p>
      </dgm:t>
    </dgm:pt>
    <dgm:pt modelId="{E5A606FC-0A55-4519-BC1F-06FF77F0F73D}" type="sibTrans" cxnId="{38F3289C-D341-4D4A-B303-BD3D7B473B77}">
      <dgm:prSet/>
      <dgm:spPr/>
      <dgm:t>
        <a:bodyPr/>
        <a:lstStyle/>
        <a:p>
          <a:endParaRPr lang="en-IN"/>
        </a:p>
      </dgm:t>
    </dgm:pt>
    <dgm:pt modelId="{7880FB37-4505-4702-8884-BBA74A39E2C8}">
      <dgm:prSet phldrT="[Text]" phldr="0" custT="1"/>
      <dgm:spPr/>
      <dgm:t>
        <a:bodyPr/>
        <a:lstStyle/>
        <a:p>
          <a:r>
            <a:rPr lang="en-IN" sz="1600" dirty="0"/>
            <a:t>1. Plan</a:t>
          </a:r>
        </a:p>
      </dgm:t>
    </dgm:pt>
    <dgm:pt modelId="{40C67C0E-6A8E-424C-8E50-66268DB8F5CB}" type="parTrans" cxnId="{03AF602F-040C-49A7-B11E-05C4A830712A}">
      <dgm:prSet/>
      <dgm:spPr/>
      <dgm:t>
        <a:bodyPr/>
        <a:lstStyle/>
        <a:p>
          <a:endParaRPr lang="en-IN"/>
        </a:p>
      </dgm:t>
    </dgm:pt>
    <dgm:pt modelId="{9B7472CE-C93E-4D6F-932E-82621F7FA0B7}" type="sibTrans" cxnId="{03AF602F-040C-49A7-B11E-05C4A830712A}">
      <dgm:prSet/>
      <dgm:spPr/>
      <dgm:t>
        <a:bodyPr/>
        <a:lstStyle/>
        <a:p>
          <a:endParaRPr lang="en-IN"/>
        </a:p>
      </dgm:t>
    </dgm:pt>
    <dgm:pt modelId="{4D6989A5-CEDA-4C3D-A08A-CAA19E3565CE}">
      <dgm:prSet phldrT="[Text]" phldr="0" custT="1"/>
      <dgm:spPr/>
      <dgm:t>
        <a:bodyPr/>
        <a:lstStyle/>
        <a:p>
          <a:r>
            <a:rPr lang="en-IN" sz="1600" dirty="0"/>
            <a:t>2. Design</a:t>
          </a:r>
        </a:p>
      </dgm:t>
    </dgm:pt>
    <dgm:pt modelId="{BBE24AC8-8019-4D18-AC68-01EB453659A0}" type="parTrans" cxnId="{72B805FB-3CAD-4A7B-AB2A-2365E6A038E4}">
      <dgm:prSet/>
      <dgm:spPr/>
      <dgm:t>
        <a:bodyPr/>
        <a:lstStyle/>
        <a:p>
          <a:endParaRPr lang="en-IN"/>
        </a:p>
      </dgm:t>
    </dgm:pt>
    <dgm:pt modelId="{F5AAFB41-53F9-4284-B6B5-82056834684D}" type="sibTrans" cxnId="{72B805FB-3CAD-4A7B-AB2A-2365E6A038E4}">
      <dgm:prSet/>
      <dgm:spPr/>
      <dgm:t>
        <a:bodyPr/>
        <a:lstStyle/>
        <a:p>
          <a:endParaRPr lang="en-IN"/>
        </a:p>
      </dgm:t>
    </dgm:pt>
    <dgm:pt modelId="{59065ACC-CAF5-445F-BE8E-941BD0B182FA}">
      <dgm:prSet custT="1"/>
      <dgm:spPr/>
      <dgm:t>
        <a:bodyPr/>
        <a:lstStyle/>
        <a:p>
          <a:r>
            <a:rPr lang="en-IN" sz="1600" dirty="0"/>
            <a:t>6. Review</a:t>
          </a:r>
        </a:p>
      </dgm:t>
    </dgm:pt>
    <dgm:pt modelId="{3AFE8F63-CAC5-4AA3-BFA9-B358EACC071F}" type="parTrans" cxnId="{95FBC963-5BE7-4197-92B2-D08BC5C5C09E}">
      <dgm:prSet/>
      <dgm:spPr/>
      <dgm:t>
        <a:bodyPr/>
        <a:lstStyle/>
        <a:p>
          <a:endParaRPr lang="en-IN"/>
        </a:p>
      </dgm:t>
    </dgm:pt>
    <dgm:pt modelId="{5337366B-9256-4D5E-88F4-9C7D0DE6E1DD}" type="sibTrans" cxnId="{95FBC963-5BE7-4197-92B2-D08BC5C5C09E}">
      <dgm:prSet/>
      <dgm:spPr/>
      <dgm:t>
        <a:bodyPr/>
        <a:lstStyle/>
        <a:p>
          <a:endParaRPr lang="en-IN"/>
        </a:p>
      </dgm:t>
    </dgm:pt>
    <dgm:pt modelId="{AB21089D-7B1E-464C-8697-8652B94F3AB6}" type="pres">
      <dgm:prSet presAssocID="{F508B55E-841C-491D-9D1B-6059B06288E6}" presName="cycle" presStyleCnt="0">
        <dgm:presLayoutVars>
          <dgm:dir/>
          <dgm:resizeHandles val="exact"/>
        </dgm:presLayoutVars>
      </dgm:prSet>
      <dgm:spPr/>
    </dgm:pt>
    <dgm:pt modelId="{EB6D2291-70B7-487D-A811-785EA01B17A8}" type="pres">
      <dgm:prSet presAssocID="{B30EBD39-38DB-4A22-8F63-60F7711F0CD4}" presName="node" presStyleLbl="node1" presStyleIdx="0" presStyleCnt="6">
        <dgm:presLayoutVars>
          <dgm:bulletEnabled val="1"/>
        </dgm:presLayoutVars>
      </dgm:prSet>
      <dgm:spPr/>
    </dgm:pt>
    <dgm:pt modelId="{AC10447C-045E-42F5-B0B6-0C43D0227E48}" type="pres">
      <dgm:prSet presAssocID="{624A177C-CB4E-4A4D-A117-F8D4E7C8906B}" presName="sibTrans" presStyleLbl="sibTrans2D1" presStyleIdx="0" presStyleCnt="6" custAng="16910683" custFlipVert="1" custLinFactNeighborX="8666" custLinFactNeighborY="-6825"/>
      <dgm:spPr/>
    </dgm:pt>
    <dgm:pt modelId="{48CA99D7-5408-415A-8B70-38F581907B17}" type="pres">
      <dgm:prSet presAssocID="{624A177C-CB4E-4A4D-A117-F8D4E7C8906B}" presName="connectorText" presStyleLbl="sibTrans2D1" presStyleIdx="0" presStyleCnt="6"/>
      <dgm:spPr/>
    </dgm:pt>
    <dgm:pt modelId="{9CFB28CF-A087-4F3A-925D-2EFCBB14A986}" type="pres">
      <dgm:prSet presAssocID="{CA960571-4FAB-4944-92CA-D93C9234DDF4}" presName="node" presStyleLbl="node1" presStyleIdx="1" presStyleCnt="6">
        <dgm:presLayoutVars>
          <dgm:bulletEnabled val="1"/>
        </dgm:presLayoutVars>
      </dgm:prSet>
      <dgm:spPr/>
    </dgm:pt>
    <dgm:pt modelId="{EC4ED902-BD10-4102-A619-D678467DDD17}" type="pres">
      <dgm:prSet presAssocID="{8E2D9C11-4318-4C3B-95A6-C98779BCDAE0}" presName="sibTrans" presStyleLbl="sibTrans2D1" presStyleIdx="1" presStyleCnt="6" custAng="21421168"/>
      <dgm:spPr/>
    </dgm:pt>
    <dgm:pt modelId="{434157A7-D9C0-43E5-9002-BEEE145ACCC0}" type="pres">
      <dgm:prSet presAssocID="{8E2D9C11-4318-4C3B-95A6-C98779BCDAE0}" presName="connectorText" presStyleLbl="sibTrans2D1" presStyleIdx="1" presStyleCnt="6"/>
      <dgm:spPr/>
    </dgm:pt>
    <dgm:pt modelId="{EE2CBD1D-C922-4D2D-8ADE-2E7C4CC583FA}" type="pres">
      <dgm:prSet presAssocID="{41809680-513D-4099-A8E9-F37A52743F57}" presName="node" presStyleLbl="node1" presStyleIdx="2" presStyleCnt="6">
        <dgm:presLayoutVars>
          <dgm:bulletEnabled val="1"/>
        </dgm:presLayoutVars>
      </dgm:prSet>
      <dgm:spPr/>
    </dgm:pt>
    <dgm:pt modelId="{DCE15EA9-5C42-4AB6-82CC-E04CF52D42AB}" type="pres">
      <dgm:prSet presAssocID="{E5A606FC-0A55-4519-BC1F-06FF77F0F73D}" presName="sibTrans" presStyleLbl="sibTrans2D1" presStyleIdx="2" presStyleCnt="6" custAng="15078176" custFlipHor="1" custLinFactNeighborX="23110" custLinFactNeighborY="43225"/>
      <dgm:spPr/>
    </dgm:pt>
    <dgm:pt modelId="{B8223F63-C200-46E4-896E-A66A965F72AD}" type="pres">
      <dgm:prSet presAssocID="{E5A606FC-0A55-4519-BC1F-06FF77F0F73D}" presName="connectorText" presStyleLbl="sibTrans2D1" presStyleIdx="2" presStyleCnt="6"/>
      <dgm:spPr/>
    </dgm:pt>
    <dgm:pt modelId="{B9431B08-B5B8-4392-8797-97537FCBE834}" type="pres">
      <dgm:prSet presAssocID="{59065ACC-CAF5-445F-BE8E-941BD0B182FA}" presName="node" presStyleLbl="node1" presStyleIdx="3" presStyleCnt="6">
        <dgm:presLayoutVars>
          <dgm:bulletEnabled val="1"/>
        </dgm:presLayoutVars>
      </dgm:prSet>
      <dgm:spPr/>
    </dgm:pt>
    <dgm:pt modelId="{445D4639-FCC0-4FE8-AABD-063BEB3B6532}" type="pres">
      <dgm:prSet presAssocID="{5337366B-9256-4D5E-88F4-9C7D0DE6E1DD}" presName="sibTrans" presStyleLbl="sibTrans2D1" presStyleIdx="3" presStyleCnt="6" custAng="315958" custLinFactNeighborX="-14444" custLinFactNeighborY="4550"/>
      <dgm:spPr/>
    </dgm:pt>
    <dgm:pt modelId="{3D6BEEA6-46CB-4B95-92FA-80DA71FF0B07}" type="pres">
      <dgm:prSet presAssocID="{5337366B-9256-4D5E-88F4-9C7D0DE6E1DD}" presName="connectorText" presStyleLbl="sibTrans2D1" presStyleIdx="3" presStyleCnt="6"/>
      <dgm:spPr/>
    </dgm:pt>
    <dgm:pt modelId="{7E038720-DAD5-4AAE-B440-2CF8FFADE515}" type="pres">
      <dgm:prSet presAssocID="{7880FB37-4505-4702-8884-BBA74A39E2C8}" presName="node" presStyleLbl="node1" presStyleIdx="4" presStyleCnt="6">
        <dgm:presLayoutVars>
          <dgm:bulletEnabled val="1"/>
        </dgm:presLayoutVars>
      </dgm:prSet>
      <dgm:spPr/>
    </dgm:pt>
    <dgm:pt modelId="{84C38F47-DD8A-432F-9D7D-76EE93143AFD}" type="pres">
      <dgm:prSet presAssocID="{9B7472CE-C93E-4D6F-932E-82621F7FA0B7}" presName="sibTrans" presStyleLbl="sibTrans2D1" presStyleIdx="4" presStyleCnt="6" custAng="10994409" custFlipVert="1" custFlipHor="1" custLinFactNeighborX="-5778" custLinFactNeighborY="-2229"/>
      <dgm:spPr/>
    </dgm:pt>
    <dgm:pt modelId="{216CDD35-6668-443D-87F7-B439164C0337}" type="pres">
      <dgm:prSet presAssocID="{9B7472CE-C93E-4D6F-932E-82621F7FA0B7}" presName="connectorText" presStyleLbl="sibTrans2D1" presStyleIdx="4" presStyleCnt="6"/>
      <dgm:spPr/>
    </dgm:pt>
    <dgm:pt modelId="{BB669EC7-662B-458B-935F-3AAC144453D1}" type="pres">
      <dgm:prSet presAssocID="{4D6989A5-CEDA-4C3D-A08A-CAA19E3565CE}" presName="node" presStyleLbl="node1" presStyleIdx="5" presStyleCnt="6">
        <dgm:presLayoutVars>
          <dgm:bulletEnabled val="1"/>
        </dgm:presLayoutVars>
      </dgm:prSet>
      <dgm:spPr/>
    </dgm:pt>
    <dgm:pt modelId="{EDE2F577-5208-4B5B-83F3-960A1118760A}" type="pres">
      <dgm:prSet presAssocID="{F5AAFB41-53F9-4284-B6B5-82056834684D}" presName="sibTrans" presStyleLbl="sibTrans2D1" presStyleIdx="5" presStyleCnt="6" custAng="21567237" custLinFactNeighborX="-5778" custLinFactNeighborY="-20475"/>
      <dgm:spPr/>
    </dgm:pt>
    <dgm:pt modelId="{88DD4D14-B0BB-40DB-885E-A32C0E837947}" type="pres">
      <dgm:prSet presAssocID="{F5AAFB41-53F9-4284-B6B5-82056834684D}" presName="connectorText" presStyleLbl="sibTrans2D1" presStyleIdx="5" presStyleCnt="6"/>
      <dgm:spPr/>
    </dgm:pt>
  </dgm:ptLst>
  <dgm:cxnLst>
    <dgm:cxn modelId="{4DEC4406-9005-48CE-B98E-29CD25FE3ABB}" type="presOf" srcId="{5337366B-9256-4D5E-88F4-9C7D0DE6E1DD}" destId="{445D4639-FCC0-4FE8-AABD-063BEB3B6532}" srcOrd="0" destOrd="0" presId="urn:microsoft.com/office/officeart/2005/8/layout/cycle2"/>
    <dgm:cxn modelId="{3392A30C-63A9-47E3-AA06-03DBC607BC8C}" type="presOf" srcId="{59065ACC-CAF5-445F-BE8E-941BD0B182FA}" destId="{B9431B08-B5B8-4392-8797-97537FCBE834}" srcOrd="0" destOrd="0" presId="urn:microsoft.com/office/officeart/2005/8/layout/cycle2"/>
    <dgm:cxn modelId="{D30DF611-32A4-40E9-889A-162581CD1A9F}" type="presOf" srcId="{8E2D9C11-4318-4C3B-95A6-C98779BCDAE0}" destId="{434157A7-D9C0-43E5-9002-BEEE145ACCC0}" srcOrd="1" destOrd="0" presId="urn:microsoft.com/office/officeart/2005/8/layout/cycle2"/>
    <dgm:cxn modelId="{9D24BF14-AF96-43BB-985C-F0F3EB490B2A}" type="presOf" srcId="{41809680-513D-4099-A8E9-F37A52743F57}" destId="{EE2CBD1D-C922-4D2D-8ADE-2E7C4CC583FA}" srcOrd="0" destOrd="0" presId="urn:microsoft.com/office/officeart/2005/8/layout/cycle2"/>
    <dgm:cxn modelId="{9CA4B01E-8F1A-4AD6-A339-4FCDBC18E033}" type="presOf" srcId="{CA960571-4FAB-4944-92CA-D93C9234DDF4}" destId="{9CFB28CF-A087-4F3A-925D-2EFCBB14A986}" srcOrd="0" destOrd="0" presId="urn:microsoft.com/office/officeart/2005/8/layout/cycle2"/>
    <dgm:cxn modelId="{44FD3029-0E84-495F-A3E0-64A67A0817D8}" type="presOf" srcId="{B30EBD39-38DB-4A22-8F63-60F7711F0CD4}" destId="{EB6D2291-70B7-487D-A811-785EA01B17A8}" srcOrd="0" destOrd="0" presId="urn:microsoft.com/office/officeart/2005/8/layout/cycle2"/>
    <dgm:cxn modelId="{F007782B-3712-4D4B-8A99-42BCACE98459}" type="presOf" srcId="{624A177C-CB4E-4A4D-A117-F8D4E7C8906B}" destId="{AC10447C-045E-42F5-B0B6-0C43D0227E48}" srcOrd="0" destOrd="0" presId="urn:microsoft.com/office/officeart/2005/8/layout/cycle2"/>
    <dgm:cxn modelId="{03AF602F-040C-49A7-B11E-05C4A830712A}" srcId="{F508B55E-841C-491D-9D1B-6059B06288E6}" destId="{7880FB37-4505-4702-8884-BBA74A39E2C8}" srcOrd="4" destOrd="0" parTransId="{40C67C0E-6A8E-424C-8E50-66268DB8F5CB}" sibTransId="{9B7472CE-C93E-4D6F-932E-82621F7FA0B7}"/>
    <dgm:cxn modelId="{35233E40-723A-4707-9B6E-42F1752F44EE}" type="presOf" srcId="{F508B55E-841C-491D-9D1B-6059B06288E6}" destId="{AB21089D-7B1E-464C-8697-8652B94F3AB6}" srcOrd="0" destOrd="0" presId="urn:microsoft.com/office/officeart/2005/8/layout/cycle2"/>
    <dgm:cxn modelId="{77E44D42-9771-4A1F-B5D2-BC8245B91C95}" type="presOf" srcId="{9B7472CE-C93E-4D6F-932E-82621F7FA0B7}" destId="{216CDD35-6668-443D-87F7-B439164C0337}" srcOrd="1" destOrd="0" presId="urn:microsoft.com/office/officeart/2005/8/layout/cycle2"/>
    <dgm:cxn modelId="{95FBC963-5BE7-4197-92B2-D08BC5C5C09E}" srcId="{F508B55E-841C-491D-9D1B-6059B06288E6}" destId="{59065ACC-CAF5-445F-BE8E-941BD0B182FA}" srcOrd="3" destOrd="0" parTransId="{3AFE8F63-CAC5-4AA3-BFA9-B358EACC071F}" sibTransId="{5337366B-9256-4D5E-88F4-9C7D0DE6E1DD}"/>
    <dgm:cxn modelId="{1636EA4B-0699-45C6-8135-483AE4533F73}" type="presOf" srcId="{7880FB37-4505-4702-8884-BBA74A39E2C8}" destId="{7E038720-DAD5-4AAE-B440-2CF8FFADE515}" srcOrd="0" destOrd="0" presId="urn:microsoft.com/office/officeart/2005/8/layout/cycle2"/>
    <dgm:cxn modelId="{D6EB1E50-6264-49BE-B31C-21212E30FF8B}" type="presOf" srcId="{8E2D9C11-4318-4C3B-95A6-C98779BCDAE0}" destId="{EC4ED902-BD10-4102-A619-D678467DDD17}" srcOrd="0" destOrd="0" presId="urn:microsoft.com/office/officeart/2005/8/layout/cycle2"/>
    <dgm:cxn modelId="{E161D188-3D7B-4D2B-BAE2-4BDA6DF95009}" type="presOf" srcId="{624A177C-CB4E-4A4D-A117-F8D4E7C8906B}" destId="{48CA99D7-5408-415A-8B70-38F581907B17}" srcOrd="1" destOrd="0" presId="urn:microsoft.com/office/officeart/2005/8/layout/cycle2"/>
    <dgm:cxn modelId="{38F3289C-D341-4D4A-B303-BD3D7B473B77}" srcId="{F508B55E-841C-491D-9D1B-6059B06288E6}" destId="{41809680-513D-4099-A8E9-F37A52743F57}" srcOrd="2" destOrd="0" parTransId="{3FF0FAF4-F26B-40E2-9CA1-6FF2D9E4AD46}" sibTransId="{E5A606FC-0A55-4519-BC1F-06FF77F0F73D}"/>
    <dgm:cxn modelId="{492105A3-7AF0-4E18-85E1-97309B6FEF41}" type="presOf" srcId="{F5AAFB41-53F9-4284-B6B5-82056834684D}" destId="{EDE2F577-5208-4B5B-83F3-960A1118760A}" srcOrd="0" destOrd="0" presId="urn:microsoft.com/office/officeart/2005/8/layout/cycle2"/>
    <dgm:cxn modelId="{5AD9FEAA-579F-40BB-A41E-B963F2FB597F}" type="presOf" srcId="{4D6989A5-CEDA-4C3D-A08A-CAA19E3565CE}" destId="{BB669EC7-662B-458B-935F-3AAC144453D1}" srcOrd="0" destOrd="0" presId="urn:microsoft.com/office/officeart/2005/8/layout/cycle2"/>
    <dgm:cxn modelId="{C9B603BA-1FA6-4FE6-AE8C-8E4DDDA07939}" srcId="{F508B55E-841C-491D-9D1B-6059B06288E6}" destId="{CA960571-4FAB-4944-92CA-D93C9234DDF4}" srcOrd="1" destOrd="0" parTransId="{AF6CCFAC-05AE-4D48-8290-566109A10231}" sibTransId="{8E2D9C11-4318-4C3B-95A6-C98779BCDAE0}"/>
    <dgm:cxn modelId="{2DC813DA-29BA-457C-9FD1-518ACD365367}" type="presOf" srcId="{5337366B-9256-4D5E-88F4-9C7D0DE6E1DD}" destId="{3D6BEEA6-46CB-4B95-92FA-80DA71FF0B07}" srcOrd="1" destOrd="0" presId="urn:microsoft.com/office/officeart/2005/8/layout/cycle2"/>
    <dgm:cxn modelId="{6E796BED-4BF5-4D4A-84A5-97D980106E6F}" type="presOf" srcId="{E5A606FC-0A55-4519-BC1F-06FF77F0F73D}" destId="{B8223F63-C200-46E4-896E-A66A965F72AD}" srcOrd="1" destOrd="0" presId="urn:microsoft.com/office/officeart/2005/8/layout/cycle2"/>
    <dgm:cxn modelId="{639CE6EF-F3AC-4C2D-A8BA-ACABA8C5CC76}" type="presOf" srcId="{9B7472CE-C93E-4D6F-932E-82621F7FA0B7}" destId="{84C38F47-DD8A-432F-9D7D-76EE93143AFD}" srcOrd="0" destOrd="0" presId="urn:microsoft.com/office/officeart/2005/8/layout/cycle2"/>
    <dgm:cxn modelId="{8E2B7FF7-BF84-4F32-A656-64EE81696ECD}" type="presOf" srcId="{E5A606FC-0A55-4519-BC1F-06FF77F0F73D}" destId="{DCE15EA9-5C42-4AB6-82CC-E04CF52D42AB}" srcOrd="0" destOrd="0" presId="urn:microsoft.com/office/officeart/2005/8/layout/cycle2"/>
    <dgm:cxn modelId="{72B805FB-3CAD-4A7B-AB2A-2365E6A038E4}" srcId="{F508B55E-841C-491D-9D1B-6059B06288E6}" destId="{4D6989A5-CEDA-4C3D-A08A-CAA19E3565CE}" srcOrd="5" destOrd="0" parTransId="{BBE24AC8-8019-4D18-AC68-01EB453659A0}" sibTransId="{F5AAFB41-53F9-4284-B6B5-82056834684D}"/>
    <dgm:cxn modelId="{427BD2FC-48F1-417A-AD07-D703621105A0}" srcId="{F508B55E-841C-491D-9D1B-6059B06288E6}" destId="{B30EBD39-38DB-4A22-8F63-60F7711F0CD4}" srcOrd="0" destOrd="0" parTransId="{6F92F4EC-0DA5-434E-B351-88C97D847336}" sibTransId="{624A177C-CB4E-4A4D-A117-F8D4E7C8906B}"/>
    <dgm:cxn modelId="{2F2FA9FD-78B2-4FF6-9E3A-62485D784093}" type="presOf" srcId="{F5AAFB41-53F9-4284-B6B5-82056834684D}" destId="{88DD4D14-B0BB-40DB-885E-A32C0E837947}" srcOrd="1" destOrd="0" presId="urn:microsoft.com/office/officeart/2005/8/layout/cycle2"/>
    <dgm:cxn modelId="{7F0537DC-B7AC-48DD-B8D8-44968B67FAB2}" type="presParOf" srcId="{AB21089D-7B1E-464C-8697-8652B94F3AB6}" destId="{EB6D2291-70B7-487D-A811-785EA01B17A8}" srcOrd="0" destOrd="0" presId="urn:microsoft.com/office/officeart/2005/8/layout/cycle2"/>
    <dgm:cxn modelId="{B7423113-F224-4CB6-A7B0-3411F01FFF83}" type="presParOf" srcId="{AB21089D-7B1E-464C-8697-8652B94F3AB6}" destId="{AC10447C-045E-42F5-B0B6-0C43D0227E48}" srcOrd="1" destOrd="0" presId="urn:microsoft.com/office/officeart/2005/8/layout/cycle2"/>
    <dgm:cxn modelId="{EB52769F-B26A-4856-9A8C-50BF50D97EBE}" type="presParOf" srcId="{AC10447C-045E-42F5-B0B6-0C43D0227E48}" destId="{48CA99D7-5408-415A-8B70-38F581907B17}" srcOrd="0" destOrd="0" presId="urn:microsoft.com/office/officeart/2005/8/layout/cycle2"/>
    <dgm:cxn modelId="{508513F8-F01A-4FFE-B39F-CF6068225E84}" type="presParOf" srcId="{AB21089D-7B1E-464C-8697-8652B94F3AB6}" destId="{9CFB28CF-A087-4F3A-925D-2EFCBB14A986}" srcOrd="2" destOrd="0" presId="urn:microsoft.com/office/officeart/2005/8/layout/cycle2"/>
    <dgm:cxn modelId="{D0F81D1B-84AE-4EAC-B8C3-F316FCD33171}" type="presParOf" srcId="{AB21089D-7B1E-464C-8697-8652B94F3AB6}" destId="{EC4ED902-BD10-4102-A619-D678467DDD17}" srcOrd="3" destOrd="0" presId="urn:microsoft.com/office/officeart/2005/8/layout/cycle2"/>
    <dgm:cxn modelId="{C4F74095-5FB5-4DF3-AEFC-582FAC939C9F}" type="presParOf" srcId="{EC4ED902-BD10-4102-A619-D678467DDD17}" destId="{434157A7-D9C0-43E5-9002-BEEE145ACCC0}" srcOrd="0" destOrd="0" presId="urn:microsoft.com/office/officeart/2005/8/layout/cycle2"/>
    <dgm:cxn modelId="{DDB25EB5-70D8-4DF7-A1E9-CF719D43B9D3}" type="presParOf" srcId="{AB21089D-7B1E-464C-8697-8652B94F3AB6}" destId="{EE2CBD1D-C922-4D2D-8ADE-2E7C4CC583FA}" srcOrd="4" destOrd="0" presId="urn:microsoft.com/office/officeart/2005/8/layout/cycle2"/>
    <dgm:cxn modelId="{4EC76EAA-0855-4606-B01E-D766080D9F3C}" type="presParOf" srcId="{AB21089D-7B1E-464C-8697-8652B94F3AB6}" destId="{DCE15EA9-5C42-4AB6-82CC-E04CF52D42AB}" srcOrd="5" destOrd="0" presId="urn:microsoft.com/office/officeart/2005/8/layout/cycle2"/>
    <dgm:cxn modelId="{305CE00D-74FC-48DD-B622-3E1DAD7654CB}" type="presParOf" srcId="{DCE15EA9-5C42-4AB6-82CC-E04CF52D42AB}" destId="{B8223F63-C200-46E4-896E-A66A965F72AD}" srcOrd="0" destOrd="0" presId="urn:microsoft.com/office/officeart/2005/8/layout/cycle2"/>
    <dgm:cxn modelId="{48D3BC27-F0D4-4CDE-9DB2-67CFD345B4F0}" type="presParOf" srcId="{AB21089D-7B1E-464C-8697-8652B94F3AB6}" destId="{B9431B08-B5B8-4392-8797-97537FCBE834}" srcOrd="6" destOrd="0" presId="urn:microsoft.com/office/officeart/2005/8/layout/cycle2"/>
    <dgm:cxn modelId="{99735393-F926-455F-864A-D653BE73CD8B}" type="presParOf" srcId="{AB21089D-7B1E-464C-8697-8652B94F3AB6}" destId="{445D4639-FCC0-4FE8-AABD-063BEB3B6532}" srcOrd="7" destOrd="0" presId="urn:microsoft.com/office/officeart/2005/8/layout/cycle2"/>
    <dgm:cxn modelId="{9312585E-2F78-4E1F-B486-309806028802}" type="presParOf" srcId="{445D4639-FCC0-4FE8-AABD-063BEB3B6532}" destId="{3D6BEEA6-46CB-4B95-92FA-80DA71FF0B07}" srcOrd="0" destOrd="0" presId="urn:microsoft.com/office/officeart/2005/8/layout/cycle2"/>
    <dgm:cxn modelId="{806DDDBE-85CE-42E6-BA19-7B7B1F1DBBFA}" type="presParOf" srcId="{AB21089D-7B1E-464C-8697-8652B94F3AB6}" destId="{7E038720-DAD5-4AAE-B440-2CF8FFADE515}" srcOrd="8" destOrd="0" presId="urn:microsoft.com/office/officeart/2005/8/layout/cycle2"/>
    <dgm:cxn modelId="{BD917D7A-BAFC-4F45-AFDB-058F4404420B}" type="presParOf" srcId="{AB21089D-7B1E-464C-8697-8652B94F3AB6}" destId="{84C38F47-DD8A-432F-9D7D-76EE93143AFD}" srcOrd="9" destOrd="0" presId="urn:microsoft.com/office/officeart/2005/8/layout/cycle2"/>
    <dgm:cxn modelId="{6FA714FF-E5FF-4DE0-94E6-EF3882CE1142}" type="presParOf" srcId="{84C38F47-DD8A-432F-9D7D-76EE93143AFD}" destId="{216CDD35-6668-443D-87F7-B439164C0337}" srcOrd="0" destOrd="0" presId="urn:microsoft.com/office/officeart/2005/8/layout/cycle2"/>
    <dgm:cxn modelId="{BFD9E7BD-ED70-46E1-A3D8-BBC350FA49F9}" type="presParOf" srcId="{AB21089D-7B1E-464C-8697-8652B94F3AB6}" destId="{BB669EC7-662B-458B-935F-3AAC144453D1}" srcOrd="10" destOrd="0" presId="urn:microsoft.com/office/officeart/2005/8/layout/cycle2"/>
    <dgm:cxn modelId="{51A2A518-85B1-4E5E-BC0C-11BAA14196AC}" type="presParOf" srcId="{AB21089D-7B1E-464C-8697-8652B94F3AB6}" destId="{EDE2F577-5208-4B5B-83F3-960A1118760A}" srcOrd="11" destOrd="0" presId="urn:microsoft.com/office/officeart/2005/8/layout/cycle2"/>
    <dgm:cxn modelId="{00FF3117-0923-4733-BE17-EDAC9CC76273}" type="presParOf" srcId="{EDE2F577-5208-4B5B-83F3-960A1118760A}" destId="{88DD4D14-B0BB-40DB-885E-A32C0E837947}"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6D2291-70B7-487D-A811-785EA01B17A8}">
      <dsp:nvSpPr>
        <dsp:cNvPr id="0" name=""/>
        <dsp:cNvSpPr/>
      </dsp:nvSpPr>
      <dsp:spPr>
        <a:xfrm>
          <a:off x="3155733" y="149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3. Develop</a:t>
          </a:r>
        </a:p>
      </dsp:txBody>
      <dsp:txXfrm>
        <a:off x="3314055" y="159816"/>
        <a:ext cx="764445" cy="764445"/>
      </dsp:txXfrm>
    </dsp:sp>
    <dsp:sp modelId="{AC10447C-045E-42F5-B0B6-0C43D0227E48}">
      <dsp:nvSpPr>
        <dsp:cNvPr id="0" name=""/>
        <dsp:cNvSpPr/>
      </dsp:nvSpPr>
      <dsp:spPr>
        <a:xfrm rot="2889317" flipV="1">
          <a:off x="4273325" y="736417"/>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287669" y="777289"/>
        <a:ext cx="201093" cy="218921"/>
      </dsp:txXfrm>
    </dsp:sp>
    <dsp:sp modelId="{9CFB28CF-A087-4F3A-925D-2EFCBB14A986}">
      <dsp:nvSpPr>
        <dsp:cNvPr id="0" name=""/>
        <dsp:cNvSpPr/>
      </dsp:nvSpPr>
      <dsp:spPr>
        <a:xfrm>
          <a:off x="4561395" y="813054"/>
          <a:ext cx="1081089" cy="1081089"/>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4. Test</a:t>
          </a:r>
        </a:p>
      </dsp:txBody>
      <dsp:txXfrm>
        <a:off x="4719717" y="971376"/>
        <a:ext cx="764445" cy="764445"/>
      </dsp:txXfrm>
    </dsp:sp>
    <dsp:sp modelId="{EC4ED902-BD10-4102-A619-D678467DDD17}">
      <dsp:nvSpPr>
        <dsp:cNvPr id="0" name=""/>
        <dsp:cNvSpPr/>
      </dsp:nvSpPr>
      <dsp:spPr>
        <a:xfrm rot="5221168">
          <a:off x="4958302" y="1974593"/>
          <a:ext cx="287275" cy="36486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4999152" y="2004533"/>
        <a:ext cx="201093" cy="218921"/>
      </dsp:txXfrm>
    </dsp:sp>
    <dsp:sp modelId="{EE2CBD1D-C922-4D2D-8ADE-2E7C4CC583FA}">
      <dsp:nvSpPr>
        <dsp:cNvPr id="0" name=""/>
        <dsp:cNvSpPr/>
      </dsp:nvSpPr>
      <dsp:spPr>
        <a:xfrm>
          <a:off x="4561395" y="2436172"/>
          <a:ext cx="1081089" cy="1081089"/>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5. Deploy</a:t>
          </a:r>
        </a:p>
      </dsp:txBody>
      <dsp:txXfrm>
        <a:off x="4719717" y="2594494"/>
        <a:ext cx="764445" cy="764445"/>
      </dsp:txXfrm>
    </dsp:sp>
    <dsp:sp modelId="{DCE15EA9-5C42-4AB6-82CC-E04CF52D42AB}">
      <dsp:nvSpPr>
        <dsp:cNvPr id="0" name=""/>
        <dsp:cNvSpPr/>
      </dsp:nvSpPr>
      <dsp:spPr>
        <a:xfrm rot="19121824" flipH="1">
          <a:off x="4328902" y="3353711"/>
          <a:ext cx="287275" cy="3648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404364" y="3398242"/>
        <a:ext cx="201093" cy="218921"/>
      </dsp:txXfrm>
    </dsp:sp>
    <dsp:sp modelId="{B9431B08-B5B8-4392-8797-97537FCBE834}">
      <dsp:nvSpPr>
        <dsp:cNvPr id="0" name=""/>
        <dsp:cNvSpPr/>
      </dsp:nvSpPr>
      <dsp:spPr>
        <a:xfrm>
          <a:off x="3155733" y="3247731"/>
          <a:ext cx="1081089" cy="1081089"/>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6. Review</a:t>
          </a:r>
        </a:p>
      </dsp:txBody>
      <dsp:txXfrm>
        <a:off x="3314055" y="3406053"/>
        <a:ext cx="764445" cy="764445"/>
      </dsp:txXfrm>
    </dsp:sp>
    <dsp:sp modelId="{445D4639-FCC0-4FE8-AABD-063BEB3B6532}">
      <dsp:nvSpPr>
        <dsp:cNvPr id="0" name=""/>
        <dsp:cNvSpPr/>
      </dsp:nvSpPr>
      <dsp:spPr>
        <a:xfrm rot="12915958">
          <a:off x="2815356" y="3220729"/>
          <a:ext cx="287275" cy="36486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893630" y="3318582"/>
        <a:ext cx="201093" cy="218921"/>
      </dsp:txXfrm>
    </dsp:sp>
    <dsp:sp modelId="{7E038720-DAD5-4AAE-B440-2CF8FFADE515}">
      <dsp:nvSpPr>
        <dsp:cNvPr id="0" name=""/>
        <dsp:cNvSpPr/>
      </dsp:nvSpPr>
      <dsp:spPr>
        <a:xfrm>
          <a:off x="1750071" y="2436172"/>
          <a:ext cx="1081089" cy="1081089"/>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1. Plan</a:t>
          </a:r>
        </a:p>
      </dsp:txBody>
      <dsp:txXfrm>
        <a:off x="1908393" y="2594494"/>
        <a:ext cx="764445" cy="764445"/>
      </dsp:txXfrm>
    </dsp:sp>
    <dsp:sp modelId="{84C38F47-DD8A-432F-9D7D-76EE93143AFD}">
      <dsp:nvSpPr>
        <dsp:cNvPr id="0" name=""/>
        <dsp:cNvSpPr/>
      </dsp:nvSpPr>
      <dsp:spPr>
        <a:xfrm rot="5594409" flipH="1" flipV="1">
          <a:off x="2130380" y="1982721"/>
          <a:ext cx="287275" cy="36486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171035" y="2098716"/>
        <a:ext cx="201093" cy="218921"/>
      </dsp:txXfrm>
    </dsp:sp>
    <dsp:sp modelId="{BB669EC7-662B-458B-935F-3AAC144453D1}">
      <dsp:nvSpPr>
        <dsp:cNvPr id="0" name=""/>
        <dsp:cNvSpPr/>
      </dsp:nvSpPr>
      <dsp:spPr>
        <a:xfrm>
          <a:off x="1750071" y="81305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2. Design</a:t>
          </a:r>
        </a:p>
      </dsp:txBody>
      <dsp:txXfrm>
        <a:off x="1908393" y="971376"/>
        <a:ext cx="764445" cy="764445"/>
      </dsp:txXfrm>
    </dsp:sp>
    <dsp:sp modelId="{EDE2F577-5208-4B5B-83F3-960A1118760A}">
      <dsp:nvSpPr>
        <dsp:cNvPr id="0" name=""/>
        <dsp:cNvSpPr/>
      </dsp:nvSpPr>
      <dsp:spPr>
        <a:xfrm rot="19767237">
          <a:off x="2826169" y="694743"/>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2832149" y="789616"/>
        <a:ext cx="201093" cy="2189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6D2291-70B7-487D-A811-785EA01B17A8}">
      <dsp:nvSpPr>
        <dsp:cNvPr id="0" name=""/>
        <dsp:cNvSpPr/>
      </dsp:nvSpPr>
      <dsp:spPr>
        <a:xfrm>
          <a:off x="3155733" y="149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3. Develop</a:t>
          </a:r>
        </a:p>
      </dsp:txBody>
      <dsp:txXfrm>
        <a:off x="3314055" y="159816"/>
        <a:ext cx="764445" cy="764445"/>
      </dsp:txXfrm>
    </dsp:sp>
    <dsp:sp modelId="{AC10447C-045E-42F5-B0B6-0C43D0227E48}">
      <dsp:nvSpPr>
        <dsp:cNvPr id="0" name=""/>
        <dsp:cNvSpPr/>
      </dsp:nvSpPr>
      <dsp:spPr>
        <a:xfrm rot="2889317" flipV="1">
          <a:off x="4273325" y="736417"/>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287669" y="777289"/>
        <a:ext cx="201093" cy="218921"/>
      </dsp:txXfrm>
    </dsp:sp>
    <dsp:sp modelId="{9CFB28CF-A087-4F3A-925D-2EFCBB14A986}">
      <dsp:nvSpPr>
        <dsp:cNvPr id="0" name=""/>
        <dsp:cNvSpPr/>
      </dsp:nvSpPr>
      <dsp:spPr>
        <a:xfrm>
          <a:off x="4561395" y="813054"/>
          <a:ext cx="1081089" cy="1081089"/>
        </a:xfrm>
        <a:prstGeom prst="ellipse">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4. Test</a:t>
          </a:r>
        </a:p>
      </dsp:txBody>
      <dsp:txXfrm>
        <a:off x="4719717" y="971376"/>
        <a:ext cx="764445" cy="764445"/>
      </dsp:txXfrm>
    </dsp:sp>
    <dsp:sp modelId="{EC4ED902-BD10-4102-A619-D678467DDD17}">
      <dsp:nvSpPr>
        <dsp:cNvPr id="0" name=""/>
        <dsp:cNvSpPr/>
      </dsp:nvSpPr>
      <dsp:spPr>
        <a:xfrm rot="5221168">
          <a:off x="4958302" y="1974593"/>
          <a:ext cx="287275" cy="36486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4999152" y="2004533"/>
        <a:ext cx="201093" cy="218921"/>
      </dsp:txXfrm>
    </dsp:sp>
    <dsp:sp modelId="{EE2CBD1D-C922-4D2D-8ADE-2E7C4CC583FA}">
      <dsp:nvSpPr>
        <dsp:cNvPr id="0" name=""/>
        <dsp:cNvSpPr/>
      </dsp:nvSpPr>
      <dsp:spPr>
        <a:xfrm>
          <a:off x="4561395" y="2436172"/>
          <a:ext cx="1081089" cy="1081089"/>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5. Deploy</a:t>
          </a:r>
        </a:p>
      </dsp:txBody>
      <dsp:txXfrm>
        <a:off x="4719717" y="2594494"/>
        <a:ext cx="764445" cy="764445"/>
      </dsp:txXfrm>
    </dsp:sp>
    <dsp:sp modelId="{DCE15EA9-5C42-4AB6-82CC-E04CF52D42AB}">
      <dsp:nvSpPr>
        <dsp:cNvPr id="0" name=""/>
        <dsp:cNvSpPr/>
      </dsp:nvSpPr>
      <dsp:spPr>
        <a:xfrm rot="19121824" flipH="1">
          <a:off x="4328902" y="3353711"/>
          <a:ext cx="287275" cy="36486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4404364" y="3398242"/>
        <a:ext cx="201093" cy="218921"/>
      </dsp:txXfrm>
    </dsp:sp>
    <dsp:sp modelId="{B9431B08-B5B8-4392-8797-97537FCBE834}">
      <dsp:nvSpPr>
        <dsp:cNvPr id="0" name=""/>
        <dsp:cNvSpPr/>
      </dsp:nvSpPr>
      <dsp:spPr>
        <a:xfrm>
          <a:off x="3155733" y="3247731"/>
          <a:ext cx="1081089" cy="1081089"/>
        </a:xfrm>
        <a:prstGeom prst="ellipse">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6. Review</a:t>
          </a:r>
        </a:p>
      </dsp:txBody>
      <dsp:txXfrm>
        <a:off x="3314055" y="3406053"/>
        <a:ext cx="764445" cy="764445"/>
      </dsp:txXfrm>
    </dsp:sp>
    <dsp:sp modelId="{445D4639-FCC0-4FE8-AABD-063BEB3B6532}">
      <dsp:nvSpPr>
        <dsp:cNvPr id="0" name=""/>
        <dsp:cNvSpPr/>
      </dsp:nvSpPr>
      <dsp:spPr>
        <a:xfrm rot="12915958">
          <a:off x="2815356" y="3220729"/>
          <a:ext cx="287275" cy="36486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893630" y="3318582"/>
        <a:ext cx="201093" cy="218921"/>
      </dsp:txXfrm>
    </dsp:sp>
    <dsp:sp modelId="{7E038720-DAD5-4AAE-B440-2CF8FFADE515}">
      <dsp:nvSpPr>
        <dsp:cNvPr id="0" name=""/>
        <dsp:cNvSpPr/>
      </dsp:nvSpPr>
      <dsp:spPr>
        <a:xfrm>
          <a:off x="1750071" y="2436172"/>
          <a:ext cx="1081089" cy="1081089"/>
        </a:xfrm>
        <a:prstGeom prst="ellipse">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1. Plan</a:t>
          </a:r>
        </a:p>
      </dsp:txBody>
      <dsp:txXfrm>
        <a:off x="1908393" y="2594494"/>
        <a:ext cx="764445" cy="764445"/>
      </dsp:txXfrm>
    </dsp:sp>
    <dsp:sp modelId="{84C38F47-DD8A-432F-9D7D-76EE93143AFD}">
      <dsp:nvSpPr>
        <dsp:cNvPr id="0" name=""/>
        <dsp:cNvSpPr/>
      </dsp:nvSpPr>
      <dsp:spPr>
        <a:xfrm rot="5594409" flipH="1" flipV="1">
          <a:off x="2130380" y="1982721"/>
          <a:ext cx="287275" cy="36486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2171035" y="2098716"/>
        <a:ext cx="201093" cy="218921"/>
      </dsp:txXfrm>
    </dsp:sp>
    <dsp:sp modelId="{BB669EC7-662B-458B-935F-3AAC144453D1}">
      <dsp:nvSpPr>
        <dsp:cNvPr id="0" name=""/>
        <dsp:cNvSpPr/>
      </dsp:nvSpPr>
      <dsp:spPr>
        <a:xfrm>
          <a:off x="1750071" y="813054"/>
          <a:ext cx="1081089" cy="1081089"/>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IN" sz="1600" kern="1200" dirty="0"/>
            <a:t>2. Design</a:t>
          </a:r>
        </a:p>
      </dsp:txBody>
      <dsp:txXfrm>
        <a:off x="1908393" y="971376"/>
        <a:ext cx="764445" cy="764445"/>
      </dsp:txXfrm>
    </dsp:sp>
    <dsp:sp modelId="{EDE2F577-5208-4B5B-83F3-960A1118760A}">
      <dsp:nvSpPr>
        <dsp:cNvPr id="0" name=""/>
        <dsp:cNvSpPr/>
      </dsp:nvSpPr>
      <dsp:spPr>
        <a:xfrm rot="19767237">
          <a:off x="2826169" y="694743"/>
          <a:ext cx="287275" cy="36486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2832149" y="789616"/>
        <a:ext cx="201093" cy="218921"/>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E9543B-7564-4DA9-8EF6-9FD92DD5739E}" type="datetimeFigureOut">
              <a:rPr lang="en-IN" smtClean="0"/>
              <a:t>10-11-2025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6C43D9-95D2-4328-A29C-2881E5FD42EC}" type="slidenum">
              <a:rPr lang="en-IN" smtClean="0"/>
              <a:t>‹#›</a:t>
            </a:fld>
            <a:endParaRPr lang="en-IN"/>
          </a:p>
        </p:txBody>
      </p:sp>
    </p:spTree>
    <p:extLst>
      <p:ext uri="{BB962C8B-B14F-4D97-AF65-F5344CB8AC3E}">
        <p14:creationId xmlns:p14="http://schemas.microsoft.com/office/powerpoint/2010/main" val="23027872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96C43D9-95D2-4328-A29C-2881E5FD42EC}" type="slidenum">
              <a:rPr lang="en-IN" smtClean="0"/>
              <a:t>1</a:t>
            </a:fld>
            <a:endParaRPr lang="en-IN"/>
          </a:p>
        </p:txBody>
      </p:sp>
    </p:spTree>
    <p:extLst>
      <p:ext uri="{BB962C8B-B14F-4D97-AF65-F5344CB8AC3E}">
        <p14:creationId xmlns:p14="http://schemas.microsoft.com/office/powerpoint/2010/main" val="24660164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5E656-54B0-E9B8-ECAF-8C1403E143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B3A627B-4737-514D-D44B-51E49ADF0D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F61D43E-C76C-9295-7A30-308AF978B223}"/>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5" name="Footer Placeholder 4">
            <a:extLst>
              <a:ext uri="{FF2B5EF4-FFF2-40B4-BE49-F238E27FC236}">
                <a16:creationId xmlns:a16="http://schemas.microsoft.com/office/drawing/2014/main" id="{EA63914E-E67C-2A81-554C-086FCE7FC7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7884E8-B01D-5AC1-4EA6-9D05617FD31F}"/>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9206649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14C3DE-A1D2-0409-4DE2-9AE426C6CF0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292898F-3D3E-39B3-8252-4E189491C6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EE6A7D6-DF67-3414-6726-66E3B6A3E5BE}"/>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5" name="Footer Placeholder 4">
            <a:extLst>
              <a:ext uri="{FF2B5EF4-FFF2-40B4-BE49-F238E27FC236}">
                <a16:creationId xmlns:a16="http://schemas.microsoft.com/office/drawing/2014/main" id="{804C4D48-FB0A-8192-ED6F-B4B492E45A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935895A-F273-12D2-0FBE-80C6D7A77E0B}"/>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216573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04C56-F5D2-94B2-D41C-9E3A176016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E9A88CC-661F-FF2F-DCA2-6672654B3A6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2BB80F-E2DA-8AB2-1F1B-BC2F001AD036}"/>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5" name="Footer Placeholder 4">
            <a:extLst>
              <a:ext uri="{FF2B5EF4-FFF2-40B4-BE49-F238E27FC236}">
                <a16:creationId xmlns:a16="http://schemas.microsoft.com/office/drawing/2014/main" id="{687B0295-E6E7-EDC5-77AE-B03FF5DD4CA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E64136-698D-F41C-6C75-7B0DDFEBFA39}"/>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1829642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4AC6A-9423-65E7-DD73-3B2C3E8FBD0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23134C0-C4B2-988D-C11D-A8300ECEEE2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B7B9AE9-D531-B6F7-796C-A194FC67C05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53489F1-CF5F-E283-93C8-8CB18BB7802B}"/>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6" name="Footer Placeholder 5">
            <a:extLst>
              <a:ext uri="{FF2B5EF4-FFF2-40B4-BE49-F238E27FC236}">
                <a16:creationId xmlns:a16="http://schemas.microsoft.com/office/drawing/2014/main" id="{81646023-9834-C75D-9F13-500B3CAD992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8E314AA-12F5-C02F-6CAD-CA1DA81624E2}"/>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410664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57EFE-624A-0B8D-B230-88FAA8271AD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151453E-242B-6DBA-276B-6ECAA832F5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5FBE5C-3C48-9B58-4BA6-7AA58F2010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D23F5B8-28B3-57EE-FF7B-B058392014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0DEF8C3-CE3F-A022-3442-0554FAE82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55D64E5-2C2E-DCFD-9BAE-B20C572ACBD5}"/>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8" name="Footer Placeholder 7">
            <a:extLst>
              <a:ext uri="{FF2B5EF4-FFF2-40B4-BE49-F238E27FC236}">
                <a16:creationId xmlns:a16="http://schemas.microsoft.com/office/drawing/2014/main" id="{B886892A-E08E-F23C-AD32-58BA4A17C9AE}"/>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948FB6A-D5F3-A09A-32A1-3C9AB3AB4F40}"/>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2114771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B6422-176B-536A-CAD8-B524AB7665B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26142AE-A600-7818-0CED-B9D1C781D1D2}"/>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4" name="Footer Placeholder 3">
            <a:extLst>
              <a:ext uri="{FF2B5EF4-FFF2-40B4-BE49-F238E27FC236}">
                <a16:creationId xmlns:a16="http://schemas.microsoft.com/office/drawing/2014/main" id="{979C2728-B5A0-B508-E21A-67B91D036D5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BFE8986-37C4-83E2-5C48-E435B88C7852}"/>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8501465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7D69BE-7781-F623-217D-D7C003E6424F}"/>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3" name="Footer Placeholder 2">
            <a:extLst>
              <a:ext uri="{FF2B5EF4-FFF2-40B4-BE49-F238E27FC236}">
                <a16:creationId xmlns:a16="http://schemas.microsoft.com/office/drawing/2014/main" id="{2DCEE189-89C0-1FAE-2F8B-0EDF0B45C3B4}"/>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E5D863B-F65F-58E1-D1D5-628FD527F9CB}"/>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30842483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1D17C-B0F9-F891-D3D3-DC8092D939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2ECF97F-C431-2840-1EBF-AE89C1C1CD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FD4B658-B2CA-F8C0-2E7F-9F2B4D851C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0C5F24-647F-AC86-7E87-5AE30EF9F3C3}"/>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6" name="Footer Placeholder 5">
            <a:extLst>
              <a:ext uri="{FF2B5EF4-FFF2-40B4-BE49-F238E27FC236}">
                <a16:creationId xmlns:a16="http://schemas.microsoft.com/office/drawing/2014/main" id="{7CB49C64-EFCD-0A78-F59A-104B5F57398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1674897-B4CC-FF1D-A3EB-DCE728B36DD6}"/>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1601730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72303-CA8E-2155-B189-25AA92422B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045B2AE-A794-A3A0-A5D7-8F33333158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13DDCB4-E47F-27A0-ADFC-92730E24FA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3E86FC-525C-0780-C862-1CF15F7ADCAA}"/>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6" name="Footer Placeholder 5">
            <a:extLst>
              <a:ext uri="{FF2B5EF4-FFF2-40B4-BE49-F238E27FC236}">
                <a16:creationId xmlns:a16="http://schemas.microsoft.com/office/drawing/2014/main" id="{AE619803-C640-B44A-849B-DFBE27FFF99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BEC2143-33D9-AC64-3F32-BC916069288F}"/>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735626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0AA36-3A18-E507-FAC1-B6C542FC727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94E5DB6-91C0-3AE2-5A83-A9ECF7CF6B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7BC1FBD-CAAA-09CD-336F-2B64C1200069}"/>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5" name="Footer Placeholder 4">
            <a:extLst>
              <a:ext uri="{FF2B5EF4-FFF2-40B4-BE49-F238E27FC236}">
                <a16:creationId xmlns:a16="http://schemas.microsoft.com/office/drawing/2014/main" id="{9BD1FB2B-E4F8-C7FA-6EA0-2B9B2022414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5D3C38A-4FF7-5CCF-11D7-997DF7526901}"/>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2038482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873E68-E98C-F909-7EC3-E73555DAB25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F7735B9-3AA2-0B02-911F-439031E480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21FAE77-9650-5FD7-244D-2C8C09CC49FB}"/>
              </a:ext>
            </a:extLst>
          </p:cNvPr>
          <p:cNvSpPr>
            <a:spLocks noGrp="1"/>
          </p:cNvSpPr>
          <p:nvPr>
            <p:ph type="dt" sz="half" idx="10"/>
          </p:nvPr>
        </p:nvSpPr>
        <p:spPr/>
        <p:txBody>
          <a:bodyPr/>
          <a:lstStyle/>
          <a:p>
            <a:fld id="{15312975-030B-4EEB-9A3C-4B0486C3777D}" type="datetimeFigureOut">
              <a:rPr lang="en-IN" smtClean="0"/>
              <a:t>10-11-2025</a:t>
            </a:fld>
            <a:endParaRPr lang="en-IN"/>
          </a:p>
        </p:txBody>
      </p:sp>
      <p:sp>
        <p:nvSpPr>
          <p:cNvPr id="5" name="Footer Placeholder 4">
            <a:extLst>
              <a:ext uri="{FF2B5EF4-FFF2-40B4-BE49-F238E27FC236}">
                <a16:creationId xmlns:a16="http://schemas.microsoft.com/office/drawing/2014/main" id="{61C58936-841A-C431-DF6D-75F99DCBBC6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DC7D3A-32FC-AD95-03E8-4A197ADCD120}"/>
              </a:ext>
            </a:extLst>
          </p:cNvPr>
          <p:cNvSpPr>
            <a:spLocks noGrp="1"/>
          </p:cNvSpPr>
          <p:nvPr>
            <p:ph type="sldNum" sz="quarter" idx="12"/>
          </p:nvPr>
        </p:nvSpPr>
        <p:spPr/>
        <p:txBody>
          <a:bodyPr/>
          <a:lstStyle/>
          <a:p>
            <a:fld id="{9F093F95-E5D5-4351-B5DC-4F97E25D1714}" type="slidenum">
              <a:rPr lang="en-IN" smtClean="0"/>
              <a:t>‹#›</a:t>
            </a:fld>
            <a:endParaRPr lang="en-IN"/>
          </a:p>
        </p:txBody>
      </p:sp>
    </p:spTree>
    <p:extLst>
      <p:ext uri="{BB962C8B-B14F-4D97-AF65-F5344CB8AC3E}">
        <p14:creationId xmlns:p14="http://schemas.microsoft.com/office/powerpoint/2010/main" val="1602197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F19CF05-8A74-7887-AD00-F18495C10B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CC7AE6E-8F03-D4C6-1469-814B344A5B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6F773C5-B14C-3823-EEB0-F820A8191A8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5312975-030B-4EEB-9A3C-4B0486C3777D}" type="datetimeFigureOut">
              <a:rPr lang="en-IN" smtClean="0"/>
              <a:t>10-11-2025</a:t>
            </a:fld>
            <a:endParaRPr lang="en-IN"/>
          </a:p>
        </p:txBody>
      </p:sp>
      <p:sp>
        <p:nvSpPr>
          <p:cNvPr id="5" name="Footer Placeholder 4">
            <a:extLst>
              <a:ext uri="{FF2B5EF4-FFF2-40B4-BE49-F238E27FC236}">
                <a16:creationId xmlns:a16="http://schemas.microsoft.com/office/drawing/2014/main" id="{27EDD11F-F80E-8155-5263-DCDD1DDB3F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F6DC4166-4D6E-FC28-EC71-7C2B39F79D4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093F95-E5D5-4351-B5DC-4F97E25D1714}" type="slidenum">
              <a:rPr lang="en-IN" smtClean="0"/>
              <a:t>‹#›</a:t>
            </a:fld>
            <a:endParaRPr lang="en-IN"/>
          </a:p>
        </p:txBody>
      </p:sp>
    </p:spTree>
    <p:extLst>
      <p:ext uri="{BB962C8B-B14F-4D97-AF65-F5344CB8AC3E}">
        <p14:creationId xmlns:p14="http://schemas.microsoft.com/office/powerpoint/2010/main" val="10622381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san.singhsanjay@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image" Target="../media/image2.png"/><Relationship Id="rId16"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sv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9.png"/><Relationship Id="rId7" Type="http://schemas.openxmlformats.org/officeDocument/2006/relationships/image" Target="../media/image20.png"/><Relationship Id="rId12" Type="http://schemas.openxmlformats.org/officeDocument/2006/relationships/image" Target="../media/image23.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22.svg"/><Relationship Id="rId5" Type="http://schemas.openxmlformats.org/officeDocument/2006/relationships/image" Target="../media/image15.png"/><Relationship Id="rId10" Type="http://schemas.openxmlformats.org/officeDocument/2006/relationships/image" Target="../media/image21.png"/><Relationship Id="rId4" Type="http://schemas.openxmlformats.org/officeDocument/2006/relationships/image" Target="../media/image19.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hyperlink" Target="https://api.github.com/meta" TargetMode="External"/><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download.docker.com/linux/ubuntu/gpg" TargetMode="External"/><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hyperlink" Target="https://download.docker.com/linux/ubuntu"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DFF29D-658E-951D-49F1-377A81F6AF32}"/>
              </a:ext>
            </a:extLst>
          </p:cNvPr>
          <p:cNvSpPr txBox="1"/>
          <p:nvPr/>
        </p:nvSpPr>
        <p:spPr>
          <a:xfrm>
            <a:off x="4371109" y="1998353"/>
            <a:ext cx="3449781" cy="1323439"/>
          </a:xfrm>
          <a:prstGeom prst="rect">
            <a:avLst/>
          </a:prstGeom>
          <a:noFill/>
        </p:spPr>
        <p:txBody>
          <a:bodyPr wrap="square" rtlCol="0" anchor="ctr">
            <a:spAutoFit/>
          </a:bodyPr>
          <a:lstStyle/>
          <a:p>
            <a:pPr algn="ctr"/>
            <a:r>
              <a:rPr lang="en-IN" sz="3200" dirty="0"/>
              <a:t>Sanjay’s App</a:t>
            </a:r>
          </a:p>
          <a:p>
            <a:pPr algn="ctr"/>
            <a:endParaRPr lang="en-IN" sz="2400" dirty="0"/>
          </a:p>
          <a:p>
            <a:pPr algn="ctr"/>
            <a:r>
              <a:rPr lang="en-IN" sz="2400" dirty="0"/>
              <a:t>Project Plan Document</a:t>
            </a:r>
          </a:p>
        </p:txBody>
      </p:sp>
      <p:sp>
        <p:nvSpPr>
          <p:cNvPr id="3" name="TextBox 2">
            <a:extLst>
              <a:ext uri="{FF2B5EF4-FFF2-40B4-BE49-F238E27FC236}">
                <a16:creationId xmlns:a16="http://schemas.microsoft.com/office/drawing/2014/main" id="{D21EF930-9BFE-5EEF-D568-E0D3735E14FC}"/>
              </a:ext>
            </a:extLst>
          </p:cNvPr>
          <p:cNvSpPr txBox="1"/>
          <p:nvPr/>
        </p:nvSpPr>
        <p:spPr>
          <a:xfrm>
            <a:off x="4578926" y="4800599"/>
            <a:ext cx="3034145" cy="923330"/>
          </a:xfrm>
          <a:prstGeom prst="rect">
            <a:avLst/>
          </a:prstGeom>
          <a:noFill/>
        </p:spPr>
        <p:txBody>
          <a:bodyPr wrap="square" rtlCol="0">
            <a:spAutoFit/>
          </a:bodyPr>
          <a:lstStyle/>
          <a:p>
            <a:pPr algn="ctr"/>
            <a:r>
              <a:rPr lang="en-IN" dirty="0"/>
              <a:t>Sanjay Singh</a:t>
            </a:r>
          </a:p>
          <a:p>
            <a:pPr algn="ctr"/>
            <a:r>
              <a:rPr lang="en-IN" dirty="0">
                <a:hlinkClick r:id="rId3"/>
              </a:rPr>
              <a:t>san.singhsanjay@gmail.com</a:t>
            </a:r>
            <a:endParaRPr lang="en-IN" dirty="0"/>
          </a:p>
          <a:p>
            <a:pPr algn="ctr"/>
            <a:r>
              <a:rPr lang="en-IN" dirty="0"/>
              <a:t>+91-7772881269</a:t>
            </a:r>
          </a:p>
        </p:txBody>
      </p:sp>
    </p:spTree>
    <p:extLst>
      <p:ext uri="{BB962C8B-B14F-4D97-AF65-F5344CB8AC3E}">
        <p14:creationId xmlns:p14="http://schemas.microsoft.com/office/powerpoint/2010/main" val="21070214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725E4-79BF-6433-3A5B-CD352C7F5FC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CD46F5-FCAE-7830-39D3-BB6C1F0C6307}"/>
              </a:ext>
            </a:extLst>
          </p:cNvPr>
          <p:cNvSpPr txBox="1"/>
          <p:nvPr/>
        </p:nvSpPr>
        <p:spPr>
          <a:xfrm>
            <a:off x="166255" y="145473"/>
            <a:ext cx="11835245" cy="400110"/>
          </a:xfrm>
          <a:prstGeom prst="rect">
            <a:avLst/>
          </a:prstGeom>
          <a:noFill/>
        </p:spPr>
        <p:txBody>
          <a:bodyPr wrap="square" rtlCol="0">
            <a:spAutoFit/>
          </a:bodyPr>
          <a:lstStyle/>
          <a:p>
            <a:r>
              <a:rPr lang="en-IN" sz="2000" b="1" dirty="0"/>
              <a:t>CI / CD Pipeline: Introduction</a:t>
            </a:r>
          </a:p>
        </p:txBody>
      </p:sp>
      <p:sp>
        <p:nvSpPr>
          <p:cNvPr id="3" name="TextBox 2">
            <a:extLst>
              <a:ext uri="{FF2B5EF4-FFF2-40B4-BE49-F238E27FC236}">
                <a16:creationId xmlns:a16="http://schemas.microsoft.com/office/drawing/2014/main" id="{5F2DD39D-0141-74D4-F250-504BFBF16131}"/>
              </a:ext>
            </a:extLst>
          </p:cNvPr>
          <p:cNvSpPr txBox="1"/>
          <p:nvPr/>
        </p:nvSpPr>
        <p:spPr>
          <a:xfrm>
            <a:off x="4779818" y="1012611"/>
            <a:ext cx="7221682" cy="1323439"/>
          </a:xfrm>
          <a:prstGeom prst="rect">
            <a:avLst/>
          </a:prstGeom>
          <a:noFill/>
        </p:spPr>
        <p:txBody>
          <a:bodyPr wrap="square" rtlCol="0">
            <a:spAutoFit/>
          </a:bodyPr>
          <a:lstStyle/>
          <a:p>
            <a:r>
              <a:rPr lang="en-IN" sz="1600" dirty="0"/>
              <a:t>CI / CD pipeline:</a:t>
            </a:r>
          </a:p>
          <a:p>
            <a:pPr marL="288000" indent="-288000">
              <a:buFont typeface="Courier New" panose="02070309020205020404" pitchFamily="49" charset="0"/>
              <a:buChar char="o"/>
            </a:pPr>
            <a:r>
              <a:rPr lang="en-IN" sz="1600" dirty="0"/>
              <a:t>CI (Continuous Integration): Merges code changes frequently and runs automated tests to catch errors early.</a:t>
            </a:r>
          </a:p>
          <a:p>
            <a:pPr marL="288000" indent="-288000">
              <a:buFont typeface="Courier New" panose="02070309020205020404" pitchFamily="49" charset="0"/>
              <a:buChar char="o"/>
            </a:pPr>
            <a:r>
              <a:rPr lang="en-IN" sz="1600" dirty="0"/>
              <a:t>CD (Continuous Delivery / Deployment): Automatically delivers or deploys the tested code to production (or staging) environment.</a:t>
            </a:r>
          </a:p>
        </p:txBody>
      </p:sp>
      <p:pic>
        <p:nvPicPr>
          <p:cNvPr id="1026" name="Picture 2" descr="Continuous Integration and Delivery (CI/CD) Explained">
            <a:extLst>
              <a:ext uri="{FF2B5EF4-FFF2-40B4-BE49-F238E27FC236}">
                <a16:creationId xmlns:a16="http://schemas.microsoft.com/office/drawing/2014/main" id="{ED1F145E-85B7-F8BD-AA93-D59DD3B3AD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6255" y="545583"/>
            <a:ext cx="4506191" cy="225749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4740F9F-6998-D736-34A2-86F79AAC3EB7}"/>
              </a:ext>
            </a:extLst>
          </p:cNvPr>
          <p:cNvSpPr txBox="1"/>
          <p:nvPr/>
        </p:nvSpPr>
        <p:spPr>
          <a:xfrm>
            <a:off x="166255" y="3083635"/>
            <a:ext cx="11835244" cy="1323439"/>
          </a:xfrm>
          <a:prstGeom prst="rect">
            <a:avLst/>
          </a:prstGeom>
          <a:noFill/>
        </p:spPr>
        <p:txBody>
          <a:bodyPr wrap="square" rtlCol="0">
            <a:spAutoFit/>
          </a:bodyPr>
          <a:lstStyle/>
          <a:p>
            <a:r>
              <a:rPr lang="en-IN" sz="1600" dirty="0"/>
              <a:t>Following are the steps of CI / CD pipeline:</a:t>
            </a:r>
          </a:p>
          <a:p>
            <a:pPr marL="288000" lvl="1" indent="-288000">
              <a:buFont typeface="+mj-lt"/>
              <a:buAutoNum type="arabicPeriod"/>
            </a:pPr>
            <a:r>
              <a:rPr lang="en-IN" sz="1600" dirty="0"/>
              <a:t>Developer writes code</a:t>
            </a:r>
          </a:p>
          <a:p>
            <a:pPr marL="288000" lvl="1" indent="-288000">
              <a:buFont typeface="+mj-lt"/>
              <a:buAutoNum type="arabicPeriod"/>
            </a:pPr>
            <a:r>
              <a:rPr lang="en-IN" sz="1600" dirty="0"/>
              <a:t>CI (Continuous Integration): Automated build + unit tests + integration tests (to check code works with others)</a:t>
            </a:r>
          </a:p>
          <a:p>
            <a:pPr marL="288000" lvl="1" indent="-288000">
              <a:buFont typeface="+mj-lt"/>
              <a:buAutoNum type="arabicPeriod"/>
            </a:pPr>
            <a:r>
              <a:rPr lang="en-IN" sz="1600" dirty="0"/>
              <a:t>Deploy to staging: A pre-production test environment</a:t>
            </a:r>
          </a:p>
          <a:p>
            <a:pPr marL="288000" lvl="1" indent="-288000">
              <a:buFont typeface="+mj-lt"/>
              <a:buAutoNum type="arabicPeriod"/>
            </a:pPr>
            <a:r>
              <a:rPr lang="en-IN" sz="1600" dirty="0"/>
              <a:t>CD (Continuous Delivery / Deployment): Deploy to production for real user</a:t>
            </a:r>
          </a:p>
        </p:txBody>
      </p:sp>
    </p:spTree>
    <p:extLst>
      <p:ext uri="{BB962C8B-B14F-4D97-AF65-F5344CB8AC3E}">
        <p14:creationId xmlns:p14="http://schemas.microsoft.com/office/powerpoint/2010/main" val="4085913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C571D-D10D-D83B-2F7B-E93767058A82}"/>
            </a:ext>
          </a:extLst>
        </p:cNvPr>
        <p:cNvGrpSpPr/>
        <p:nvPr/>
      </p:nvGrpSpPr>
      <p:grpSpPr>
        <a:xfrm>
          <a:off x="0" y="0"/>
          <a:ext cx="0" cy="0"/>
          <a:chOff x="0" y="0"/>
          <a:chExt cx="0" cy="0"/>
        </a:xfrm>
      </p:grpSpPr>
      <p:sp>
        <p:nvSpPr>
          <p:cNvPr id="1064" name="Rectangle 1063">
            <a:extLst>
              <a:ext uri="{FF2B5EF4-FFF2-40B4-BE49-F238E27FC236}">
                <a16:creationId xmlns:a16="http://schemas.microsoft.com/office/drawing/2014/main" id="{14AE416E-A4B1-CF31-CE16-BC3B271BC839}"/>
              </a:ext>
            </a:extLst>
          </p:cNvPr>
          <p:cNvSpPr/>
          <p:nvPr/>
        </p:nvSpPr>
        <p:spPr>
          <a:xfrm>
            <a:off x="9557386" y="521885"/>
            <a:ext cx="2435455" cy="6045184"/>
          </a:xfrm>
          <a:prstGeom prst="rect">
            <a:avLst/>
          </a:prstGeom>
          <a:solidFill>
            <a:schemeClr val="bg1">
              <a:lumMod val="95000"/>
            </a:schemeClr>
          </a:solidFill>
          <a:ln w="222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43" name="TextBox 1042">
            <a:extLst>
              <a:ext uri="{FF2B5EF4-FFF2-40B4-BE49-F238E27FC236}">
                <a16:creationId xmlns:a16="http://schemas.microsoft.com/office/drawing/2014/main" id="{0655093D-FC3C-3468-25C7-5C55F42BEB5A}"/>
              </a:ext>
            </a:extLst>
          </p:cNvPr>
          <p:cNvSpPr txBox="1"/>
          <p:nvPr/>
        </p:nvSpPr>
        <p:spPr>
          <a:xfrm>
            <a:off x="8234419" y="1180233"/>
            <a:ext cx="1358145" cy="738664"/>
          </a:xfrm>
          <a:prstGeom prst="rect">
            <a:avLst/>
          </a:prstGeom>
          <a:noFill/>
        </p:spPr>
        <p:txBody>
          <a:bodyPr wrap="square" rtlCol="0">
            <a:spAutoFit/>
          </a:bodyPr>
          <a:lstStyle/>
          <a:p>
            <a:pPr algn="ctr"/>
            <a:r>
              <a:rPr lang="en-IN" sz="1400" dirty="0"/>
              <a:t>One dev-cycle completes: run shell script</a:t>
            </a:r>
          </a:p>
        </p:txBody>
      </p:sp>
      <p:sp>
        <p:nvSpPr>
          <p:cNvPr id="60" name="Rectangle 59">
            <a:extLst>
              <a:ext uri="{FF2B5EF4-FFF2-40B4-BE49-F238E27FC236}">
                <a16:creationId xmlns:a16="http://schemas.microsoft.com/office/drawing/2014/main" id="{8F263A24-7F88-A53B-CA36-6DB0FD927216}"/>
              </a:ext>
            </a:extLst>
          </p:cNvPr>
          <p:cNvSpPr/>
          <p:nvPr/>
        </p:nvSpPr>
        <p:spPr>
          <a:xfrm>
            <a:off x="1954678" y="519620"/>
            <a:ext cx="6366288" cy="279507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D3933134-7D98-67D5-797B-A16A305C1CF3}"/>
              </a:ext>
            </a:extLst>
          </p:cNvPr>
          <p:cNvSpPr txBox="1"/>
          <p:nvPr/>
        </p:nvSpPr>
        <p:spPr>
          <a:xfrm>
            <a:off x="199159" y="145473"/>
            <a:ext cx="11793682" cy="369332"/>
          </a:xfrm>
          <a:prstGeom prst="rect">
            <a:avLst/>
          </a:prstGeom>
          <a:noFill/>
        </p:spPr>
        <p:txBody>
          <a:bodyPr wrap="square" rtlCol="0">
            <a:spAutoFit/>
          </a:bodyPr>
          <a:lstStyle/>
          <a:p>
            <a:r>
              <a:rPr lang="en-IN" b="1" dirty="0"/>
              <a:t>[1/2] Agile Development &amp; Delivery Pipeline</a:t>
            </a:r>
          </a:p>
        </p:txBody>
      </p:sp>
      <p:grpSp>
        <p:nvGrpSpPr>
          <p:cNvPr id="62" name="Group 61">
            <a:extLst>
              <a:ext uri="{FF2B5EF4-FFF2-40B4-BE49-F238E27FC236}">
                <a16:creationId xmlns:a16="http://schemas.microsoft.com/office/drawing/2014/main" id="{BC382E88-4554-8F3C-3452-C6512F69F8E7}"/>
              </a:ext>
            </a:extLst>
          </p:cNvPr>
          <p:cNvGrpSpPr/>
          <p:nvPr/>
        </p:nvGrpSpPr>
        <p:grpSpPr>
          <a:xfrm>
            <a:off x="2061533" y="897566"/>
            <a:ext cx="6217869" cy="2329043"/>
            <a:chOff x="311726" y="897567"/>
            <a:chExt cx="6217869" cy="2329043"/>
          </a:xfrm>
        </p:grpSpPr>
        <p:sp>
          <p:nvSpPr>
            <p:cNvPr id="12" name="TextBox 11">
              <a:extLst>
                <a:ext uri="{FF2B5EF4-FFF2-40B4-BE49-F238E27FC236}">
                  <a16:creationId xmlns:a16="http://schemas.microsoft.com/office/drawing/2014/main" id="{A687E219-EA9B-318D-DBA4-6F84D6C6DC6D}"/>
                </a:ext>
              </a:extLst>
            </p:cNvPr>
            <p:cNvSpPr txBox="1"/>
            <p:nvPr/>
          </p:nvSpPr>
          <p:spPr>
            <a:xfrm>
              <a:off x="1834651" y="1303437"/>
              <a:ext cx="1301458" cy="523220"/>
            </a:xfrm>
            <a:prstGeom prst="rect">
              <a:avLst/>
            </a:prstGeom>
            <a:noFill/>
          </p:spPr>
          <p:txBody>
            <a:bodyPr wrap="square" rtlCol="0">
              <a:spAutoFit/>
            </a:bodyPr>
            <a:lstStyle/>
            <a:p>
              <a:pPr algn="ctr"/>
              <a:r>
                <a:rPr lang="en-IN" sz="1400" dirty="0"/>
                <a:t>Requirements / Feedback</a:t>
              </a:r>
            </a:p>
          </p:txBody>
        </p:sp>
        <p:sp>
          <p:nvSpPr>
            <p:cNvPr id="42" name="Flowchart: Connector 41">
              <a:extLst>
                <a:ext uri="{FF2B5EF4-FFF2-40B4-BE49-F238E27FC236}">
                  <a16:creationId xmlns:a16="http://schemas.microsoft.com/office/drawing/2014/main" id="{F9428E71-A75A-2963-A954-867EB6EB1A47}"/>
                </a:ext>
              </a:extLst>
            </p:cNvPr>
            <p:cNvSpPr/>
            <p:nvPr/>
          </p:nvSpPr>
          <p:spPr>
            <a:xfrm>
              <a:off x="3428927" y="1175562"/>
              <a:ext cx="1923030" cy="1708494"/>
            </a:xfrm>
            <a:prstGeom prst="flowChartConnector">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55" name="Group 54">
              <a:extLst>
                <a:ext uri="{FF2B5EF4-FFF2-40B4-BE49-F238E27FC236}">
                  <a16:creationId xmlns:a16="http://schemas.microsoft.com/office/drawing/2014/main" id="{82D512E1-3FF4-0665-B13E-62F01234DD7F}"/>
                </a:ext>
              </a:extLst>
            </p:cNvPr>
            <p:cNvGrpSpPr/>
            <p:nvPr/>
          </p:nvGrpSpPr>
          <p:grpSpPr>
            <a:xfrm>
              <a:off x="311726" y="1577209"/>
              <a:ext cx="1388424" cy="1055300"/>
              <a:chOff x="229500" y="1620144"/>
              <a:chExt cx="1388424" cy="1055300"/>
            </a:xfrm>
          </p:grpSpPr>
          <p:pic>
            <p:nvPicPr>
              <p:cNvPr id="1028" name="Picture 4" descr="Cyber Clipart External Conflict - Stakeholder Meeting Icon - (701x350) Png  Clipart Download">
                <a:extLst>
                  <a:ext uri="{FF2B5EF4-FFF2-40B4-BE49-F238E27FC236}">
                    <a16:creationId xmlns:a16="http://schemas.microsoft.com/office/drawing/2014/main" id="{F41896FF-E5E7-A4AC-6D91-7CFA0F4CCDD0}"/>
                  </a:ext>
                </a:extLst>
              </p:cNvPr>
              <p:cNvPicPr>
                <a:picLocks noChangeAspect="1" noChangeArrowheads="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229500" y="1620144"/>
                <a:ext cx="1388424" cy="74752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D93EB00-3115-B7E2-110C-304714CBC43A}"/>
                  </a:ext>
                </a:extLst>
              </p:cNvPr>
              <p:cNvSpPr txBox="1"/>
              <p:nvPr/>
            </p:nvSpPr>
            <p:spPr>
              <a:xfrm>
                <a:off x="269305" y="2367667"/>
                <a:ext cx="1301458" cy="307777"/>
              </a:xfrm>
              <a:prstGeom prst="rect">
                <a:avLst/>
              </a:prstGeom>
              <a:noFill/>
            </p:spPr>
            <p:txBody>
              <a:bodyPr wrap="square" rtlCol="0">
                <a:spAutoFit/>
              </a:bodyPr>
              <a:lstStyle/>
              <a:p>
                <a:pPr algn="ctr"/>
                <a:r>
                  <a:rPr lang="en-IN" sz="1400" dirty="0"/>
                  <a:t>Stakeholders</a:t>
                </a:r>
              </a:p>
            </p:txBody>
          </p:sp>
        </p:grpSp>
        <p:grpSp>
          <p:nvGrpSpPr>
            <p:cNvPr id="5" name="Group 4">
              <a:extLst>
                <a:ext uri="{FF2B5EF4-FFF2-40B4-BE49-F238E27FC236}">
                  <a16:creationId xmlns:a16="http://schemas.microsoft.com/office/drawing/2014/main" id="{2AC299DC-C626-A9AA-37DC-EB7D679772BE}"/>
                </a:ext>
              </a:extLst>
            </p:cNvPr>
            <p:cNvGrpSpPr/>
            <p:nvPr/>
          </p:nvGrpSpPr>
          <p:grpSpPr>
            <a:xfrm>
              <a:off x="3922653" y="1632694"/>
              <a:ext cx="940376" cy="948759"/>
              <a:chOff x="2273013" y="1941822"/>
              <a:chExt cx="940376" cy="948759"/>
            </a:xfrm>
          </p:grpSpPr>
          <p:pic>
            <p:nvPicPr>
              <p:cNvPr id="1026" name="Picture 2" descr="Development - Free networking icons">
                <a:extLst>
                  <a:ext uri="{FF2B5EF4-FFF2-40B4-BE49-F238E27FC236}">
                    <a16:creationId xmlns:a16="http://schemas.microsoft.com/office/drawing/2014/main" id="{BD881489-4B94-0B06-6F38-14B0A525E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0693" y="1941822"/>
                <a:ext cx="665016" cy="66501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F209EA2-B596-A057-A971-3D4673CEC092}"/>
                  </a:ext>
                </a:extLst>
              </p:cNvPr>
              <p:cNvSpPr txBox="1"/>
              <p:nvPr/>
            </p:nvSpPr>
            <p:spPr>
              <a:xfrm>
                <a:off x="2273013" y="2582804"/>
                <a:ext cx="940376" cy="307777"/>
              </a:xfrm>
              <a:prstGeom prst="rect">
                <a:avLst/>
              </a:prstGeom>
              <a:noFill/>
            </p:spPr>
            <p:txBody>
              <a:bodyPr wrap="square" rtlCol="0">
                <a:spAutoFit/>
              </a:bodyPr>
              <a:lstStyle/>
              <a:p>
                <a:pPr algn="ctr"/>
                <a:r>
                  <a:rPr lang="en-IN" sz="1400" dirty="0"/>
                  <a:t>Dev Team</a:t>
                </a:r>
              </a:p>
            </p:txBody>
          </p:sp>
        </p:grpSp>
        <p:cxnSp>
          <p:nvCxnSpPr>
            <p:cNvPr id="9" name="Straight Arrow Connector 8">
              <a:extLst>
                <a:ext uri="{FF2B5EF4-FFF2-40B4-BE49-F238E27FC236}">
                  <a16:creationId xmlns:a16="http://schemas.microsoft.com/office/drawing/2014/main" id="{18646148-A2B9-E75E-22B8-42A0F4528D53}"/>
                </a:ext>
              </a:extLst>
            </p:cNvPr>
            <p:cNvCxnSpPr>
              <a:cxnSpLocks/>
            </p:cNvCxnSpPr>
            <p:nvPr/>
          </p:nvCxnSpPr>
          <p:spPr>
            <a:xfrm>
              <a:off x="1792487" y="1764311"/>
              <a:ext cx="1386232"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4787DBE4-2070-4C79-B18E-F6E7E781F255}"/>
                </a:ext>
              </a:extLst>
            </p:cNvPr>
            <p:cNvSpPr txBox="1"/>
            <p:nvPr/>
          </p:nvSpPr>
          <p:spPr>
            <a:xfrm>
              <a:off x="3140178" y="1122325"/>
              <a:ext cx="782475" cy="307777"/>
            </a:xfrm>
            <a:prstGeom prst="rect">
              <a:avLst/>
            </a:prstGeom>
            <a:noFill/>
          </p:spPr>
          <p:txBody>
            <a:bodyPr wrap="square" rtlCol="0">
              <a:spAutoFit/>
            </a:bodyPr>
            <a:lstStyle/>
            <a:p>
              <a:pPr algn="ctr"/>
              <a:r>
                <a:rPr lang="en-IN" sz="1400" dirty="0"/>
                <a:t>Design</a:t>
              </a:r>
            </a:p>
          </p:txBody>
        </p:sp>
        <p:pic>
          <p:nvPicPr>
            <p:cNvPr id="1034" name="Picture 10" descr="Project - Free art and design icons">
              <a:extLst>
                <a:ext uri="{FF2B5EF4-FFF2-40B4-BE49-F238E27FC236}">
                  <a16:creationId xmlns:a16="http://schemas.microsoft.com/office/drawing/2014/main" id="{674445D4-02A6-77CA-3FAA-F3CFC925551E}"/>
                </a:ext>
              </a:extLst>
            </p:cNvPr>
            <p:cNvPicPr>
              <a:picLocks noChangeAspect="1" noChangeArrowheads="1"/>
            </p:cNvPicPr>
            <p:nvPr/>
          </p:nvPicPr>
          <p:blipFill>
            <a:blip r:embed="rId4">
              <a:alphaModFix/>
              <a:extLst>
                <a:ext uri="{28A0092B-C50C-407E-A947-70E740481C1C}">
                  <a14:useLocalDpi xmlns:a14="http://schemas.microsoft.com/office/drawing/2010/main" val="0"/>
                </a:ext>
              </a:extLst>
            </a:blip>
            <a:srcRect/>
            <a:stretch>
              <a:fillRect/>
            </a:stretch>
          </p:blipFill>
          <p:spPr bwMode="auto">
            <a:xfrm>
              <a:off x="4118785" y="897567"/>
              <a:ext cx="532535" cy="532535"/>
            </a:xfrm>
            <a:prstGeom prst="rect">
              <a:avLst/>
            </a:prstGeom>
            <a:solidFill>
              <a:schemeClr val="bg1">
                <a:lumMod val="95000"/>
              </a:schemeClr>
            </a:solidFill>
          </p:spPr>
        </p:pic>
        <p:sp>
          <p:nvSpPr>
            <p:cNvPr id="43" name="TextBox 42">
              <a:extLst>
                <a:ext uri="{FF2B5EF4-FFF2-40B4-BE49-F238E27FC236}">
                  <a16:creationId xmlns:a16="http://schemas.microsoft.com/office/drawing/2014/main" id="{172B716D-9CC3-2A35-B625-C1A9E41132F5}"/>
                </a:ext>
              </a:extLst>
            </p:cNvPr>
            <p:cNvSpPr txBox="1"/>
            <p:nvPr/>
          </p:nvSpPr>
          <p:spPr>
            <a:xfrm>
              <a:off x="5227265" y="1430101"/>
              <a:ext cx="1302330" cy="1384995"/>
            </a:xfrm>
            <a:prstGeom prst="rect">
              <a:avLst/>
            </a:prstGeom>
            <a:noFill/>
          </p:spPr>
          <p:txBody>
            <a:bodyPr wrap="square" rtlCol="0">
              <a:spAutoFit/>
            </a:bodyPr>
            <a:lstStyle/>
            <a:p>
              <a:pPr algn="ctr"/>
              <a:r>
                <a:rPr lang="en-IN" sz="1400" dirty="0"/>
                <a:t>Development / Unit Testing</a:t>
              </a:r>
            </a:p>
            <a:p>
              <a:pPr algn="ctr"/>
              <a:r>
                <a:rPr lang="en-IN" sz="1400" dirty="0"/>
                <a:t>+</a:t>
              </a:r>
            </a:p>
            <a:p>
              <a:pPr algn="ctr"/>
              <a:r>
                <a:rPr lang="en-IN" sz="1400" dirty="0"/>
                <a:t>SonarQube for IDE: Code Quality Check</a:t>
              </a:r>
            </a:p>
          </p:txBody>
        </p:sp>
        <p:pic>
          <p:nvPicPr>
            <p:cNvPr id="1040" name="Picture 16" descr="Web development - Free seo and web icons">
              <a:extLst>
                <a:ext uri="{FF2B5EF4-FFF2-40B4-BE49-F238E27FC236}">
                  <a16:creationId xmlns:a16="http://schemas.microsoft.com/office/drawing/2014/main" id="{E5236C60-5E69-FA00-80D5-25B24655F5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80546" y="2636924"/>
              <a:ext cx="528180" cy="528180"/>
            </a:xfrm>
            <a:prstGeom prst="rect">
              <a:avLst/>
            </a:prstGeom>
            <a:solidFill>
              <a:schemeClr val="bg1">
                <a:lumMod val="95000"/>
              </a:schemeClr>
            </a:solidFill>
          </p:spPr>
        </p:pic>
        <p:sp>
          <p:nvSpPr>
            <p:cNvPr id="48" name="Isosceles Triangle 47">
              <a:extLst>
                <a:ext uri="{FF2B5EF4-FFF2-40B4-BE49-F238E27FC236}">
                  <a16:creationId xmlns:a16="http://schemas.microsoft.com/office/drawing/2014/main" id="{0D5A1207-ED33-E1CD-20B3-ACF70916D49A}"/>
                </a:ext>
              </a:extLst>
            </p:cNvPr>
            <p:cNvSpPr/>
            <p:nvPr/>
          </p:nvSpPr>
          <p:spPr>
            <a:xfrm rot="14964081" flipV="1">
              <a:off x="4007045" y="1179466"/>
              <a:ext cx="85165" cy="118233"/>
            </a:xfrm>
            <a:prstGeom prst="triangl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9" name="Isosceles Triangle 48">
              <a:extLst>
                <a:ext uri="{FF2B5EF4-FFF2-40B4-BE49-F238E27FC236}">
                  <a16:creationId xmlns:a16="http://schemas.microsoft.com/office/drawing/2014/main" id="{D8AF735A-88A0-63E3-624F-738C7724C2C8}"/>
                </a:ext>
              </a:extLst>
            </p:cNvPr>
            <p:cNvSpPr/>
            <p:nvPr/>
          </p:nvSpPr>
          <p:spPr>
            <a:xfrm rot="4277624" flipV="1">
              <a:off x="4739572" y="2753805"/>
              <a:ext cx="93682" cy="130056"/>
            </a:xfrm>
            <a:prstGeom prst="triangl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2" name="TextBox 51">
              <a:extLst>
                <a:ext uri="{FF2B5EF4-FFF2-40B4-BE49-F238E27FC236}">
                  <a16:creationId xmlns:a16="http://schemas.microsoft.com/office/drawing/2014/main" id="{D944C6C8-667E-7E54-E6C3-5A33B93ACE5E}"/>
                </a:ext>
              </a:extLst>
            </p:cNvPr>
            <p:cNvSpPr txBox="1"/>
            <p:nvPr/>
          </p:nvSpPr>
          <p:spPr>
            <a:xfrm>
              <a:off x="3178719" y="2703390"/>
              <a:ext cx="878619" cy="523220"/>
            </a:xfrm>
            <a:prstGeom prst="rect">
              <a:avLst/>
            </a:prstGeom>
            <a:noFill/>
          </p:spPr>
          <p:txBody>
            <a:bodyPr wrap="square" rtlCol="0">
              <a:spAutoFit/>
            </a:bodyPr>
            <a:lstStyle/>
            <a:p>
              <a:pPr algn="ctr"/>
              <a:r>
                <a:rPr lang="en-IN" sz="1400" dirty="0"/>
                <a:t>Deploy UAT App</a:t>
              </a:r>
            </a:p>
          </p:txBody>
        </p:sp>
        <p:pic>
          <p:nvPicPr>
            <p:cNvPr id="1046" name="Picture 22" descr="Download Document Icon Graphic | Wallpapers.com">
              <a:extLst>
                <a:ext uri="{FF2B5EF4-FFF2-40B4-BE49-F238E27FC236}">
                  <a16:creationId xmlns:a16="http://schemas.microsoft.com/office/drawing/2014/main" id="{7A609CDC-8872-FCB7-90DD-6F12B51D798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09766" y="1549566"/>
              <a:ext cx="438509" cy="438306"/>
            </a:xfrm>
            <a:prstGeom prst="rect">
              <a:avLst/>
            </a:prstGeom>
            <a:noFill/>
            <a:extLst>
              <a:ext uri="{909E8E84-426E-40DD-AFC4-6F175D3DCCD1}">
                <a14:hiddenFill xmlns:a14="http://schemas.microsoft.com/office/drawing/2010/main">
                  <a:solidFill>
                    <a:srgbClr val="FFFFFF"/>
                  </a:solidFill>
                </a14:hiddenFill>
              </a:ext>
            </a:extLst>
          </p:spPr>
        </p:pic>
        <p:sp>
          <p:nvSpPr>
            <p:cNvPr id="54" name="Isosceles Triangle 53">
              <a:extLst>
                <a:ext uri="{FF2B5EF4-FFF2-40B4-BE49-F238E27FC236}">
                  <a16:creationId xmlns:a16="http://schemas.microsoft.com/office/drawing/2014/main" id="{553955B3-61FB-A84A-E4B3-F5C344F22390}"/>
                </a:ext>
              </a:extLst>
            </p:cNvPr>
            <p:cNvSpPr/>
            <p:nvPr/>
          </p:nvSpPr>
          <p:spPr>
            <a:xfrm rot="7799865" flipV="1">
              <a:off x="3681551" y="2579459"/>
              <a:ext cx="93682" cy="130056"/>
            </a:xfrm>
            <a:prstGeom prst="triangl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8" name="Picture 24" descr="Download Free Web icon application Icons in PNG &amp; SVG">
              <a:extLst>
                <a:ext uri="{FF2B5EF4-FFF2-40B4-BE49-F238E27FC236}">
                  <a16:creationId xmlns:a16="http://schemas.microsoft.com/office/drawing/2014/main" id="{B8229DE3-85FA-8730-A3F5-409413C72E3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51122" y="1988513"/>
              <a:ext cx="594651" cy="594651"/>
            </a:xfrm>
            <a:prstGeom prst="rect">
              <a:avLst/>
            </a:prstGeom>
            <a:solidFill>
              <a:schemeClr val="bg1">
                <a:lumMod val="95000"/>
              </a:schemeClr>
            </a:solidFill>
          </p:spPr>
        </p:pic>
        <p:cxnSp>
          <p:nvCxnSpPr>
            <p:cNvPr id="58" name="Straight Arrow Connector 57">
              <a:extLst>
                <a:ext uri="{FF2B5EF4-FFF2-40B4-BE49-F238E27FC236}">
                  <a16:creationId xmlns:a16="http://schemas.microsoft.com/office/drawing/2014/main" id="{49C1105B-F656-C9B7-EE72-4DF856C96529}"/>
                </a:ext>
              </a:extLst>
            </p:cNvPr>
            <p:cNvCxnSpPr>
              <a:cxnSpLocks/>
            </p:cNvCxnSpPr>
            <p:nvPr/>
          </p:nvCxnSpPr>
          <p:spPr>
            <a:xfrm flipH="1">
              <a:off x="1764890" y="2285838"/>
              <a:ext cx="1386232"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a:extLst>
                <a:ext uri="{FF2B5EF4-FFF2-40B4-BE49-F238E27FC236}">
                  <a16:creationId xmlns:a16="http://schemas.microsoft.com/office/drawing/2014/main" id="{DCBADAF4-5662-47E5-58A2-7D519E5D02E1}"/>
                </a:ext>
              </a:extLst>
            </p:cNvPr>
            <p:cNvSpPr txBox="1"/>
            <p:nvPr/>
          </p:nvSpPr>
          <p:spPr>
            <a:xfrm>
              <a:off x="1886823" y="2250524"/>
              <a:ext cx="1143003" cy="523220"/>
            </a:xfrm>
            <a:prstGeom prst="rect">
              <a:avLst/>
            </a:prstGeom>
            <a:noFill/>
          </p:spPr>
          <p:txBody>
            <a:bodyPr wrap="square" rtlCol="0">
              <a:spAutoFit/>
            </a:bodyPr>
            <a:lstStyle/>
            <a:p>
              <a:pPr algn="ctr"/>
              <a:r>
                <a:rPr lang="en-IN" sz="1400" dirty="0"/>
                <a:t>Accessing UAT APP</a:t>
              </a:r>
            </a:p>
          </p:txBody>
        </p:sp>
      </p:grpSp>
      <p:sp>
        <p:nvSpPr>
          <p:cNvPr id="1025" name="TextBox 1024">
            <a:extLst>
              <a:ext uri="{FF2B5EF4-FFF2-40B4-BE49-F238E27FC236}">
                <a16:creationId xmlns:a16="http://schemas.microsoft.com/office/drawing/2014/main" id="{4F782ECD-C16A-2869-C052-023035EE84F6}"/>
              </a:ext>
            </a:extLst>
          </p:cNvPr>
          <p:cNvSpPr txBox="1"/>
          <p:nvPr/>
        </p:nvSpPr>
        <p:spPr>
          <a:xfrm>
            <a:off x="3771233" y="521885"/>
            <a:ext cx="2046223" cy="338554"/>
          </a:xfrm>
          <a:prstGeom prst="rect">
            <a:avLst/>
          </a:prstGeom>
          <a:noFill/>
        </p:spPr>
        <p:txBody>
          <a:bodyPr wrap="square" rtlCol="0">
            <a:spAutoFit/>
          </a:bodyPr>
          <a:lstStyle/>
          <a:p>
            <a:pPr algn="ctr"/>
            <a:r>
              <a:rPr lang="en-IN" sz="1600" dirty="0"/>
              <a:t>Development Cycle</a:t>
            </a:r>
          </a:p>
        </p:txBody>
      </p:sp>
      <p:cxnSp>
        <p:nvCxnSpPr>
          <p:cNvPr id="1039" name="Straight Arrow Connector 1038">
            <a:extLst>
              <a:ext uri="{FF2B5EF4-FFF2-40B4-BE49-F238E27FC236}">
                <a16:creationId xmlns:a16="http://schemas.microsoft.com/office/drawing/2014/main" id="{FD1F56B5-D35B-372D-3FC8-CBED978E5FF5}"/>
              </a:ext>
            </a:extLst>
          </p:cNvPr>
          <p:cNvCxnSpPr>
            <a:cxnSpLocks/>
            <a:endCxn id="1056" idx="1"/>
          </p:cNvCxnSpPr>
          <p:nvPr/>
        </p:nvCxnSpPr>
        <p:spPr>
          <a:xfrm>
            <a:off x="8313164" y="1917159"/>
            <a:ext cx="1261116" cy="88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056" name="Picture 32" descr="Command-Line Icons - Free SVG &amp; PNG Command-Line Images - Noun Project">
            <a:extLst>
              <a:ext uri="{FF2B5EF4-FFF2-40B4-BE49-F238E27FC236}">
                <a16:creationId xmlns:a16="http://schemas.microsoft.com/office/drawing/2014/main" id="{5F4B34EE-1EDA-7301-D03D-67868B2FA9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574280" y="1686590"/>
            <a:ext cx="462913" cy="462913"/>
          </a:xfrm>
          <a:prstGeom prst="rect">
            <a:avLst/>
          </a:prstGeom>
          <a:noFill/>
          <a:extLst>
            <a:ext uri="{909E8E84-426E-40DD-AFC4-6F175D3DCCD1}">
              <a14:hiddenFill xmlns:a14="http://schemas.microsoft.com/office/drawing/2010/main">
                <a:solidFill>
                  <a:srgbClr val="FFFFFF"/>
                </a:solidFill>
              </a14:hiddenFill>
            </a:ext>
          </a:extLst>
        </p:spPr>
      </p:pic>
      <p:sp>
        <p:nvSpPr>
          <p:cNvPr id="1049" name="TextBox 1048">
            <a:extLst>
              <a:ext uri="{FF2B5EF4-FFF2-40B4-BE49-F238E27FC236}">
                <a16:creationId xmlns:a16="http://schemas.microsoft.com/office/drawing/2014/main" id="{8010EA1C-FA02-5845-4C7D-C1196D85E17E}"/>
              </a:ext>
            </a:extLst>
          </p:cNvPr>
          <p:cNvSpPr txBox="1"/>
          <p:nvPr/>
        </p:nvSpPr>
        <p:spPr>
          <a:xfrm>
            <a:off x="9480267" y="2043933"/>
            <a:ext cx="650938" cy="523220"/>
          </a:xfrm>
          <a:prstGeom prst="rect">
            <a:avLst/>
          </a:prstGeom>
          <a:noFill/>
        </p:spPr>
        <p:txBody>
          <a:bodyPr wrap="square" rtlCol="0">
            <a:spAutoFit/>
          </a:bodyPr>
          <a:lstStyle/>
          <a:p>
            <a:pPr algn="ctr"/>
            <a:r>
              <a:rPr lang="en-IN" sz="1400" dirty="0"/>
              <a:t>Shell Script</a:t>
            </a:r>
          </a:p>
        </p:txBody>
      </p:sp>
      <p:cxnSp>
        <p:nvCxnSpPr>
          <p:cNvPr id="1053" name="Connector: Elbow 1052">
            <a:extLst>
              <a:ext uri="{FF2B5EF4-FFF2-40B4-BE49-F238E27FC236}">
                <a16:creationId xmlns:a16="http://schemas.microsoft.com/office/drawing/2014/main" id="{EB88B6A2-4906-9BE7-F18C-D90220531AD3}"/>
              </a:ext>
            </a:extLst>
          </p:cNvPr>
          <p:cNvCxnSpPr>
            <a:cxnSpLocks/>
            <a:stCxn id="1056" idx="3"/>
            <a:endCxn id="1068" idx="1"/>
          </p:cNvCxnSpPr>
          <p:nvPr/>
        </p:nvCxnSpPr>
        <p:spPr>
          <a:xfrm flipV="1">
            <a:off x="10037193" y="1185334"/>
            <a:ext cx="1174682" cy="732713"/>
          </a:xfrm>
          <a:prstGeom prst="bentConnector3">
            <a:avLst>
              <a:gd name="adj1" fmla="val 9310"/>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59" name="Straight Arrow Connector 1058">
            <a:extLst>
              <a:ext uri="{FF2B5EF4-FFF2-40B4-BE49-F238E27FC236}">
                <a16:creationId xmlns:a16="http://schemas.microsoft.com/office/drawing/2014/main" id="{CEB58E5B-6E6A-6831-EC02-8322C47EEFC3}"/>
              </a:ext>
            </a:extLst>
          </p:cNvPr>
          <p:cNvCxnSpPr>
            <a:cxnSpLocks/>
          </p:cNvCxnSpPr>
          <p:nvPr/>
        </p:nvCxnSpPr>
        <p:spPr>
          <a:xfrm flipV="1">
            <a:off x="10145662" y="1907760"/>
            <a:ext cx="1061231" cy="7101"/>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068" name="Picture 38" descr="Amazon S3 Icon #270448 - Free Icons Library">
            <a:extLst>
              <a:ext uri="{FF2B5EF4-FFF2-40B4-BE49-F238E27FC236}">
                <a16:creationId xmlns:a16="http://schemas.microsoft.com/office/drawing/2014/main" id="{F4F31B87-F76D-1E13-9A42-4E8FF681A88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11875" y="897566"/>
            <a:ext cx="575536" cy="575536"/>
          </a:xfrm>
          <a:prstGeom prst="rect">
            <a:avLst/>
          </a:prstGeom>
          <a:noFill/>
          <a:extLst>
            <a:ext uri="{909E8E84-426E-40DD-AFC4-6F175D3DCCD1}">
              <a14:hiddenFill xmlns:a14="http://schemas.microsoft.com/office/drawing/2010/main">
                <a:solidFill>
                  <a:srgbClr val="FFFFFF"/>
                </a:solidFill>
              </a14:hiddenFill>
            </a:ext>
          </a:extLst>
        </p:spPr>
      </p:pic>
      <p:sp>
        <p:nvSpPr>
          <p:cNvPr id="1071" name="TextBox 1070">
            <a:extLst>
              <a:ext uri="{FF2B5EF4-FFF2-40B4-BE49-F238E27FC236}">
                <a16:creationId xmlns:a16="http://schemas.microsoft.com/office/drawing/2014/main" id="{AAA0358D-C0EA-580F-C9F2-F9773F474E93}"/>
              </a:ext>
            </a:extLst>
          </p:cNvPr>
          <p:cNvSpPr txBox="1"/>
          <p:nvPr/>
        </p:nvSpPr>
        <p:spPr>
          <a:xfrm>
            <a:off x="9901236" y="515471"/>
            <a:ext cx="1649720" cy="338554"/>
          </a:xfrm>
          <a:prstGeom prst="rect">
            <a:avLst/>
          </a:prstGeom>
          <a:noFill/>
        </p:spPr>
        <p:txBody>
          <a:bodyPr wrap="square" rtlCol="0">
            <a:spAutoFit/>
          </a:bodyPr>
          <a:lstStyle/>
          <a:p>
            <a:pPr algn="ctr"/>
            <a:r>
              <a:rPr lang="en-IN" sz="1600" dirty="0"/>
              <a:t>CI / CD Pipeline</a:t>
            </a:r>
          </a:p>
        </p:txBody>
      </p:sp>
      <p:sp>
        <p:nvSpPr>
          <p:cNvPr id="1075" name="TextBox 1074">
            <a:extLst>
              <a:ext uri="{FF2B5EF4-FFF2-40B4-BE49-F238E27FC236}">
                <a16:creationId xmlns:a16="http://schemas.microsoft.com/office/drawing/2014/main" id="{16076CE6-DB08-189D-B6F5-B42A13317674}"/>
              </a:ext>
            </a:extLst>
          </p:cNvPr>
          <p:cNvSpPr txBox="1"/>
          <p:nvPr/>
        </p:nvSpPr>
        <p:spPr>
          <a:xfrm>
            <a:off x="11254029" y="1075817"/>
            <a:ext cx="491228" cy="307777"/>
          </a:xfrm>
          <a:prstGeom prst="rect">
            <a:avLst/>
          </a:prstGeom>
          <a:noFill/>
        </p:spPr>
        <p:txBody>
          <a:bodyPr wrap="square" rtlCol="0">
            <a:spAutoFit/>
          </a:bodyPr>
          <a:lstStyle/>
          <a:p>
            <a:pPr algn="ctr"/>
            <a:r>
              <a:rPr lang="en-IN" sz="1400" dirty="0">
                <a:solidFill>
                  <a:schemeClr val="bg1"/>
                </a:solidFill>
              </a:rPr>
              <a:t>S3</a:t>
            </a:r>
          </a:p>
        </p:txBody>
      </p:sp>
      <p:sp>
        <p:nvSpPr>
          <p:cNvPr id="1081" name="TextBox 1080">
            <a:extLst>
              <a:ext uri="{FF2B5EF4-FFF2-40B4-BE49-F238E27FC236}">
                <a16:creationId xmlns:a16="http://schemas.microsoft.com/office/drawing/2014/main" id="{A87DC2BA-D8BC-3B74-DBAD-7E39545AD8AD}"/>
              </a:ext>
            </a:extLst>
          </p:cNvPr>
          <p:cNvSpPr txBox="1"/>
          <p:nvPr/>
        </p:nvSpPr>
        <p:spPr>
          <a:xfrm>
            <a:off x="10138636" y="728815"/>
            <a:ext cx="1046908" cy="523220"/>
          </a:xfrm>
          <a:prstGeom prst="rect">
            <a:avLst/>
          </a:prstGeom>
          <a:noFill/>
        </p:spPr>
        <p:txBody>
          <a:bodyPr wrap="square" rtlCol="0">
            <a:spAutoFit/>
          </a:bodyPr>
          <a:lstStyle/>
          <a:p>
            <a:pPr algn="ctr"/>
            <a:r>
              <a:rPr lang="en-IN" sz="1400" dirty="0"/>
              <a:t>Upload data &amp; .env</a:t>
            </a:r>
          </a:p>
        </p:txBody>
      </p:sp>
      <p:pic>
        <p:nvPicPr>
          <p:cNvPr id="1083" name="Graphic 1082" descr="Document with solid fill">
            <a:extLst>
              <a:ext uri="{FF2B5EF4-FFF2-40B4-BE49-F238E27FC236}">
                <a16:creationId xmlns:a16="http://schemas.microsoft.com/office/drawing/2014/main" id="{D7224948-3219-A1E7-49EB-4892EA74C57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217985" y="1618820"/>
            <a:ext cx="575536" cy="575536"/>
          </a:xfrm>
          <a:prstGeom prst="rect">
            <a:avLst/>
          </a:prstGeom>
        </p:spPr>
      </p:pic>
      <p:sp>
        <p:nvSpPr>
          <p:cNvPr id="1084" name="TextBox 1083">
            <a:extLst>
              <a:ext uri="{FF2B5EF4-FFF2-40B4-BE49-F238E27FC236}">
                <a16:creationId xmlns:a16="http://schemas.microsoft.com/office/drawing/2014/main" id="{A35903EB-1F58-10AD-7966-9E9D1A278FEE}"/>
              </a:ext>
            </a:extLst>
          </p:cNvPr>
          <p:cNvSpPr txBox="1"/>
          <p:nvPr/>
        </p:nvSpPr>
        <p:spPr>
          <a:xfrm>
            <a:off x="10010062" y="1436988"/>
            <a:ext cx="1232971" cy="523220"/>
          </a:xfrm>
          <a:prstGeom prst="rect">
            <a:avLst/>
          </a:prstGeom>
          <a:noFill/>
        </p:spPr>
        <p:txBody>
          <a:bodyPr wrap="square" rtlCol="0">
            <a:spAutoFit/>
          </a:bodyPr>
          <a:lstStyle/>
          <a:p>
            <a:pPr algn="ctr"/>
            <a:r>
              <a:rPr lang="en-IN" sz="1400" dirty="0"/>
              <a:t>Update req.txt</a:t>
            </a:r>
          </a:p>
        </p:txBody>
      </p:sp>
      <p:pic>
        <p:nvPicPr>
          <p:cNvPr id="1085" name="Picture 44" descr="Github Logo - Free social media icons">
            <a:extLst>
              <a:ext uri="{FF2B5EF4-FFF2-40B4-BE49-F238E27FC236}">
                <a16:creationId xmlns:a16="http://schemas.microsoft.com/office/drawing/2014/main" id="{FA62EA15-9442-7958-BEC0-01BFB89896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206893" y="2249356"/>
            <a:ext cx="553802" cy="553802"/>
          </a:xfrm>
          <a:prstGeom prst="rect">
            <a:avLst/>
          </a:prstGeom>
          <a:noFill/>
          <a:extLst>
            <a:ext uri="{909E8E84-426E-40DD-AFC4-6F175D3DCCD1}">
              <a14:hiddenFill xmlns:a14="http://schemas.microsoft.com/office/drawing/2010/main">
                <a:solidFill>
                  <a:srgbClr val="FFFFFF"/>
                </a:solidFill>
              </a14:hiddenFill>
            </a:ext>
          </a:extLst>
        </p:spPr>
      </p:pic>
      <p:cxnSp>
        <p:nvCxnSpPr>
          <p:cNvPr id="1087" name="Connector: Elbow 1086">
            <a:extLst>
              <a:ext uri="{FF2B5EF4-FFF2-40B4-BE49-F238E27FC236}">
                <a16:creationId xmlns:a16="http://schemas.microsoft.com/office/drawing/2014/main" id="{1608670D-D5FD-3EBA-1149-9ECE368675EC}"/>
              </a:ext>
            </a:extLst>
          </p:cNvPr>
          <p:cNvCxnSpPr/>
          <p:nvPr/>
        </p:nvCxnSpPr>
        <p:spPr>
          <a:xfrm>
            <a:off x="10145662" y="1914861"/>
            <a:ext cx="1039882" cy="651944"/>
          </a:xfrm>
          <a:prstGeom prst="bentConnector3">
            <a:avLst>
              <a:gd name="adj1" fmla="val 1037"/>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89" name="TextBox 1088">
            <a:extLst>
              <a:ext uri="{FF2B5EF4-FFF2-40B4-BE49-F238E27FC236}">
                <a16:creationId xmlns:a16="http://schemas.microsoft.com/office/drawing/2014/main" id="{C92ABF34-A816-5028-13F1-5685505213D4}"/>
              </a:ext>
            </a:extLst>
          </p:cNvPr>
          <p:cNvSpPr txBox="1"/>
          <p:nvPr/>
        </p:nvSpPr>
        <p:spPr>
          <a:xfrm>
            <a:off x="11044154" y="2757616"/>
            <a:ext cx="879280" cy="738664"/>
          </a:xfrm>
          <a:prstGeom prst="rect">
            <a:avLst/>
          </a:prstGeom>
          <a:noFill/>
        </p:spPr>
        <p:txBody>
          <a:bodyPr wrap="square" rtlCol="0">
            <a:spAutoFit/>
          </a:bodyPr>
          <a:lstStyle/>
          <a:p>
            <a:pPr algn="ctr"/>
            <a:r>
              <a:rPr lang="en-IN" sz="1400" dirty="0"/>
              <a:t>GitHub</a:t>
            </a:r>
          </a:p>
          <a:p>
            <a:pPr algn="ctr"/>
            <a:r>
              <a:rPr lang="en-IN" sz="1400" dirty="0"/>
              <a:t>+</a:t>
            </a:r>
          </a:p>
          <a:p>
            <a:pPr algn="ctr"/>
            <a:r>
              <a:rPr lang="en-IN" sz="1400" dirty="0"/>
              <a:t>Security</a:t>
            </a:r>
          </a:p>
        </p:txBody>
      </p:sp>
      <p:sp>
        <p:nvSpPr>
          <p:cNvPr id="1090" name="TextBox 1089">
            <a:extLst>
              <a:ext uri="{FF2B5EF4-FFF2-40B4-BE49-F238E27FC236}">
                <a16:creationId xmlns:a16="http://schemas.microsoft.com/office/drawing/2014/main" id="{4EDD7AFD-1853-BCB4-6D5A-A02E1F0E8A8F}"/>
              </a:ext>
            </a:extLst>
          </p:cNvPr>
          <p:cNvSpPr txBox="1"/>
          <p:nvPr/>
        </p:nvSpPr>
        <p:spPr>
          <a:xfrm>
            <a:off x="10090588" y="2084085"/>
            <a:ext cx="1143003" cy="523220"/>
          </a:xfrm>
          <a:prstGeom prst="rect">
            <a:avLst/>
          </a:prstGeom>
          <a:noFill/>
        </p:spPr>
        <p:txBody>
          <a:bodyPr wrap="square" rtlCol="0">
            <a:spAutoFit/>
          </a:bodyPr>
          <a:lstStyle/>
          <a:p>
            <a:pPr algn="ctr"/>
            <a:r>
              <a:rPr lang="en-IN" sz="1400" dirty="0"/>
              <a:t>Push codebase</a:t>
            </a:r>
          </a:p>
        </p:txBody>
      </p:sp>
      <p:sp>
        <p:nvSpPr>
          <p:cNvPr id="1095" name="Left Brace 1094">
            <a:extLst>
              <a:ext uri="{FF2B5EF4-FFF2-40B4-BE49-F238E27FC236}">
                <a16:creationId xmlns:a16="http://schemas.microsoft.com/office/drawing/2014/main" id="{524EC7E3-0255-54BE-A66C-8AD86B8FF58A}"/>
              </a:ext>
            </a:extLst>
          </p:cNvPr>
          <p:cNvSpPr/>
          <p:nvPr/>
        </p:nvSpPr>
        <p:spPr>
          <a:xfrm>
            <a:off x="11012981" y="2815095"/>
            <a:ext cx="173831" cy="657127"/>
          </a:xfrm>
          <a:prstGeom prst="leftBrace">
            <a:avLst/>
          </a:prstGeom>
          <a:ln w="28575">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pic>
        <p:nvPicPr>
          <p:cNvPr id="1096" name="Picture 48" descr="AWS Diagram Icons Explained: The AWS Compute Set | Gliffy">
            <a:extLst>
              <a:ext uri="{FF2B5EF4-FFF2-40B4-BE49-F238E27FC236}">
                <a16:creationId xmlns:a16="http://schemas.microsoft.com/office/drawing/2014/main" id="{A641FA1D-F494-CDC6-99B0-A577D7B9FA8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9685677" y="3946064"/>
            <a:ext cx="1981200" cy="1981200"/>
          </a:xfrm>
          <a:prstGeom prst="rect">
            <a:avLst/>
          </a:prstGeom>
          <a:noFill/>
          <a:extLst>
            <a:ext uri="{909E8E84-426E-40DD-AFC4-6F175D3DCCD1}">
              <a14:hiddenFill xmlns:a14="http://schemas.microsoft.com/office/drawing/2010/main">
                <a:solidFill>
                  <a:srgbClr val="FFFFFF"/>
                </a:solidFill>
              </a14:hiddenFill>
            </a:ext>
          </a:extLst>
        </p:spPr>
      </p:pic>
      <p:cxnSp>
        <p:nvCxnSpPr>
          <p:cNvPr id="1098" name="Connector: Elbow 1097">
            <a:extLst>
              <a:ext uri="{FF2B5EF4-FFF2-40B4-BE49-F238E27FC236}">
                <a16:creationId xmlns:a16="http://schemas.microsoft.com/office/drawing/2014/main" id="{0593CF4D-F0F1-DD6B-A28F-AC0B605AEA9B}"/>
              </a:ext>
            </a:extLst>
          </p:cNvPr>
          <p:cNvCxnSpPr>
            <a:cxnSpLocks/>
            <a:stCxn id="1095" idx="1"/>
          </p:cNvCxnSpPr>
          <p:nvPr/>
        </p:nvCxnSpPr>
        <p:spPr>
          <a:xfrm rot="10800000" flipV="1">
            <a:off x="10006325" y="3143658"/>
            <a:ext cx="1006656" cy="802399"/>
          </a:xfrm>
          <a:prstGeom prst="bentConnector3">
            <a:avLst>
              <a:gd name="adj1" fmla="val 100579"/>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03" name="TextBox 1102">
            <a:extLst>
              <a:ext uri="{FF2B5EF4-FFF2-40B4-BE49-F238E27FC236}">
                <a16:creationId xmlns:a16="http://schemas.microsoft.com/office/drawing/2014/main" id="{CBDCF5C6-DC5D-5B7C-3610-AB339302E7A4}"/>
              </a:ext>
            </a:extLst>
          </p:cNvPr>
          <p:cNvSpPr txBox="1"/>
          <p:nvPr/>
        </p:nvSpPr>
        <p:spPr>
          <a:xfrm>
            <a:off x="10046592" y="2696082"/>
            <a:ext cx="919436" cy="523220"/>
          </a:xfrm>
          <a:prstGeom prst="rect">
            <a:avLst/>
          </a:prstGeom>
          <a:noFill/>
        </p:spPr>
        <p:txBody>
          <a:bodyPr wrap="square" rtlCol="0">
            <a:spAutoFit/>
          </a:bodyPr>
          <a:lstStyle/>
          <a:p>
            <a:pPr algn="ctr"/>
            <a:r>
              <a:rPr lang="en-IN" sz="1400" dirty="0"/>
              <a:t>GitHub Webhook</a:t>
            </a:r>
          </a:p>
        </p:txBody>
      </p:sp>
      <p:cxnSp>
        <p:nvCxnSpPr>
          <p:cNvPr id="1104" name="Straight Arrow Connector 1103">
            <a:extLst>
              <a:ext uri="{FF2B5EF4-FFF2-40B4-BE49-F238E27FC236}">
                <a16:creationId xmlns:a16="http://schemas.microsoft.com/office/drawing/2014/main" id="{477492B0-2658-F070-1797-9CC59D0946BC}"/>
              </a:ext>
            </a:extLst>
          </p:cNvPr>
          <p:cNvCxnSpPr>
            <a:cxnSpLocks/>
          </p:cNvCxnSpPr>
          <p:nvPr/>
        </p:nvCxnSpPr>
        <p:spPr>
          <a:xfrm flipV="1">
            <a:off x="10506310" y="3177738"/>
            <a:ext cx="0" cy="72322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08" name="TextBox 1107">
            <a:extLst>
              <a:ext uri="{FF2B5EF4-FFF2-40B4-BE49-F238E27FC236}">
                <a16:creationId xmlns:a16="http://schemas.microsoft.com/office/drawing/2014/main" id="{CBE76EC4-6D6E-D62B-6F8D-4CD31768B544}"/>
              </a:ext>
            </a:extLst>
          </p:cNvPr>
          <p:cNvSpPr txBox="1"/>
          <p:nvPr/>
        </p:nvSpPr>
        <p:spPr>
          <a:xfrm>
            <a:off x="10075571" y="3573740"/>
            <a:ext cx="486556" cy="315647"/>
          </a:xfrm>
          <a:prstGeom prst="rect">
            <a:avLst/>
          </a:prstGeom>
          <a:noFill/>
        </p:spPr>
        <p:txBody>
          <a:bodyPr wrap="square" rtlCol="0">
            <a:spAutoFit/>
          </a:bodyPr>
          <a:lstStyle/>
          <a:p>
            <a:pPr algn="ctr"/>
            <a:r>
              <a:rPr lang="en-IN" sz="1400" dirty="0"/>
              <a:t>Pull</a:t>
            </a:r>
          </a:p>
        </p:txBody>
      </p:sp>
      <p:cxnSp>
        <p:nvCxnSpPr>
          <p:cNvPr id="1109" name="Straight Arrow Connector 1108">
            <a:extLst>
              <a:ext uri="{FF2B5EF4-FFF2-40B4-BE49-F238E27FC236}">
                <a16:creationId xmlns:a16="http://schemas.microsoft.com/office/drawing/2014/main" id="{DCB35DC4-0E6E-51DE-2C5E-DFA181E35AFC}"/>
              </a:ext>
            </a:extLst>
          </p:cNvPr>
          <p:cNvCxnSpPr>
            <a:cxnSpLocks/>
          </p:cNvCxnSpPr>
          <p:nvPr/>
        </p:nvCxnSpPr>
        <p:spPr>
          <a:xfrm>
            <a:off x="10949140" y="3188129"/>
            <a:ext cx="0" cy="72322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10" name="TextBox 1109">
            <a:extLst>
              <a:ext uri="{FF2B5EF4-FFF2-40B4-BE49-F238E27FC236}">
                <a16:creationId xmlns:a16="http://schemas.microsoft.com/office/drawing/2014/main" id="{17300388-C383-1E26-26D3-1EC778B1F746}"/>
              </a:ext>
            </a:extLst>
          </p:cNvPr>
          <p:cNvSpPr txBox="1"/>
          <p:nvPr/>
        </p:nvSpPr>
        <p:spPr>
          <a:xfrm>
            <a:off x="10900053" y="3567982"/>
            <a:ext cx="584564" cy="319160"/>
          </a:xfrm>
          <a:prstGeom prst="rect">
            <a:avLst/>
          </a:prstGeom>
          <a:noFill/>
        </p:spPr>
        <p:txBody>
          <a:bodyPr wrap="square" rtlCol="0">
            <a:spAutoFit/>
          </a:bodyPr>
          <a:lstStyle/>
          <a:p>
            <a:pPr algn="ctr"/>
            <a:r>
              <a:rPr lang="en-IN" sz="1400" dirty="0"/>
              <a:t>Repo</a:t>
            </a:r>
          </a:p>
        </p:txBody>
      </p:sp>
      <p:pic>
        <p:nvPicPr>
          <p:cNvPr id="1112" name="Picture 52" descr="Jenkins color icon in PNG, SVG">
            <a:extLst>
              <a:ext uri="{FF2B5EF4-FFF2-40B4-BE49-F238E27FC236}">
                <a16:creationId xmlns:a16="http://schemas.microsoft.com/office/drawing/2014/main" id="{90ABDE6D-2AE4-9014-E26A-BD216082ACD0}"/>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19826" y="4243825"/>
            <a:ext cx="564573" cy="564573"/>
          </a:xfrm>
          <a:prstGeom prst="rect">
            <a:avLst/>
          </a:prstGeom>
          <a:noFill/>
          <a:extLst>
            <a:ext uri="{909E8E84-426E-40DD-AFC4-6F175D3DCCD1}">
              <a14:hiddenFill xmlns:a14="http://schemas.microsoft.com/office/drawing/2010/main">
                <a:solidFill>
                  <a:srgbClr val="FFFFFF"/>
                </a:solidFill>
              </a14:hiddenFill>
            </a:ext>
          </a:extLst>
        </p:spPr>
      </p:pic>
      <p:sp>
        <p:nvSpPr>
          <p:cNvPr id="1113" name="TextBox 1112">
            <a:extLst>
              <a:ext uri="{FF2B5EF4-FFF2-40B4-BE49-F238E27FC236}">
                <a16:creationId xmlns:a16="http://schemas.microsoft.com/office/drawing/2014/main" id="{5BF89E95-9DF3-AEFC-1456-CC50BB58AD18}"/>
              </a:ext>
            </a:extLst>
          </p:cNvPr>
          <p:cNvSpPr txBox="1"/>
          <p:nvPr/>
        </p:nvSpPr>
        <p:spPr>
          <a:xfrm>
            <a:off x="10118729" y="5883787"/>
            <a:ext cx="1214733" cy="523220"/>
          </a:xfrm>
          <a:prstGeom prst="rect">
            <a:avLst/>
          </a:prstGeom>
          <a:noFill/>
        </p:spPr>
        <p:txBody>
          <a:bodyPr wrap="square" rtlCol="0">
            <a:spAutoFit/>
          </a:bodyPr>
          <a:lstStyle/>
          <a:p>
            <a:pPr algn="ctr"/>
            <a:r>
              <a:rPr lang="en-IN" sz="1400" dirty="0"/>
              <a:t>Amazon EC2 Instance</a:t>
            </a:r>
          </a:p>
        </p:txBody>
      </p:sp>
      <p:pic>
        <p:nvPicPr>
          <p:cNvPr id="1114" name="Picture 54" descr="Docker - Free brands and logotypes icons">
            <a:extLst>
              <a:ext uri="{FF2B5EF4-FFF2-40B4-BE49-F238E27FC236}">
                <a16:creationId xmlns:a16="http://schemas.microsoft.com/office/drawing/2014/main" id="{5BB1D0DA-0837-DC0A-2C69-99680FA67A2F}"/>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0885394" y="4325109"/>
            <a:ext cx="429003" cy="429003"/>
          </a:xfrm>
          <a:prstGeom prst="rect">
            <a:avLst/>
          </a:prstGeom>
          <a:noFill/>
          <a:extLst>
            <a:ext uri="{909E8E84-426E-40DD-AFC4-6F175D3DCCD1}">
              <a14:hiddenFill xmlns:a14="http://schemas.microsoft.com/office/drawing/2010/main">
                <a:solidFill>
                  <a:srgbClr val="FFFFFF"/>
                </a:solidFill>
              </a14:hiddenFill>
            </a:ext>
          </a:extLst>
        </p:spPr>
      </p:pic>
      <p:pic>
        <p:nvPicPr>
          <p:cNvPr id="1119" name="Picture 58">
            <a:extLst>
              <a:ext uri="{FF2B5EF4-FFF2-40B4-BE49-F238E27FC236}">
                <a16:creationId xmlns:a16="http://schemas.microsoft.com/office/drawing/2014/main" id="{9ED1AD7E-FE79-13E2-2E93-330CBB3AE024}"/>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895107" y="4841158"/>
            <a:ext cx="409575" cy="409575"/>
          </a:xfrm>
          <a:prstGeom prst="rect">
            <a:avLst/>
          </a:prstGeom>
          <a:noFill/>
          <a:extLst>
            <a:ext uri="{909E8E84-426E-40DD-AFC4-6F175D3DCCD1}">
              <a14:hiddenFill xmlns:a14="http://schemas.microsoft.com/office/drawing/2010/main">
                <a:solidFill>
                  <a:srgbClr val="FFFFFF"/>
                </a:solidFill>
              </a14:hiddenFill>
            </a:ext>
          </a:extLst>
        </p:spPr>
      </p:pic>
      <p:pic>
        <p:nvPicPr>
          <p:cNvPr id="1121" name="Picture 1120" descr="A white lightning bolt in a green circle&#10;&#10;AI-generated content may be incorrect.">
            <a:extLst>
              <a:ext uri="{FF2B5EF4-FFF2-40B4-BE49-F238E27FC236}">
                <a16:creationId xmlns:a16="http://schemas.microsoft.com/office/drawing/2014/main" id="{838B66A3-9934-9830-E121-D817044B319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510583" y="5166852"/>
            <a:ext cx="429003" cy="429003"/>
          </a:xfrm>
          <a:prstGeom prst="rect">
            <a:avLst/>
          </a:prstGeom>
        </p:spPr>
      </p:pic>
      <p:pic>
        <p:nvPicPr>
          <p:cNvPr id="1123" name="Picture 62" descr="Next-dot-js - Free vector icons on creazilla.com">
            <a:extLst>
              <a:ext uri="{FF2B5EF4-FFF2-40B4-BE49-F238E27FC236}">
                <a16:creationId xmlns:a16="http://schemas.microsoft.com/office/drawing/2014/main" id="{0AF2C29C-32F2-9E1B-CD37-F55822201B4B}"/>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10037193" y="4814811"/>
            <a:ext cx="504423" cy="504423"/>
          </a:xfrm>
          <a:prstGeom prst="rect">
            <a:avLst/>
          </a:prstGeom>
          <a:noFill/>
          <a:extLst>
            <a:ext uri="{909E8E84-426E-40DD-AFC4-6F175D3DCCD1}">
              <a14:hiddenFill xmlns:a14="http://schemas.microsoft.com/office/drawing/2010/main">
                <a:solidFill>
                  <a:srgbClr val="FFFFFF"/>
                </a:solidFill>
              </a14:hiddenFill>
            </a:ext>
          </a:extLst>
        </p:spPr>
      </p:pic>
      <p:sp>
        <p:nvSpPr>
          <p:cNvPr id="63" name="Rectangle 62">
            <a:extLst>
              <a:ext uri="{FF2B5EF4-FFF2-40B4-BE49-F238E27FC236}">
                <a16:creationId xmlns:a16="http://schemas.microsoft.com/office/drawing/2014/main" id="{C9045608-95DC-8E93-A5E7-7B1EF7563A46}"/>
              </a:ext>
            </a:extLst>
          </p:cNvPr>
          <p:cNvSpPr/>
          <p:nvPr/>
        </p:nvSpPr>
        <p:spPr>
          <a:xfrm>
            <a:off x="197397" y="548100"/>
            <a:ext cx="1677489" cy="6052264"/>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24" name="TextBox 1023">
            <a:extLst>
              <a:ext uri="{FF2B5EF4-FFF2-40B4-BE49-F238E27FC236}">
                <a16:creationId xmlns:a16="http://schemas.microsoft.com/office/drawing/2014/main" id="{4F86A674-6545-4C6E-2EB1-DB6E6DF02E3A}"/>
              </a:ext>
            </a:extLst>
          </p:cNvPr>
          <p:cNvSpPr txBox="1"/>
          <p:nvPr/>
        </p:nvSpPr>
        <p:spPr>
          <a:xfrm>
            <a:off x="317095" y="514666"/>
            <a:ext cx="1438091" cy="338554"/>
          </a:xfrm>
          <a:prstGeom prst="rect">
            <a:avLst/>
          </a:prstGeom>
          <a:noFill/>
        </p:spPr>
        <p:txBody>
          <a:bodyPr wrap="square" rtlCol="0">
            <a:spAutoFit/>
          </a:bodyPr>
          <a:lstStyle/>
          <a:p>
            <a:pPr algn="ctr"/>
            <a:r>
              <a:rPr lang="en-IN" sz="1600" dirty="0"/>
              <a:t>Flowchart Key</a:t>
            </a:r>
          </a:p>
        </p:txBody>
      </p:sp>
      <p:pic>
        <p:nvPicPr>
          <p:cNvPr id="1027" name="Picture 22" descr="Download Document Icon Graphic | Wallpapers.com">
            <a:extLst>
              <a:ext uri="{FF2B5EF4-FFF2-40B4-BE49-F238E27FC236}">
                <a16:creationId xmlns:a16="http://schemas.microsoft.com/office/drawing/2014/main" id="{332E9DC9-DB4D-577C-F621-5676A5AB029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9355" y="883082"/>
            <a:ext cx="330508" cy="330355"/>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10" descr="Project - Free art and design icons">
            <a:extLst>
              <a:ext uri="{FF2B5EF4-FFF2-40B4-BE49-F238E27FC236}">
                <a16:creationId xmlns:a16="http://schemas.microsoft.com/office/drawing/2014/main" id="{475EC8EB-2484-3640-8C0B-293A4B1D166D}"/>
              </a:ext>
            </a:extLst>
          </p:cNvPr>
          <p:cNvPicPr>
            <a:picLocks noChangeAspect="1" noChangeArrowheads="1"/>
          </p:cNvPicPr>
          <p:nvPr/>
        </p:nvPicPr>
        <p:blipFill>
          <a:blip r:embed="rId4">
            <a:alphaModFix/>
            <a:extLst>
              <a:ext uri="{28A0092B-C50C-407E-A947-70E740481C1C}">
                <a14:useLocalDpi xmlns:a14="http://schemas.microsoft.com/office/drawing/2010/main" val="0"/>
              </a:ext>
            </a:extLst>
          </a:blip>
          <a:srcRect/>
          <a:stretch>
            <a:fillRect/>
          </a:stretch>
        </p:blipFill>
        <p:spPr bwMode="auto">
          <a:xfrm>
            <a:off x="271178" y="1509361"/>
            <a:ext cx="377439" cy="377439"/>
          </a:xfrm>
          <a:prstGeom prst="rect">
            <a:avLst/>
          </a:prstGeom>
          <a:noFill/>
        </p:spPr>
      </p:pic>
      <p:pic>
        <p:nvPicPr>
          <p:cNvPr id="1031" name="Picture 16" descr="Web development - Free seo and web icons">
            <a:extLst>
              <a:ext uri="{FF2B5EF4-FFF2-40B4-BE49-F238E27FC236}">
                <a16:creationId xmlns:a16="http://schemas.microsoft.com/office/drawing/2014/main" id="{401778FB-108E-A832-903E-8DEFF9EB99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9355" y="2139351"/>
            <a:ext cx="374136" cy="374136"/>
          </a:xfrm>
          <a:prstGeom prst="rect">
            <a:avLst/>
          </a:prstGeom>
          <a:noFill/>
        </p:spPr>
      </p:pic>
      <p:pic>
        <p:nvPicPr>
          <p:cNvPr id="1032" name="Picture 24" descr="Download Free Web icon application Icons in PNG &amp; SVG">
            <a:extLst>
              <a:ext uri="{FF2B5EF4-FFF2-40B4-BE49-F238E27FC236}">
                <a16:creationId xmlns:a16="http://schemas.microsoft.com/office/drawing/2014/main" id="{7A9C8652-1634-6D30-7864-8154828B1FD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7761" y="2780870"/>
            <a:ext cx="369332" cy="369332"/>
          </a:xfrm>
          <a:prstGeom prst="rect">
            <a:avLst/>
          </a:prstGeom>
          <a:noFill/>
        </p:spPr>
      </p:pic>
      <p:sp>
        <p:nvSpPr>
          <p:cNvPr id="1033" name="TextBox 1032">
            <a:extLst>
              <a:ext uri="{FF2B5EF4-FFF2-40B4-BE49-F238E27FC236}">
                <a16:creationId xmlns:a16="http://schemas.microsoft.com/office/drawing/2014/main" id="{1CE7AB4D-F7B2-FC77-3E75-9F9834ECE39A}"/>
              </a:ext>
            </a:extLst>
          </p:cNvPr>
          <p:cNvSpPr txBox="1"/>
          <p:nvPr/>
        </p:nvSpPr>
        <p:spPr>
          <a:xfrm>
            <a:off x="547820" y="905609"/>
            <a:ext cx="1402642" cy="276999"/>
          </a:xfrm>
          <a:prstGeom prst="rect">
            <a:avLst/>
          </a:prstGeom>
          <a:noFill/>
        </p:spPr>
        <p:txBody>
          <a:bodyPr wrap="square" rtlCol="0">
            <a:spAutoFit/>
          </a:bodyPr>
          <a:lstStyle/>
          <a:p>
            <a:pPr algn="ctr"/>
            <a:r>
              <a:rPr lang="en-IN" sz="1200" dirty="0"/>
              <a:t>Project Document</a:t>
            </a:r>
          </a:p>
        </p:txBody>
      </p:sp>
      <p:sp>
        <p:nvSpPr>
          <p:cNvPr id="1035" name="TextBox 1034">
            <a:extLst>
              <a:ext uri="{FF2B5EF4-FFF2-40B4-BE49-F238E27FC236}">
                <a16:creationId xmlns:a16="http://schemas.microsoft.com/office/drawing/2014/main" id="{F3F616EC-4CAE-3640-3DE7-B61CE6859D77}"/>
              </a:ext>
            </a:extLst>
          </p:cNvPr>
          <p:cNvSpPr txBox="1"/>
          <p:nvPr/>
        </p:nvSpPr>
        <p:spPr>
          <a:xfrm>
            <a:off x="560949" y="1530189"/>
            <a:ext cx="1402643" cy="276999"/>
          </a:xfrm>
          <a:prstGeom prst="rect">
            <a:avLst/>
          </a:prstGeom>
          <a:noFill/>
        </p:spPr>
        <p:txBody>
          <a:bodyPr wrap="square" rtlCol="0">
            <a:spAutoFit/>
          </a:bodyPr>
          <a:lstStyle/>
          <a:p>
            <a:pPr algn="ctr"/>
            <a:r>
              <a:rPr lang="en-IN" sz="1200" dirty="0"/>
              <a:t>Project Design</a:t>
            </a:r>
          </a:p>
        </p:txBody>
      </p:sp>
      <p:sp>
        <p:nvSpPr>
          <p:cNvPr id="1037" name="TextBox 1036">
            <a:extLst>
              <a:ext uri="{FF2B5EF4-FFF2-40B4-BE49-F238E27FC236}">
                <a16:creationId xmlns:a16="http://schemas.microsoft.com/office/drawing/2014/main" id="{EEB2469C-DF4D-4808-EEF7-34D694234CE1}"/>
              </a:ext>
            </a:extLst>
          </p:cNvPr>
          <p:cNvSpPr txBox="1"/>
          <p:nvPr/>
        </p:nvSpPr>
        <p:spPr>
          <a:xfrm>
            <a:off x="547820" y="2154251"/>
            <a:ext cx="1402643" cy="276999"/>
          </a:xfrm>
          <a:prstGeom prst="rect">
            <a:avLst/>
          </a:prstGeom>
          <a:noFill/>
        </p:spPr>
        <p:txBody>
          <a:bodyPr wrap="square" rtlCol="0">
            <a:spAutoFit/>
          </a:bodyPr>
          <a:lstStyle/>
          <a:p>
            <a:pPr algn="ctr"/>
            <a:r>
              <a:rPr lang="en-IN" sz="1200" dirty="0"/>
              <a:t>App Codebase</a:t>
            </a:r>
          </a:p>
        </p:txBody>
      </p:sp>
      <p:sp>
        <p:nvSpPr>
          <p:cNvPr id="1038" name="TextBox 1037">
            <a:extLst>
              <a:ext uri="{FF2B5EF4-FFF2-40B4-BE49-F238E27FC236}">
                <a16:creationId xmlns:a16="http://schemas.microsoft.com/office/drawing/2014/main" id="{B204A730-FC9F-B782-026C-2FA3F4184FAA}"/>
              </a:ext>
            </a:extLst>
          </p:cNvPr>
          <p:cNvSpPr txBox="1"/>
          <p:nvPr/>
        </p:nvSpPr>
        <p:spPr>
          <a:xfrm>
            <a:off x="518273" y="2734703"/>
            <a:ext cx="1402643" cy="461665"/>
          </a:xfrm>
          <a:prstGeom prst="rect">
            <a:avLst/>
          </a:prstGeom>
          <a:noFill/>
        </p:spPr>
        <p:txBody>
          <a:bodyPr wrap="square" rtlCol="0">
            <a:spAutoFit/>
          </a:bodyPr>
          <a:lstStyle/>
          <a:p>
            <a:pPr algn="ctr"/>
            <a:r>
              <a:rPr lang="en-IN" sz="1200" dirty="0"/>
              <a:t>Gradio / Streamlit App for UAT</a:t>
            </a:r>
          </a:p>
        </p:txBody>
      </p:sp>
      <p:pic>
        <p:nvPicPr>
          <p:cNvPr id="1124" name="Picture 52" descr="Jenkins color icon in PNG, SVG">
            <a:extLst>
              <a:ext uri="{FF2B5EF4-FFF2-40B4-BE49-F238E27FC236}">
                <a16:creationId xmlns:a16="http://schemas.microsoft.com/office/drawing/2014/main" id="{383DF78D-8189-33A1-3A70-55AAC2CDAE1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10114" y="3413227"/>
            <a:ext cx="461665" cy="461665"/>
          </a:xfrm>
          <a:prstGeom prst="rect">
            <a:avLst/>
          </a:prstGeom>
          <a:noFill/>
          <a:extLst>
            <a:ext uri="{909E8E84-426E-40DD-AFC4-6F175D3DCCD1}">
              <a14:hiddenFill xmlns:a14="http://schemas.microsoft.com/office/drawing/2010/main">
                <a:solidFill>
                  <a:srgbClr val="FFFFFF"/>
                </a:solidFill>
              </a14:hiddenFill>
            </a:ext>
          </a:extLst>
        </p:spPr>
      </p:pic>
      <p:pic>
        <p:nvPicPr>
          <p:cNvPr id="1125" name="Picture 54" descr="Docker - Free brands and logotypes icons">
            <a:extLst>
              <a:ext uri="{FF2B5EF4-FFF2-40B4-BE49-F238E27FC236}">
                <a16:creationId xmlns:a16="http://schemas.microsoft.com/office/drawing/2014/main" id="{84591C76-A9DC-4811-13EE-84C00DC44D23}"/>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37970" y="4158246"/>
            <a:ext cx="390244" cy="390244"/>
          </a:xfrm>
          <a:prstGeom prst="rect">
            <a:avLst/>
          </a:prstGeom>
          <a:noFill/>
          <a:extLst>
            <a:ext uri="{909E8E84-426E-40DD-AFC4-6F175D3DCCD1}">
              <a14:hiddenFill xmlns:a14="http://schemas.microsoft.com/office/drawing/2010/main">
                <a:solidFill>
                  <a:srgbClr val="FFFFFF"/>
                </a:solidFill>
              </a14:hiddenFill>
            </a:ext>
          </a:extLst>
        </p:spPr>
      </p:pic>
      <p:pic>
        <p:nvPicPr>
          <p:cNvPr id="1126" name="Picture 62" descr="Next-dot-js - Free vector icons on creazilla.com">
            <a:extLst>
              <a:ext uri="{FF2B5EF4-FFF2-40B4-BE49-F238E27FC236}">
                <a16:creationId xmlns:a16="http://schemas.microsoft.com/office/drawing/2014/main" id="{A32F4AB4-0DA9-D3AE-18E7-1EA7FF9A2439}"/>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257923" y="4817936"/>
            <a:ext cx="350338" cy="350338"/>
          </a:xfrm>
          <a:prstGeom prst="rect">
            <a:avLst/>
          </a:prstGeom>
          <a:noFill/>
          <a:extLst>
            <a:ext uri="{909E8E84-426E-40DD-AFC4-6F175D3DCCD1}">
              <a14:hiddenFill xmlns:a14="http://schemas.microsoft.com/office/drawing/2010/main">
                <a:solidFill>
                  <a:srgbClr val="FFFFFF"/>
                </a:solidFill>
              </a14:hiddenFill>
            </a:ext>
          </a:extLst>
        </p:spPr>
      </p:pic>
      <p:pic>
        <p:nvPicPr>
          <p:cNvPr id="1127" name="Picture 58">
            <a:extLst>
              <a:ext uri="{FF2B5EF4-FFF2-40B4-BE49-F238E27FC236}">
                <a16:creationId xmlns:a16="http://schemas.microsoft.com/office/drawing/2014/main" id="{114EB77D-ED3C-F79D-EAE9-163CD94A6DB2}"/>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272608" y="5468893"/>
            <a:ext cx="320968" cy="320968"/>
          </a:xfrm>
          <a:prstGeom prst="rect">
            <a:avLst/>
          </a:prstGeom>
          <a:noFill/>
          <a:extLst>
            <a:ext uri="{909E8E84-426E-40DD-AFC4-6F175D3DCCD1}">
              <a14:hiddenFill xmlns:a14="http://schemas.microsoft.com/office/drawing/2010/main">
                <a:solidFill>
                  <a:srgbClr val="FFFFFF"/>
                </a:solidFill>
              </a14:hiddenFill>
            </a:ext>
          </a:extLst>
        </p:spPr>
      </p:pic>
      <p:pic>
        <p:nvPicPr>
          <p:cNvPr id="1128" name="Picture 1127" descr="A white lightning bolt in a green circle&#10;&#10;AI-generated content may be incorrect.">
            <a:extLst>
              <a:ext uri="{FF2B5EF4-FFF2-40B4-BE49-F238E27FC236}">
                <a16:creationId xmlns:a16="http://schemas.microsoft.com/office/drawing/2014/main" id="{1458ABEE-15CA-507D-0457-10A1C65A7708}"/>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233306" y="6020929"/>
            <a:ext cx="350675" cy="350675"/>
          </a:xfrm>
          <a:prstGeom prst="rect">
            <a:avLst/>
          </a:prstGeom>
        </p:spPr>
      </p:pic>
      <p:sp>
        <p:nvSpPr>
          <p:cNvPr id="15" name="TextBox 14">
            <a:extLst>
              <a:ext uri="{FF2B5EF4-FFF2-40B4-BE49-F238E27FC236}">
                <a16:creationId xmlns:a16="http://schemas.microsoft.com/office/drawing/2014/main" id="{A9DEF3A6-ED46-11B4-BD0A-F7A67659EDA9}"/>
              </a:ext>
            </a:extLst>
          </p:cNvPr>
          <p:cNvSpPr txBox="1"/>
          <p:nvPr/>
        </p:nvSpPr>
        <p:spPr>
          <a:xfrm>
            <a:off x="750347" y="3485398"/>
            <a:ext cx="829981" cy="307777"/>
          </a:xfrm>
          <a:prstGeom prst="rect">
            <a:avLst/>
          </a:prstGeom>
          <a:noFill/>
        </p:spPr>
        <p:txBody>
          <a:bodyPr wrap="square" rtlCol="0">
            <a:spAutoFit/>
          </a:bodyPr>
          <a:lstStyle/>
          <a:p>
            <a:pPr algn="ctr"/>
            <a:r>
              <a:rPr lang="en-IN" sz="1400" dirty="0"/>
              <a:t>Jenkins</a:t>
            </a:r>
          </a:p>
        </p:txBody>
      </p:sp>
      <p:sp>
        <p:nvSpPr>
          <p:cNvPr id="16" name="TextBox 15">
            <a:extLst>
              <a:ext uri="{FF2B5EF4-FFF2-40B4-BE49-F238E27FC236}">
                <a16:creationId xmlns:a16="http://schemas.microsoft.com/office/drawing/2014/main" id="{B2A6828B-0B1D-AB6B-B90A-F0ECF865392D}"/>
              </a:ext>
            </a:extLst>
          </p:cNvPr>
          <p:cNvSpPr txBox="1"/>
          <p:nvPr/>
        </p:nvSpPr>
        <p:spPr>
          <a:xfrm>
            <a:off x="593575" y="4199479"/>
            <a:ext cx="1143003" cy="307777"/>
          </a:xfrm>
          <a:prstGeom prst="rect">
            <a:avLst/>
          </a:prstGeom>
          <a:noFill/>
        </p:spPr>
        <p:txBody>
          <a:bodyPr wrap="square" rtlCol="0">
            <a:spAutoFit/>
          </a:bodyPr>
          <a:lstStyle/>
          <a:p>
            <a:pPr algn="ctr"/>
            <a:r>
              <a:rPr lang="en-IN" sz="1400" dirty="0"/>
              <a:t>Docker</a:t>
            </a:r>
          </a:p>
        </p:txBody>
      </p:sp>
      <p:sp>
        <p:nvSpPr>
          <p:cNvPr id="17" name="TextBox 16">
            <a:extLst>
              <a:ext uri="{FF2B5EF4-FFF2-40B4-BE49-F238E27FC236}">
                <a16:creationId xmlns:a16="http://schemas.microsoft.com/office/drawing/2014/main" id="{B056BFED-5249-54DA-C1CB-A053652BC289}"/>
              </a:ext>
            </a:extLst>
          </p:cNvPr>
          <p:cNvSpPr txBox="1"/>
          <p:nvPr/>
        </p:nvSpPr>
        <p:spPr>
          <a:xfrm>
            <a:off x="577999" y="4851214"/>
            <a:ext cx="1143003" cy="307777"/>
          </a:xfrm>
          <a:prstGeom prst="rect">
            <a:avLst/>
          </a:prstGeom>
          <a:noFill/>
        </p:spPr>
        <p:txBody>
          <a:bodyPr wrap="square" rtlCol="0">
            <a:spAutoFit/>
          </a:bodyPr>
          <a:lstStyle/>
          <a:p>
            <a:pPr algn="ctr"/>
            <a:r>
              <a:rPr lang="en-IN" sz="1400" dirty="0"/>
              <a:t>Next.JS</a:t>
            </a:r>
          </a:p>
        </p:txBody>
      </p:sp>
      <p:sp>
        <p:nvSpPr>
          <p:cNvPr id="18" name="TextBox 17">
            <a:extLst>
              <a:ext uri="{FF2B5EF4-FFF2-40B4-BE49-F238E27FC236}">
                <a16:creationId xmlns:a16="http://schemas.microsoft.com/office/drawing/2014/main" id="{FF14F513-5D48-0F56-CFCD-6EF4E0092E11}"/>
              </a:ext>
            </a:extLst>
          </p:cNvPr>
          <p:cNvSpPr txBox="1"/>
          <p:nvPr/>
        </p:nvSpPr>
        <p:spPr>
          <a:xfrm>
            <a:off x="593576" y="5473428"/>
            <a:ext cx="1143003" cy="307777"/>
          </a:xfrm>
          <a:prstGeom prst="rect">
            <a:avLst/>
          </a:prstGeom>
          <a:noFill/>
        </p:spPr>
        <p:txBody>
          <a:bodyPr wrap="square" rtlCol="0">
            <a:spAutoFit/>
          </a:bodyPr>
          <a:lstStyle/>
          <a:p>
            <a:pPr algn="ctr"/>
            <a:r>
              <a:rPr lang="en-IN" sz="1400" dirty="0"/>
              <a:t>Python</a:t>
            </a:r>
          </a:p>
        </p:txBody>
      </p:sp>
      <p:sp>
        <p:nvSpPr>
          <p:cNvPr id="19" name="TextBox 18">
            <a:extLst>
              <a:ext uri="{FF2B5EF4-FFF2-40B4-BE49-F238E27FC236}">
                <a16:creationId xmlns:a16="http://schemas.microsoft.com/office/drawing/2014/main" id="{0113B074-7DFB-0582-BA7A-C9797A506023}"/>
              </a:ext>
            </a:extLst>
          </p:cNvPr>
          <p:cNvSpPr txBox="1"/>
          <p:nvPr/>
        </p:nvSpPr>
        <p:spPr>
          <a:xfrm>
            <a:off x="593576" y="6033296"/>
            <a:ext cx="1143003" cy="307777"/>
          </a:xfrm>
          <a:prstGeom prst="rect">
            <a:avLst/>
          </a:prstGeom>
          <a:noFill/>
        </p:spPr>
        <p:txBody>
          <a:bodyPr wrap="square" rtlCol="0">
            <a:spAutoFit/>
          </a:bodyPr>
          <a:lstStyle/>
          <a:p>
            <a:pPr algn="ctr"/>
            <a:r>
              <a:rPr lang="en-IN" sz="1400" dirty="0"/>
              <a:t>FastAPI</a:t>
            </a:r>
          </a:p>
        </p:txBody>
      </p:sp>
      <p:sp>
        <p:nvSpPr>
          <p:cNvPr id="22" name="Rectangle 21">
            <a:extLst>
              <a:ext uri="{FF2B5EF4-FFF2-40B4-BE49-F238E27FC236}">
                <a16:creationId xmlns:a16="http://schemas.microsoft.com/office/drawing/2014/main" id="{9C7662B4-8A8D-8AD9-40BB-ECEC5995A87B}"/>
              </a:ext>
            </a:extLst>
          </p:cNvPr>
          <p:cNvSpPr/>
          <p:nvPr/>
        </p:nvSpPr>
        <p:spPr>
          <a:xfrm>
            <a:off x="1950738" y="3405581"/>
            <a:ext cx="6359976" cy="3194783"/>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Key Steps</a:t>
            </a:r>
          </a:p>
          <a:p>
            <a:pPr marL="342900" indent="-342900">
              <a:buFont typeface="+mj-lt"/>
              <a:buAutoNum type="arabicPeriod"/>
            </a:pPr>
            <a:r>
              <a:rPr lang="en-IN" sz="1400" dirty="0">
                <a:solidFill>
                  <a:schemeClr val="tx1"/>
                </a:solidFill>
              </a:rPr>
              <a:t>Stakeholders (or domain experts) actively participate in the testing. This helps in prompt refinements and covering edge cases.</a:t>
            </a:r>
          </a:p>
          <a:p>
            <a:pPr marL="342900" indent="-342900">
              <a:buFont typeface="+mj-lt"/>
              <a:buAutoNum type="arabicPeriod"/>
            </a:pPr>
            <a:r>
              <a:rPr lang="en-IN" sz="1400" dirty="0">
                <a:solidFill>
                  <a:schemeClr val="tx1"/>
                </a:solidFill>
              </a:rPr>
              <a:t>After completion of each development cycle, the codebase is pushed to the GitHub which sends a push notification to Jenkins running on EC2 instance, which in turn pulls code, deletes any running Docker container, and runs Dockerfile:</a:t>
            </a:r>
          </a:p>
          <a:p>
            <a:pPr marL="857250" lvl="1" indent="-400050">
              <a:buFont typeface="+mj-lt"/>
              <a:buAutoNum type="romanLcPeriod"/>
            </a:pPr>
            <a:r>
              <a:rPr lang="en-IN" sz="1400" dirty="0">
                <a:solidFill>
                  <a:schemeClr val="tx1"/>
                </a:solidFill>
              </a:rPr>
              <a:t>If flag to recreate vector DB is “True”, then it runs a Python  script which pulls data from S3 and builds the vector DB. If flag is “False”, then it use the existing vector DB.</a:t>
            </a:r>
          </a:p>
          <a:p>
            <a:pPr marL="857250" lvl="1" indent="-400050">
              <a:buFont typeface="+mj-lt"/>
              <a:buAutoNum type="romanLcPeriod"/>
            </a:pPr>
            <a:r>
              <a:rPr lang="en-IN" sz="1400" dirty="0">
                <a:solidFill>
                  <a:schemeClr val="tx1"/>
                </a:solidFill>
              </a:rPr>
              <a:t>Installs all dependencies by looking at requirements.txt</a:t>
            </a:r>
          </a:p>
          <a:p>
            <a:pPr marL="857250" lvl="1" indent="-400050">
              <a:buFont typeface="+mj-lt"/>
              <a:buAutoNum type="romanLcPeriod"/>
            </a:pPr>
            <a:r>
              <a:rPr lang="en-IN" sz="1400" dirty="0">
                <a:solidFill>
                  <a:schemeClr val="tx1"/>
                </a:solidFill>
              </a:rPr>
              <a:t>Loads secrets from the .env file stored in S3</a:t>
            </a:r>
          </a:p>
          <a:p>
            <a:pPr marL="857250" lvl="1" indent="-400050">
              <a:buFont typeface="+mj-lt"/>
              <a:buAutoNum type="romanLcPeriod"/>
            </a:pPr>
            <a:r>
              <a:rPr lang="en-IN" sz="1400" dirty="0">
                <a:solidFill>
                  <a:schemeClr val="tx1"/>
                </a:solidFill>
              </a:rPr>
              <a:t>Runs the FastAPI app which can be called by the Next.JS frontend app</a:t>
            </a:r>
          </a:p>
          <a:p>
            <a:pPr marL="342900" indent="-342900">
              <a:buFont typeface="+mj-lt"/>
              <a:buAutoNum type="arabicPeriod"/>
            </a:pPr>
            <a:endParaRPr lang="en-IN" dirty="0">
              <a:solidFill>
                <a:schemeClr val="tx1"/>
              </a:solidFill>
            </a:endParaRPr>
          </a:p>
        </p:txBody>
      </p:sp>
    </p:spTree>
    <p:extLst>
      <p:ext uri="{BB962C8B-B14F-4D97-AF65-F5344CB8AC3E}">
        <p14:creationId xmlns:p14="http://schemas.microsoft.com/office/powerpoint/2010/main" val="6037198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0B184-9648-B1DF-7C4C-8BFDD252DC37}"/>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A36278F-9C89-2306-6475-A1BE8BF8C2DC}"/>
              </a:ext>
            </a:extLst>
          </p:cNvPr>
          <p:cNvSpPr/>
          <p:nvPr/>
        </p:nvSpPr>
        <p:spPr>
          <a:xfrm>
            <a:off x="6096000" y="514803"/>
            <a:ext cx="3832514" cy="6093813"/>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48" descr="AWS Diagram Icons Explained: The AWS Compute Set | Gliffy">
            <a:extLst>
              <a:ext uri="{FF2B5EF4-FFF2-40B4-BE49-F238E27FC236}">
                <a16:creationId xmlns:a16="http://schemas.microsoft.com/office/drawing/2014/main" id="{B3B60BE8-D675-2346-0BE3-64B5E8631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99" y="2545317"/>
            <a:ext cx="3832515" cy="288347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9F4B301-57F3-2DFB-2EAF-32244E19F63A}"/>
              </a:ext>
            </a:extLst>
          </p:cNvPr>
          <p:cNvSpPr txBox="1"/>
          <p:nvPr/>
        </p:nvSpPr>
        <p:spPr>
          <a:xfrm>
            <a:off x="199159" y="145473"/>
            <a:ext cx="11793682" cy="369332"/>
          </a:xfrm>
          <a:prstGeom prst="rect">
            <a:avLst/>
          </a:prstGeom>
          <a:noFill/>
        </p:spPr>
        <p:txBody>
          <a:bodyPr wrap="square" rtlCol="0">
            <a:spAutoFit/>
          </a:bodyPr>
          <a:lstStyle/>
          <a:p>
            <a:r>
              <a:rPr lang="en-IN" b="1" dirty="0"/>
              <a:t>[2/2] Agile Development &amp; Delivery Pipeline</a:t>
            </a:r>
          </a:p>
        </p:txBody>
      </p:sp>
      <p:pic>
        <p:nvPicPr>
          <p:cNvPr id="4" name="Picture 38" descr="Amazon S3 Icon #270448 - Free Icons Library">
            <a:extLst>
              <a:ext uri="{FF2B5EF4-FFF2-40B4-BE49-F238E27FC236}">
                <a16:creationId xmlns:a16="http://schemas.microsoft.com/office/drawing/2014/main" id="{45B6BDBB-6463-3B5B-EA55-F6551F6DB7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40056" y="1112265"/>
            <a:ext cx="757471" cy="75747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87C753-ACAE-B1BC-684B-2333E2F7EB88}"/>
              </a:ext>
            </a:extLst>
          </p:cNvPr>
          <p:cNvSpPr txBox="1"/>
          <p:nvPr/>
        </p:nvSpPr>
        <p:spPr>
          <a:xfrm>
            <a:off x="7673177" y="1382398"/>
            <a:ext cx="491228" cy="307777"/>
          </a:xfrm>
          <a:prstGeom prst="rect">
            <a:avLst/>
          </a:prstGeom>
          <a:noFill/>
        </p:spPr>
        <p:txBody>
          <a:bodyPr wrap="square" rtlCol="0">
            <a:spAutoFit/>
          </a:bodyPr>
          <a:lstStyle/>
          <a:p>
            <a:pPr algn="ctr"/>
            <a:r>
              <a:rPr lang="en-IN" sz="1400" dirty="0">
                <a:solidFill>
                  <a:schemeClr val="bg1"/>
                </a:solidFill>
              </a:rPr>
              <a:t>S3</a:t>
            </a:r>
          </a:p>
        </p:txBody>
      </p:sp>
      <p:sp>
        <p:nvSpPr>
          <p:cNvPr id="6" name="Rectangle 5">
            <a:extLst>
              <a:ext uri="{FF2B5EF4-FFF2-40B4-BE49-F238E27FC236}">
                <a16:creationId xmlns:a16="http://schemas.microsoft.com/office/drawing/2014/main" id="{C42767B1-B11A-BE99-4663-CFD6B7AC4E3C}"/>
              </a:ext>
            </a:extLst>
          </p:cNvPr>
          <p:cNvSpPr/>
          <p:nvPr/>
        </p:nvSpPr>
        <p:spPr>
          <a:xfrm>
            <a:off x="10048009" y="514805"/>
            <a:ext cx="1944831" cy="609380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6" name="Picture 2">
            <a:extLst>
              <a:ext uri="{FF2B5EF4-FFF2-40B4-BE49-F238E27FC236}">
                <a16:creationId xmlns:a16="http://schemas.microsoft.com/office/drawing/2014/main" id="{DAD4E1D5-3612-4F97-1DA1-FAFBE168C14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53260" y="629558"/>
            <a:ext cx="850240" cy="509154"/>
          </a:xfrm>
          <a:prstGeom prst="rect">
            <a:avLst/>
          </a:prstGeom>
          <a:noFill/>
          <a:extLst>
            <a:ext uri="{909E8E84-426E-40DD-AFC4-6F175D3DCCD1}">
              <a14:hiddenFill xmlns:a14="http://schemas.microsoft.com/office/drawing/2010/main">
                <a:solidFill>
                  <a:srgbClr val="FFFFFF"/>
                </a:solidFill>
              </a14:hiddenFill>
            </a:ext>
          </a:extLst>
        </p:spPr>
      </p:pic>
      <p:sp>
        <p:nvSpPr>
          <p:cNvPr id="7" name="Cube 6">
            <a:extLst>
              <a:ext uri="{FF2B5EF4-FFF2-40B4-BE49-F238E27FC236}">
                <a16:creationId xmlns:a16="http://schemas.microsoft.com/office/drawing/2014/main" id="{9554698E-BD96-670D-E720-E6617509561E}"/>
              </a:ext>
            </a:extLst>
          </p:cNvPr>
          <p:cNvSpPr/>
          <p:nvPr/>
        </p:nvSpPr>
        <p:spPr>
          <a:xfrm>
            <a:off x="10348126" y="3104508"/>
            <a:ext cx="1344596" cy="1087097"/>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IN" sz="1400" dirty="0"/>
              <a:t>LLM</a:t>
            </a:r>
          </a:p>
          <a:p>
            <a:pPr algn="ctr"/>
            <a:r>
              <a:rPr lang="en-IN" sz="1400" dirty="0"/>
              <a:t>(GPT-4.1)</a:t>
            </a:r>
          </a:p>
        </p:txBody>
      </p:sp>
      <p:sp>
        <p:nvSpPr>
          <p:cNvPr id="9" name="TextBox 8">
            <a:extLst>
              <a:ext uri="{FF2B5EF4-FFF2-40B4-BE49-F238E27FC236}">
                <a16:creationId xmlns:a16="http://schemas.microsoft.com/office/drawing/2014/main" id="{03AEB430-D6E9-A201-F613-E66BB07B939D}"/>
              </a:ext>
            </a:extLst>
          </p:cNvPr>
          <p:cNvSpPr txBox="1"/>
          <p:nvPr/>
        </p:nvSpPr>
        <p:spPr>
          <a:xfrm>
            <a:off x="7039699" y="5428796"/>
            <a:ext cx="1945116" cy="307777"/>
          </a:xfrm>
          <a:prstGeom prst="rect">
            <a:avLst/>
          </a:prstGeom>
          <a:noFill/>
        </p:spPr>
        <p:txBody>
          <a:bodyPr wrap="square" rtlCol="0">
            <a:spAutoFit/>
          </a:bodyPr>
          <a:lstStyle/>
          <a:p>
            <a:pPr algn="ctr"/>
            <a:r>
              <a:rPr lang="en-IN" sz="1400" dirty="0"/>
              <a:t>Amazon EC2 Instance</a:t>
            </a:r>
          </a:p>
        </p:txBody>
      </p:sp>
      <p:sp>
        <p:nvSpPr>
          <p:cNvPr id="13" name="Rectangle 12">
            <a:extLst>
              <a:ext uri="{FF2B5EF4-FFF2-40B4-BE49-F238E27FC236}">
                <a16:creationId xmlns:a16="http://schemas.microsoft.com/office/drawing/2014/main" id="{4D22C785-9AD9-1F97-78F6-D28133529F90}"/>
              </a:ext>
            </a:extLst>
          </p:cNvPr>
          <p:cNvSpPr/>
          <p:nvPr/>
        </p:nvSpPr>
        <p:spPr>
          <a:xfrm>
            <a:off x="6764482" y="3052361"/>
            <a:ext cx="1111827" cy="837830"/>
          </a:xfrm>
          <a:prstGeom prst="rect">
            <a:avLst/>
          </a:prstGeom>
          <a:solidFill>
            <a:schemeClr val="bg1">
              <a:lumMod val="95000"/>
            </a:schemeClr>
          </a:solidFill>
          <a:ln w="28575"/>
        </p:spPr>
        <p:style>
          <a:lnRef idx="2">
            <a:schemeClr val="accent4"/>
          </a:lnRef>
          <a:fillRef idx="1">
            <a:schemeClr val="lt1"/>
          </a:fillRef>
          <a:effectRef idx="0">
            <a:schemeClr val="accent4"/>
          </a:effectRef>
          <a:fontRef idx="minor">
            <a:schemeClr val="dk1"/>
          </a:fontRef>
        </p:style>
        <p:txBody>
          <a:bodyPr rtlCol="0" anchor="t"/>
          <a:lstStyle/>
          <a:p>
            <a:pPr algn="r"/>
            <a:endParaRPr lang="en-IN" sz="1400" dirty="0"/>
          </a:p>
        </p:txBody>
      </p:sp>
      <p:pic>
        <p:nvPicPr>
          <p:cNvPr id="14" name="Picture 54" descr="Docker - Free brands and logotypes icons">
            <a:extLst>
              <a:ext uri="{FF2B5EF4-FFF2-40B4-BE49-F238E27FC236}">
                <a16:creationId xmlns:a16="http://schemas.microsoft.com/office/drawing/2014/main" id="{DE0E5D16-9A22-A637-7236-D9CAB719A5D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95235" y="2979610"/>
            <a:ext cx="390244" cy="39024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2" descr="Next-dot-js - Free vector icons on creazilla.com">
            <a:extLst>
              <a:ext uri="{FF2B5EF4-FFF2-40B4-BE49-F238E27FC236}">
                <a16:creationId xmlns:a16="http://schemas.microsoft.com/office/drawing/2014/main" id="{748CE211-413F-BAEC-E710-4669AD0F348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803358" y="3359397"/>
            <a:ext cx="460333" cy="460333"/>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86FE5376-402A-711F-5FDA-048E90CE87D9}"/>
              </a:ext>
            </a:extLst>
          </p:cNvPr>
          <p:cNvSpPr txBox="1"/>
          <p:nvPr/>
        </p:nvSpPr>
        <p:spPr>
          <a:xfrm>
            <a:off x="6992521" y="3015244"/>
            <a:ext cx="976746" cy="307777"/>
          </a:xfrm>
          <a:prstGeom prst="rect">
            <a:avLst/>
          </a:prstGeom>
          <a:noFill/>
        </p:spPr>
        <p:txBody>
          <a:bodyPr wrap="square" rtlCol="0">
            <a:spAutoFit/>
          </a:bodyPr>
          <a:lstStyle/>
          <a:p>
            <a:pPr algn="ctr"/>
            <a:r>
              <a:rPr lang="en-IN" sz="1400" dirty="0"/>
              <a:t>Container</a:t>
            </a:r>
          </a:p>
        </p:txBody>
      </p:sp>
      <p:sp>
        <p:nvSpPr>
          <p:cNvPr id="16" name="TextBox 15">
            <a:extLst>
              <a:ext uri="{FF2B5EF4-FFF2-40B4-BE49-F238E27FC236}">
                <a16:creationId xmlns:a16="http://schemas.microsoft.com/office/drawing/2014/main" id="{0726F894-B652-2FE2-BDA6-2BEF5638F15D}"/>
              </a:ext>
            </a:extLst>
          </p:cNvPr>
          <p:cNvSpPr txBox="1"/>
          <p:nvPr/>
        </p:nvSpPr>
        <p:spPr>
          <a:xfrm>
            <a:off x="7144055" y="3332536"/>
            <a:ext cx="792002" cy="523220"/>
          </a:xfrm>
          <a:prstGeom prst="rect">
            <a:avLst/>
          </a:prstGeom>
          <a:noFill/>
        </p:spPr>
        <p:txBody>
          <a:bodyPr wrap="square" rtlCol="0">
            <a:spAutoFit/>
          </a:bodyPr>
          <a:lstStyle/>
          <a:p>
            <a:pPr algn="ctr"/>
            <a:r>
              <a:rPr lang="en-IN" sz="1400" dirty="0"/>
              <a:t>Next.JS App</a:t>
            </a:r>
          </a:p>
        </p:txBody>
      </p:sp>
      <p:sp>
        <p:nvSpPr>
          <p:cNvPr id="17" name="Rectangle 16">
            <a:extLst>
              <a:ext uri="{FF2B5EF4-FFF2-40B4-BE49-F238E27FC236}">
                <a16:creationId xmlns:a16="http://schemas.microsoft.com/office/drawing/2014/main" id="{597B2F6C-0D0B-7AAD-21FD-597E712EBCC0}"/>
              </a:ext>
            </a:extLst>
          </p:cNvPr>
          <p:cNvSpPr/>
          <p:nvPr/>
        </p:nvSpPr>
        <p:spPr>
          <a:xfrm>
            <a:off x="6764482" y="4078104"/>
            <a:ext cx="1111827" cy="837830"/>
          </a:xfrm>
          <a:prstGeom prst="rect">
            <a:avLst/>
          </a:prstGeom>
          <a:solidFill>
            <a:schemeClr val="bg1">
              <a:lumMod val="95000"/>
            </a:schemeClr>
          </a:solidFill>
          <a:ln w="28575"/>
        </p:spPr>
        <p:style>
          <a:lnRef idx="2">
            <a:schemeClr val="accent2"/>
          </a:lnRef>
          <a:fillRef idx="1">
            <a:schemeClr val="lt1"/>
          </a:fillRef>
          <a:effectRef idx="0">
            <a:schemeClr val="accent2"/>
          </a:effectRef>
          <a:fontRef idx="minor">
            <a:schemeClr val="dk1"/>
          </a:fontRef>
        </p:style>
        <p:txBody>
          <a:bodyPr rtlCol="0" anchor="t"/>
          <a:lstStyle/>
          <a:p>
            <a:pPr algn="r"/>
            <a:endParaRPr lang="en-IN" sz="1400" dirty="0"/>
          </a:p>
        </p:txBody>
      </p:sp>
      <p:sp>
        <p:nvSpPr>
          <p:cNvPr id="18" name="TextBox 17">
            <a:extLst>
              <a:ext uri="{FF2B5EF4-FFF2-40B4-BE49-F238E27FC236}">
                <a16:creationId xmlns:a16="http://schemas.microsoft.com/office/drawing/2014/main" id="{D0E37041-94A4-D902-07B7-539C8C469030}"/>
              </a:ext>
            </a:extLst>
          </p:cNvPr>
          <p:cNvSpPr txBox="1"/>
          <p:nvPr/>
        </p:nvSpPr>
        <p:spPr>
          <a:xfrm>
            <a:off x="6832022" y="4078104"/>
            <a:ext cx="976746" cy="307777"/>
          </a:xfrm>
          <a:prstGeom prst="rect">
            <a:avLst/>
          </a:prstGeom>
          <a:noFill/>
        </p:spPr>
        <p:txBody>
          <a:bodyPr wrap="square" rtlCol="0">
            <a:spAutoFit/>
          </a:bodyPr>
          <a:lstStyle/>
          <a:p>
            <a:pPr algn="ctr"/>
            <a:r>
              <a:rPr lang="en-IN" sz="1400" dirty="0"/>
              <a:t>EBS</a:t>
            </a:r>
          </a:p>
        </p:txBody>
      </p:sp>
      <p:sp>
        <p:nvSpPr>
          <p:cNvPr id="19" name="TextBox 18">
            <a:extLst>
              <a:ext uri="{FF2B5EF4-FFF2-40B4-BE49-F238E27FC236}">
                <a16:creationId xmlns:a16="http://schemas.microsoft.com/office/drawing/2014/main" id="{E9D2949D-155A-95E3-C731-06AB0BC661BE}"/>
              </a:ext>
            </a:extLst>
          </p:cNvPr>
          <p:cNvSpPr txBox="1"/>
          <p:nvPr/>
        </p:nvSpPr>
        <p:spPr>
          <a:xfrm>
            <a:off x="6714257" y="4657325"/>
            <a:ext cx="1212275" cy="307777"/>
          </a:xfrm>
          <a:prstGeom prst="rect">
            <a:avLst/>
          </a:prstGeom>
          <a:noFill/>
        </p:spPr>
        <p:txBody>
          <a:bodyPr wrap="square" rtlCol="0">
            <a:spAutoFit/>
          </a:bodyPr>
          <a:lstStyle/>
          <a:p>
            <a:pPr algn="ctr"/>
            <a:r>
              <a:rPr lang="en-IN" sz="1400" dirty="0"/>
              <a:t>Chroma DB</a:t>
            </a:r>
          </a:p>
        </p:txBody>
      </p:sp>
      <p:pic>
        <p:nvPicPr>
          <p:cNvPr id="1030" name="Picture 6" descr="Chroma">
            <a:extLst>
              <a:ext uri="{FF2B5EF4-FFF2-40B4-BE49-F238E27FC236}">
                <a16:creationId xmlns:a16="http://schemas.microsoft.com/office/drawing/2014/main" id="{F68BCF56-BE4B-4CBD-F8B6-0D90D02F7D5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92521" y="4337577"/>
            <a:ext cx="609945" cy="393811"/>
          </a:xfrm>
          <a:prstGeom prst="rect">
            <a:avLst/>
          </a:prstGeom>
          <a:noFill/>
          <a:extLst>
            <a:ext uri="{909E8E84-426E-40DD-AFC4-6F175D3DCCD1}">
              <a14:hiddenFill xmlns:a14="http://schemas.microsoft.com/office/drawing/2010/main">
                <a:solidFill>
                  <a:srgbClr val="FFFFFF"/>
                </a:solidFill>
              </a14:hiddenFill>
            </a:ext>
          </a:extLst>
        </p:spPr>
      </p:pic>
      <p:sp>
        <p:nvSpPr>
          <p:cNvPr id="20" name="Rectangle 19">
            <a:extLst>
              <a:ext uri="{FF2B5EF4-FFF2-40B4-BE49-F238E27FC236}">
                <a16:creationId xmlns:a16="http://schemas.microsoft.com/office/drawing/2014/main" id="{25B4FF5B-1EE9-3A5A-7917-DE04F044D419}"/>
              </a:ext>
            </a:extLst>
          </p:cNvPr>
          <p:cNvSpPr/>
          <p:nvPr/>
        </p:nvSpPr>
        <p:spPr>
          <a:xfrm>
            <a:off x="8173595" y="3052360"/>
            <a:ext cx="1111827" cy="1863573"/>
          </a:xfrm>
          <a:prstGeom prst="rect">
            <a:avLst/>
          </a:prstGeom>
          <a:solidFill>
            <a:schemeClr val="bg1">
              <a:lumMod val="95000"/>
            </a:schemeClr>
          </a:solidFill>
          <a:ln w="28575"/>
        </p:spPr>
        <p:style>
          <a:lnRef idx="2">
            <a:schemeClr val="accent4"/>
          </a:lnRef>
          <a:fillRef idx="1">
            <a:schemeClr val="lt1"/>
          </a:fillRef>
          <a:effectRef idx="0">
            <a:schemeClr val="accent4"/>
          </a:effectRef>
          <a:fontRef idx="minor">
            <a:schemeClr val="dk1"/>
          </a:fontRef>
        </p:style>
        <p:txBody>
          <a:bodyPr rtlCol="0" anchor="t"/>
          <a:lstStyle/>
          <a:p>
            <a:pPr algn="r"/>
            <a:endParaRPr lang="en-IN" sz="1400" dirty="0"/>
          </a:p>
        </p:txBody>
      </p:sp>
      <p:pic>
        <p:nvPicPr>
          <p:cNvPr id="21" name="Picture 54" descr="Docker - Free brands and logotypes icons">
            <a:extLst>
              <a:ext uri="{FF2B5EF4-FFF2-40B4-BE49-F238E27FC236}">
                <a16:creationId xmlns:a16="http://schemas.microsoft.com/office/drawing/2014/main" id="{3324E926-1E01-979E-984E-A64497629B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04348" y="2979610"/>
            <a:ext cx="390244" cy="390244"/>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5161C8C5-4E2B-3FA8-2952-D9720EE17D33}"/>
              </a:ext>
            </a:extLst>
          </p:cNvPr>
          <p:cNvSpPr txBox="1"/>
          <p:nvPr/>
        </p:nvSpPr>
        <p:spPr>
          <a:xfrm>
            <a:off x="8401634" y="3015244"/>
            <a:ext cx="976746" cy="307777"/>
          </a:xfrm>
          <a:prstGeom prst="rect">
            <a:avLst/>
          </a:prstGeom>
          <a:noFill/>
        </p:spPr>
        <p:txBody>
          <a:bodyPr wrap="square" rtlCol="0">
            <a:spAutoFit/>
          </a:bodyPr>
          <a:lstStyle/>
          <a:p>
            <a:pPr algn="ctr"/>
            <a:r>
              <a:rPr lang="en-IN" sz="1400" dirty="0"/>
              <a:t>Container</a:t>
            </a:r>
          </a:p>
        </p:txBody>
      </p:sp>
      <p:pic>
        <p:nvPicPr>
          <p:cNvPr id="23" name="Picture 58">
            <a:extLst>
              <a:ext uri="{FF2B5EF4-FFF2-40B4-BE49-F238E27FC236}">
                <a16:creationId xmlns:a16="http://schemas.microsoft.com/office/drawing/2014/main" id="{B2A9BEA8-BB79-61B6-1195-878D722BFD8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90533" y="3925606"/>
            <a:ext cx="677949" cy="677949"/>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descr="A white lightning bolt in a green circle&#10;&#10;AI-generated content may be incorrect.">
            <a:extLst>
              <a:ext uri="{FF2B5EF4-FFF2-40B4-BE49-F238E27FC236}">
                <a16:creationId xmlns:a16="http://schemas.microsoft.com/office/drawing/2014/main" id="{3559839F-7882-9DB7-5C0F-D2E40DAD951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195015" y="3392871"/>
            <a:ext cx="462885" cy="462885"/>
          </a:xfrm>
          <a:prstGeom prst="rect">
            <a:avLst/>
          </a:prstGeom>
        </p:spPr>
      </p:pic>
      <p:sp>
        <p:nvSpPr>
          <p:cNvPr id="25" name="TextBox 24">
            <a:extLst>
              <a:ext uri="{FF2B5EF4-FFF2-40B4-BE49-F238E27FC236}">
                <a16:creationId xmlns:a16="http://schemas.microsoft.com/office/drawing/2014/main" id="{5D1A4B1C-EFD5-5C51-7164-B12E5B9FB845}"/>
              </a:ext>
            </a:extLst>
          </p:cNvPr>
          <p:cNvSpPr txBox="1"/>
          <p:nvPr/>
        </p:nvSpPr>
        <p:spPr>
          <a:xfrm>
            <a:off x="8213424" y="4645119"/>
            <a:ext cx="1071998" cy="307777"/>
          </a:xfrm>
          <a:prstGeom prst="rect">
            <a:avLst/>
          </a:prstGeom>
          <a:noFill/>
        </p:spPr>
        <p:txBody>
          <a:bodyPr wrap="square" rtlCol="0">
            <a:spAutoFit/>
          </a:bodyPr>
          <a:lstStyle/>
          <a:p>
            <a:pPr algn="ctr"/>
            <a:r>
              <a:rPr lang="en-IN" sz="1400" dirty="0"/>
              <a:t>Python App</a:t>
            </a:r>
          </a:p>
        </p:txBody>
      </p:sp>
      <p:sp>
        <p:nvSpPr>
          <p:cNvPr id="26" name="TextBox 25">
            <a:extLst>
              <a:ext uri="{FF2B5EF4-FFF2-40B4-BE49-F238E27FC236}">
                <a16:creationId xmlns:a16="http://schemas.microsoft.com/office/drawing/2014/main" id="{9D760EFF-0243-14C5-4B73-B1D4C493D8C1}"/>
              </a:ext>
            </a:extLst>
          </p:cNvPr>
          <p:cNvSpPr txBox="1"/>
          <p:nvPr/>
        </p:nvSpPr>
        <p:spPr>
          <a:xfrm>
            <a:off x="8567554" y="3471281"/>
            <a:ext cx="787115" cy="307777"/>
          </a:xfrm>
          <a:prstGeom prst="rect">
            <a:avLst/>
          </a:prstGeom>
          <a:noFill/>
        </p:spPr>
        <p:txBody>
          <a:bodyPr wrap="square" rtlCol="0">
            <a:spAutoFit/>
          </a:bodyPr>
          <a:lstStyle/>
          <a:p>
            <a:pPr algn="ctr"/>
            <a:r>
              <a:rPr lang="en-IN" sz="1400" dirty="0"/>
              <a:t>FastAPI</a:t>
            </a:r>
          </a:p>
        </p:txBody>
      </p:sp>
      <p:sp>
        <p:nvSpPr>
          <p:cNvPr id="27" name="Rectangle 26">
            <a:extLst>
              <a:ext uri="{FF2B5EF4-FFF2-40B4-BE49-F238E27FC236}">
                <a16:creationId xmlns:a16="http://schemas.microsoft.com/office/drawing/2014/main" id="{D5A22FE6-2FDC-6CA9-C31D-2A19611CA568}"/>
              </a:ext>
            </a:extLst>
          </p:cNvPr>
          <p:cNvSpPr/>
          <p:nvPr/>
        </p:nvSpPr>
        <p:spPr>
          <a:xfrm>
            <a:off x="3938154" y="514802"/>
            <a:ext cx="2039863" cy="6093813"/>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User</a:t>
            </a:r>
          </a:p>
        </p:txBody>
      </p:sp>
      <p:pic>
        <p:nvPicPr>
          <p:cNvPr id="29" name="Graphic 28" descr="User with solid fill">
            <a:extLst>
              <a:ext uri="{FF2B5EF4-FFF2-40B4-BE49-F238E27FC236}">
                <a16:creationId xmlns:a16="http://schemas.microsoft.com/office/drawing/2014/main" id="{8BAD7978-A043-FB65-CBBB-32BBEDDB27C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4078226" y="3190857"/>
            <a:ext cx="914400" cy="914400"/>
          </a:xfrm>
          <a:prstGeom prst="rect">
            <a:avLst/>
          </a:prstGeom>
        </p:spPr>
      </p:pic>
      <p:sp>
        <p:nvSpPr>
          <p:cNvPr id="40" name="Flowchart: Connector 39">
            <a:extLst>
              <a:ext uri="{FF2B5EF4-FFF2-40B4-BE49-F238E27FC236}">
                <a16:creationId xmlns:a16="http://schemas.microsoft.com/office/drawing/2014/main" id="{5BA2A3C5-67F5-10C0-82BE-F1C95E0B9BA3}"/>
              </a:ext>
            </a:extLst>
          </p:cNvPr>
          <p:cNvSpPr/>
          <p:nvPr/>
        </p:nvSpPr>
        <p:spPr>
          <a:xfrm>
            <a:off x="5809587" y="314699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2</a:t>
            </a:r>
          </a:p>
        </p:txBody>
      </p:sp>
      <p:sp>
        <p:nvSpPr>
          <p:cNvPr id="42" name="Flowchart: Connector 41">
            <a:extLst>
              <a:ext uri="{FF2B5EF4-FFF2-40B4-BE49-F238E27FC236}">
                <a16:creationId xmlns:a16="http://schemas.microsoft.com/office/drawing/2014/main" id="{AE8E71A5-3065-DCF4-AFCC-7CB17BBDAE5B}"/>
              </a:ext>
            </a:extLst>
          </p:cNvPr>
          <p:cNvSpPr/>
          <p:nvPr/>
        </p:nvSpPr>
        <p:spPr>
          <a:xfrm>
            <a:off x="7897139" y="369082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3</a:t>
            </a:r>
          </a:p>
        </p:txBody>
      </p:sp>
      <p:cxnSp>
        <p:nvCxnSpPr>
          <p:cNvPr id="44" name="Straight Arrow Connector 43">
            <a:extLst>
              <a:ext uri="{FF2B5EF4-FFF2-40B4-BE49-F238E27FC236}">
                <a16:creationId xmlns:a16="http://schemas.microsoft.com/office/drawing/2014/main" id="{27279A46-E4F4-45CF-6EB4-CDC9FDACA474}"/>
              </a:ext>
            </a:extLst>
          </p:cNvPr>
          <p:cNvCxnSpPr>
            <a:cxnSpLocks/>
          </p:cNvCxnSpPr>
          <p:nvPr/>
        </p:nvCxnSpPr>
        <p:spPr>
          <a:xfrm>
            <a:off x="7840947" y="3635554"/>
            <a:ext cx="372477" cy="0"/>
          </a:xfrm>
          <a:prstGeom prst="straightConnector1">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4D0A5DB5-98A9-E0F9-759E-1C67A65E42FD}"/>
              </a:ext>
            </a:extLst>
          </p:cNvPr>
          <p:cNvCxnSpPr>
            <a:cxnSpLocks/>
          </p:cNvCxnSpPr>
          <p:nvPr/>
        </p:nvCxnSpPr>
        <p:spPr>
          <a:xfrm>
            <a:off x="7873942" y="4518771"/>
            <a:ext cx="303227" cy="0"/>
          </a:xfrm>
          <a:prstGeom prst="straightConnector1">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3" name="Flowchart: Connector 52">
            <a:extLst>
              <a:ext uri="{FF2B5EF4-FFF2-40B4-BE49-F238E27FC236}">
                <a16:creationId xmlns:a16="http://schemas.microsoft.com/office/drawing/2014/main" id="{B0D44899-02B5-1873-2B2B-23C2273B5E9C}"/>
              </a:ext>
            </a:extLst>
          </p:cNvPr>
          <p:cNvSpPr/>
          <p:nvPr/>
        </p:nvSpPr>
        <p:spPr>
          <a:xfrm>
            <a:off x="7891260" y="4591522"/>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4</a:t>
            </a:r>
          </a:p>
        </p:txBody>
      </p:sp>
      <p:cxnSp>
        <p:nvCxnSpPr>
          <p:cNvPr id="54" name="Straight Arrow Connector 53">
            <a:extLst>
              <a:ext uri="{FF2B5EF4-FFF2-40B4-BE49-F238E27FC236}">
                <a16:creationId xmlns:a16="http://schemas.microsoft.com/office/drawing/2014/main" id="{AA0AC2EB-6A60-5A73-FB0E-E40DAEC90355}"/>
              </a:ext>
            </a:extLst>
          </p:cNvPr>
          <p:cNvCxnSpPr>
            <a:cxnSpLocks/>
            <a:endCxn id="7" idx="2"/>
          </p:cNvCxnSpPr>
          <p:nvPr/>
        </p:nvCxnSpPr>
        <p:spPr>
          <a:xfrm flipV="1">
            <a:off x="9306842" y="3783944"/>
            <a:ext cx="1041284" cy="5498"/>
          </a:xfrm>
          <a:prstGeom prst="straightConnector1">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7" name="Flowchart: Connector 56">
            <a:extLst>
              <a:ext uri="{FF2B5EF4-FFF2-40B4-BE49-F238E27FC236}">
                <a16:creationId xmlns:a16="http://schemas.microsoft.com/office/drawing/2014/main" id="{7D6D59EA-E209-C7C0-14C8-05D36E08D3CE}"/>
              </a:ext>
            </a:extLst>
          </p:cNvPr>
          <p:cNvSpPr/>
          <p:nvPr/>
        </p:nvSpPr>
        <p:spPr>
          <a:xfrm>
            <a:off x="9767231" y="3819730"/>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5</a:t>
            </a:r>
          </a:p>
        </p:txBody>
      </p:sp>
      <p:sp>
        <p:nvSpPr>
          <p:cNvPr id="58" name="TextBox 57">
            <a:extLst>
              <a:ext uri="{FF2B5EF4-FFF2-40B4-BE49-F238E27FC236}">
                <a16:creationId xmlns:a16="http://schemas.microsoft.com/office/drawing/2014/main" id="{28B3F875-2BAE-5B3D-3BF6-949348C341F6}"/>
              </a:ext>
            </a:extLst>
          </p:cNvPr>
          <p:cNvSpPr txBox="1"/>
          <p:nvPr/>
        </p:nvSpPr>
        <p:spPr>
          <a:xfrm>
            <a:off x="7053696" y="1762013"/>
            <a:ext cx="1745672" cy="523220"/>
          </a:xfrm>
          <a:prstGeom prst="rect">
            <a:avLst/>
          </a:prstGeom>
          <a:noFill/>
        </p:spPr>
        <p:txBody>
          <a:bodyPr wrap="square" rtlCol="0">
            <a:spAutoFit/>
          </a:bodyPr>
          <a:lstStyle/>
          <a:p>
            <a:pPr algn="ctr"/>
            <a:r>
              <a:rPr lang="en-IN" sz="1400" dirty="0"/>
              <a:t>Amazon S3 Bucket: Data + .env</a:t>
            </a:r>
          </a:p>
        </p:txBody>
      </p:sp>
      <p:cxnSp>
        <p:nvCxnSpPr>
          <p:cNvPr id="60" name="Connector: Elbow 59">
            <a:extLst>
              <a:ext uri="{FF2B5EF4-FFF2-40B4-BE49-F238E27FC236}">
                <a16:creationId xmlns:a16="http://schemas.microsoft.com/office/drawing/2014/main" id="{7E05C7C1-EFA2-5D5B-69AE-BA6436AA9A9A}"/>
              </a:ext>
            </a:extLst>
          </p:cNvPr>
          <p:cNvCxnSpPr>
            <a:stCxn id="4" idx="3"/>
            <a:endCxn id="22" idx="0"/>
          </p:cNvCxnSpPr>
          <p:nvPr/>
        </p:nvCxnSpPr>
        <p:spPr>
          <a:xfrm>
            <a:off x="8297527" y="1491001"/>
            <a:ext cx="592480" cy="1524243"/>
          </a:xfrm>
          <a:prstGeom prst="bentConnector2">
            <a:avLst/>
          </a:prstGeom>
          <a:ln w="28575">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1" name="Flowchart: Connector 60">
            <a:extLst>
              <a:ext uri="{FF2B5EF4-FFF2-40B4-BE49-F238E27FC236}">
                <a16:creationId xmlns:a16="http://schemas.microsoft.com/office/drawing/2014/main" id="{C0C2DF4B-414B-88D3-C832-01D18BFDE527}"/>
              </a:ext>
            </a:extLst>
          </p:cNvPr>
          <p:cNvSpPr/>
          <p:nvPr/>
        </p:nvSpPr>
        <p:spPr>
          <a:xfrm>
            <a:off x="8927322" y="1972791"/>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1</a:t>
            </a:r>
          </a:p>
        </p:txBody>
      </p:sp>
      <p:cxnSp>
        <p:nvCxnSpPr>
          <p:cNvPr id="63" name="Straight Arrow Connector 62">
            <a:extLst>
              <a:ext uri="{FF2B5EF4-FFF2-40B4-BE49-F238E27FC236}">
                <a16:creationId xmlns:a16="http://schemas.microsoft.com/office/drawing/2014/main" id="{1D78F694-CDCF-2321-08C9-1D3394749DCC}"/>
              </a:ext>
            </a:extLst>
          </p:cNvPr>
          <p:cNvCxnSpPr>
            <a:cxnSpLocks/>
          </p:cNvCxnSpPr>
          <p:nvPr/>
        </p:nvCxnSpPr>
        <p:spPr>
          <a:xfrm flipV="1">
            <a:off x="5016415" y="3476054"/>
            <a:ext cx="1727195" cy="3076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25" name="Straight Arrow Connector 1024">
            <a:extLst>
              <a:ext uri="{FF2B5EF4-FFF2-40B4-BE49-F238E27FC236}">
                <a16:creationId xmlns:a16="http://schemas.microsoft.com/office/drawing/2014/main" id="{39A1C7EC-7C6A-57FF-6456-2A1D202A8F40}"/>
              </a:ext>
            </a:extLst>
          </p:cNvPr>
          <p:cNvCxnSpPr>
            <a:cxnSpLocks/>
          </p:cNvCxnSpPr>
          <p:nvPr/>
        </p:nvCxnSpPr>
        <p:spPr>
          <a:xfrm flipH="1">
            <a:off x="5016415" y="3682509"/>
            <a:ext cx="1727195" cy="374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29" name="Flowchart: Connector 1028">
            <a:extLst>
              <a:ext uri="{FF2B5EF4-FFF2-40B4-BE49-F238E27FC236}">
                <a16:creationId xmlns:a16="http://schemas.microsoft.com/office/drawing/2014/main" id="{5E4F1E4D-0818-7360-C6E8-AD111C953032}"/>
              </a:ext>
            </a:extLst>
          </p:cNvPr>
          <p:cNvSpPr/>
          <p:nvPr/>
        </p:nvSpPr>
        <p:spPr>
          <a:xfrm>
            <a:off x="5809495" y="375699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6</a:t>
            </a:r>
          </a:p>
        </p:txBody>
      </p:sp>
      <p:sp>
        <p:nvSpPr>
          <p:cNvPr id="1031" name="Rectangle 1030">
            <a:extLst>
              <a:ext uri="{FF2B5EF4-FFF2-40B4-BE49-F238E27FC236}">
                <a16:creationId xmlns:a16="http://schemas.microsoft.com/office/drawing/2014/main" id="{C8C50CAF-CEAE-6769-46F3-991E66915FE4}"/>
              </a:ext>
            </a:extLst>
          </p:cNvPr>
          <p:cNvSpPr/>
          <p:nvPr/>
        </p:nvSpPr>
        <p:spPr>
          <a:xfrm>
            <a:off x="199158" y="514801"/>
            <a:ext cx="3613982" cy="6093809"/>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IN" sz="1600" dirty="0">
                <a:solidFill>
                  <a:schemeClr val="tx1"/>
                </a:solidFill>
              </a:rPr>
              <a:t>Workflow</a:t>
            </a:r>
          </a:p>
        </p:txBody>
      </p:sp>
      <p:sp>
        <p:nvSpPr>
          <p:cNvPr id="1032" name="Flowchart: Connector 1031">
            <a:extLst>
              <a:ext uri="{FF2B5EF4-FFF2-40B4-BE49-F238E27FC236}">
                <a16:creationId xmlns:a16="http://schemas.microsoft.com/office/drawing/2014/main" id="{0AE9E470-ACE1-8A33-9413-C40A11819891}"/>
              </a:ext>
            </a:extLst>
          </p:cNvPr>
          <p:cNvSpPr/>
          <p:nvPr/>
        </p:nvSpPr>
        <p:spPr>
          <a:xfrm>
            <a:off x="289013" y="884133"/>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1</a:t>
            </a:r>
          </a:p>
        </p:txBody>
      </p:sp>
      <p:sp>
        <p:nvSpPr>
          <p:cNvPr id="1033" name="TextBox 1032">
            <a:extLst>
              <a:ext uri="{FF2B5EF4-FFF2-40B4-BE49-F238E27FC236}">
                <a16:creationId xmlns:a16="http://schemas.microsoft.com/office/drawing/2014/main" id="{45D7E10E-2943-640A-A7E7-35F854F90E7D}"/>
              </a:ext>
            </a:extLst>
          </p:cNvPr>
          <p:cNvSpPr txBox="1"/>
          <p:nvPr/>
        </p:nvSpPr>
        <p:spPr>
          <a:xfrm>
            <a:off x="603256" y="884133"/>
            <a:ext cx="3201775" cy="738664"/>
          </a:xfrm>
          <a:prstGeom prst="rect">
            <a:avLst/>
          </a:prstGeom>
          <a:noFill/>
        </p:spPr>
        <p:txBody>
          <a:bodyPr wrap="square" rtlCol="0">
            <a:spAutoFit/>
          </a:bodyPr>
          <a:lstStyle/>
          <a:p>
            <a:r>
              <a:rPr lang="en-IN" sz="1400" dirty="0"/>
              <a:t>After the Docker container spins up, it loads data and .env parameters from Amazon S3 bucket</a:t>
            </a:r>
          </a:p>
        </p:txBody>
      </p:sp>
      <p:sp>
        <p:nvSpPr>
          <p:cNvPr id="1034" name="TextBox 1033">
            <a:extLst>
              <a:ext uri="{FF2B5EF4-FFF2-40B4-BE49-F238E27FC236}">
                <a16:creationId xmlns:a16="http://schemas.microsoft.com/office/drawing/2014/main" id="{0CDE9213-ADA3-EDEE-C7A6-D05E9821D6DF}"/>
              </a:ext>
            </a:extLst>
          </p:cNvPr>
          <p:cNvSpPr txBox="1"/>
          <p:nvPr/>
        </p:nvSpPr>
        <p:spPr>
          <a:xfrm>
            <a:off x="595145" y="5812046"/>
            <a:ext cx="3217992" cy="523220"/>
          </a:xfrm>
          <a:prstGeom prst="rect">
            <a:avLst/>
          </a:prstGeom>
          <a:noFill/>
        </p:spPr>
        <p:txBody>
          <a:bodyPr wrap="square" rtlCol="0">
            <a:spAutoFit/>
          </a:bodyPr>
          <a:lstStyle/>
          <a:p>
            <a:r>
              <a:rPr lang="en-IN" sz="1400" dirty="0"/>
              <a:t>The Next.JS app shows the response to the user</a:t>
            </a:r>
          </a:p>
        </p:txBody>
      </p:sp>
      <p:sp>
        <p:nvSpPr>
          <p:cNvPr id="1035" name="Flowchart: Connector 1034">
            <a:extLst>
              <a:ext uri="{FF2B5EF4-FFF2-40B4-BE49-F238E27FC236}">
                <a16:creationId xmlns:a16="http://schemas.microsoft.com/office/drawing/2014/main" id="{A19D995E-D9FB-45E6-9E95-3143B4815E3E}"/>
              </a:ext>
            </a:extLst>
          </p:cNvPr>
          <p:cNvSpPr/>
          <p:nvPr/>
        </p:nvSpPr>
        <p:spPr>
          <a:xfrm>
            <a:off x="291527" y="1778662"/>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2</a:t>
            </a:r>
          </a:p>
        </p:txBody>
      </p:sp>
      <p:sp>
        <p:nvSpPr>
          <p:cNvPr id="1036" name="TextBox 1035">
            <a:extLst>
              <a:ext uri="{FF2B5EF4-FFF2-40B4-BE49-F238E27FC236}">
                <a16:creationId xmlns:a16="http://schemas.microsoft.com/office/drawing/2014/main" id="{5A98216B-61AA-63A1-F532-2CBC94EC62EC}"/>
              </a:ext>
            </a:extLst>
          </p:cNvPr>
          <p:cNvSpPr txBox="1"/>
          <p:nvPr/>
        </p:nvSpPr>
        <p:spPr>
          <a:xfrm>
            <a:off x="595147" y="1782019"/>
            <a:ext cx="3201775" cy="523220"/>
          </a:xfrm>
          <a:prstGeom prst="rect">
            <a:avLst/>
          </a:prstGeom>
          <a:noFill/>
        </p:spPr>
        <p:txBody>
          <a:bodyPr wrap="square" rtlCol="0">
            <a:spAutoFit/>
          </a:bodyPr>
          <a:lstStyle/>
          <a:p>
            <a:r>
              <a:rPr lang="en-IN" sz="1400" dirty="0"/>
              <a:t>User access the Next.JS app exposed to the outer world</a:t>
            </a:r>
          </a:p>
        </p:txBody>
      </p:sp>
      <p:sp>
        <p:nvSpPr>
          <p:cNvPr id="1037" name="Flowchart: Connector 1036">
            <a:extLst>
              <a:ext uri="{FF2B5EF4-FFF2-40B4-BE49-F238E27FC236}">
                <a16:creationId xmlns:a16="http://schemas.microsoft.com/office/drawing/2014/main" id="{E4622D9D-B1A4-2304-9968-AFD3693B0A0C}"/>
              </a:ext>
            </a:extLst>
          </p:cNvPr>
          <p:cNvSpPr/>
          <p:nvPr/>
        </p:nvSpPr>
        <p:spPr>
          <a:xfrm>
            <a:off x="291527" y="2513059"/>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3</a:t>
            </a:r>
          </a:p>
        </p:txBody>
      </p:sp>
      <p:sp>
        <p:nvSpPr>
          <p:cNvPr id="1038" name="TextBox 1037">
            <a:extLst>
              <a:ext uri="{FF2B5EF4-FFF2-40B4-BE49-F238E27FC236}">
                <a16:creationId xmlns:a16="http://schemas.microsoft.com/office/drawing/2014/main" id="{49A7995B-94A2-56D8-B3D4-8385F580109B}"/>
              </a:ext>
            </a:extLst>
          </p:cNvPr>
          <p:cNvSpPr txBox="1"/>
          <p:nvPr/>
        </p:nvSpPr>
        <p:spPr>
          <a:xfrm>
            <a:off x="603256" y="2517155"/>
            <a:ext cx="3193665" cy="954107"/>
          </a:xfrm>
          <a:prstGeom prst="rect">
            <a:avLst/>
          </a:prstGeom>
          <a:noFill/>
        </p:spPr>
        <p:txBody>
          <a:bodyPr wrap="square" rtlCol="0">
            <a:spAutoFit/>
          </a:bodyPr>
          <a:lstStyle/>
          <a:p>
            <a:r>
              <a:rPr lang="en-IN" sz="1400" dirty="0"/>
              <a:t>When user submits any query, the Next.JS app calls FastAPI endpoint and sends the user query to the RAG pipeline</a:t>
            </a:r>
          </a:p>
        </p:txBody>
      </p:sp>
      <p:sp>
        <p:nvSpPr>
          <p:cNvPr id="1039" name="Flowchart: Connector 1038">
            <a:extLst>
              <a:ext uri="{FF2B5EF4-FFF2-40B4-BE49-F238E27FC236}">
                <a16:creationId xmlns:a16="http://schemas.microsoft.com/office/drawing/2014/main" id="{3DE03F66-34B2-6543-FB6F-A2B369973D91}"/>
              </a:ext>
            </a:extLst>
          </p:cNvPr>
          <p:cNvSpPr/>
          <p:nvPr/>
        </p:nvSpPr>
        <p:spPr>
          <a:xfrm>
            <a:off x="291527" y="3702720"/>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4</a:t>
            </a:r>
          </a:p>
        </p:txBody>
      </p:sp>
      <p:sp>
        <p:nvSpPr>
          <p:cNvPr id="1040" name="TextBox 1039">
            <a:extLst>
              <a:ext uri="{FF2B5EF4-FFF2-40B4-BE49-F238E27FC236}">
                <a16:creationId xmlns:a16="http://schemas.microsoft.com/office/drawing/2014/main" id="{89472640-9FDD-BA9D-3250-1F28A297DF08}"/>
              </a:ext>
            </a:extLst>
          </p:cNvPr>
          <p:cNvSpPr txBox="1"/>
          <p:nvPr/>
        </p:nvSpPr>
        <p:spPr>
          <a:xfrm>
            <a:off x="603495" y="3702720"/>
            <a:ext cx="3199577" cy="738664"/>
          </a:xfrm>
          <a:prstGeom prst="rect">
            <a:avLst/>
          </a:prstGeom>
          <a:noFill/>
        </p:spPr>
        <p:txBody>
          <a:bodyPr wrap="square" rtlCol="0">
            <a:spAutoFit/>
          </a:bodyPr>
          <a:lstStyle/>
          <a:p>
            <a:r>
              <a:rPr lang="en-IN" sz="1400" dirty="0"/>
              <a:t>The Python backend retrieves relevant chunks from the Chroma Vector DB stored in the EBS storage</a:t>
            </a:r>
          </a:p>
        </p:txBody>
      </p:sp>
      <p:sp>
        <p:nvSpPr>
          <p:cNvPr id="1041" name="Flowchart: Connector 1040">
            <a:extLst>
              <a:ext uri="{FF2B5EF4-FFF2-40B4-BE49-F238E27FC236}">
                <a16:creationId xmlns:a16="http://schemas.microsoft.com/office/drawing/2014/main" id="{E4C4A23A-4AC8-9926-D989-8A144E6B47BC}"/>
              </a:ext>
            </a:extLst>
          </p:cNvPr>
          <p:cNvSpPr/>
          <p:nvPr/>
        </p:nvSpPr>
        <p:spPr>
          <a:xfrm>
            <a:off x="289013" y="4678615"/>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5</a:t>
            </a:r>
          </a:p>
        </p:txBody>
      </p:sp>
      <p:sp>
        <p:nvSpPr>
          <p:cNvPr id="1042" name="TextBox 1041">
            <a:extLst>
              <a:ext uri="{FF2B5EF4-FFF2-40B4-BE49-F238E27FC236}">
                <a16:creationId xmlns:a16="http://schemas.microsoft.com/office/drawing/2014/main" id="{3290DA3A-46A3-24C3-15B1-22807177950D}"/>
              </a:ext>
            </a:extLst>
          </p:cNvPr>
          <p:cNvSpPr txBox="1"/>
          <p:nvPr/>
        </p:nvSpPr>
        <p:spPr>
          <a:xfrm>
            <a:off x="595146" y="4678615"/>
            <a:ext cx="3217993" cy="954107"/>
          </a:xfrm>
          <a:prstGeom prst="rect">
            <a:avLst/>
          </a:prstGeom>
          <a:noFill/>
        </p:spPr>
        <p:txBody>
          <a:bodyPr wrap="square" rtlCol="0">
            <a:spAutoFit/>
          </a:bodyPr>
          <a:lstStyle/>
          <a:p>
            <a:r>
              <a:rPr lang="en-IN" sz="1400" dirty="0"/>
              <a:t>After the retrieval of relevant chunks, the Python app sends it to the LLM along with user query and gets the response; returns it to the Next.JS app</a:t>
            </a:r>
          </a:p>
        </p:txBody>
      </p:sp>
      <p:sp>
        <p:nvSpPr>
          <p:cNvPr id="1044" name="Flowchart: Connector 1043">
            <a:extLst>
              <a:ext uri="{FF2B5EF4-FFF2-40B4-BE49-F238E27FC236}">
                <a16:creationId xmlns:a16="http://schemas.microsoft.com/office/drawing/2014/main" id="{08447669-B76F-6044-62A7-741BAC8858F1}"/>
              </a:ext>
            </a:extLst>
          </p:cNvPr>
          <p:cNvSpPr/>
          <p:nvPr/>
        </p:nvSpPr>
        <p:spPr>
          <a:xfrm>
            <a:off x="283417" y="5812046"/>
            <a:ext cx="311728" cy="307777"/>
          </a:xfrm>
          <a:prstGeom prst="flowChartConnector">
            <a:avLst/>
          </a:prstGeom>
        </p:spPr>
        <p:style>
          <a:lnRef idx="0">
            <a:schemeClr val="dk1"/>
          </a:lnRef>
          <a:fillRef idx="3">
            <a:schemeClr val="dk1"/>
          </a:fillRef>
          <a:effectRef idx="3">
            <a:schemeClr val="dk1"/>
          </a:effectRef>
          <a:fontRef idx="minor">
            <a:schemeClr val="lt1"/>
          </a:fontRef>
        </p:style>
        <p:txBody>
          <a:bodyPr rtlCol="0" anchor="ctr"/>
          <a:lstStyle/>
          <a:p>
            <a:pPr algn="ctr"/>
            <a:r>
              <a:rPr lang="en-IN" sz="1400" dirty="0"/>
              <a:t>6</a:t>
            </a:r>
          </a:p>
        </p:txBody>
      </p:sp>
      <p:pic>
        <p:nvPicPr>
          <p:cNvPr id="10" name="Picture 2" descr="OpenAI Logo PNG - High-Quality AI Branding Icons">
            <a:extLst>
              <a:ext uri="{FF2B5EF4-FFF2-40B4-BE49-F238E27FC236}">
                <a16:creationId xmlns:a16="http://schemas.microsoft.com/office/drawing/2014/main" id="{8E202A03-F832-4C99-85FB-42380B0DDE58}"/>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1298492" y="514801"/>
            <a:ext cx="660393" cy="66039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888E6F62-CC83-076E-77BC-179B18A8236A}"/>
              </a:ext>
            </a:extLst>
          </p:cNvPr>
          <p:cNvSpPr txBox="1"/>
          <p:nvPr/>
        </p:nvSpPr>
        <p:spPr>
          <a:xfrm>
            <a:off x="11225260" y="1038021"/>
            <a:ext cx="806855" cy="307777"/>
          </a:xfrm>
          <a:prstGeom prst="rect">
            <a:avLst/>
          </a:prstGeom>
          <a:noFill/>
        </p:spPr>
        <p:txBody>
          <a:bodyPr wrap="square" rtlCol="0">
            <a:spAutoFit/>
          </a:bodyPr>
          <a:lstStyle/>
          <a:p>
            <a:pPr algn="ctr"/>
            <a:r>
              <a:rPr lang="en-IN" sz="1400" dirty="0"/>
              <a:t>OpenAI</a:t>
            </a:r>
          </a:p>
        </p:txBody>
      </p:sp>
    </p:spTree>
    <p:extLst>
      <p:ext uri="{BB962C8B-B14F-4D97-AF65-F5344CB8AC3E}">
        <p14:creationId xmlns:p14="http://schemas.microsoft.com/office/powerpoint/2010/main" val="3307552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1C2CD-85D5-97AB-32DB-E2B21E21F96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29128D2-ADE0-8946-4945-692252E42297}"/>
              </a:ext>
            </a:extLst>
          </p:cNvPr>
          <p:cNvSpPr txBox="1"/>
          <p:nvPr/>
        </p:nvSpPr>
        <p:spPr>
          <a:xfrm>
            <a:off x="166255" y="145473"/>
            <a:ext cx="11835245" cy="400110"/>
          </a:xfrm>
          <a:prstGeom prst="rect">
            <a:avLst/>
          </a:prstGeom>
          <a:noFill/>
        </p:spPr>
        <p:txBody>
          <a:bodyPr wrap="square" rtlCol="0">
            <a:spAutoFit/>
          </a:bodyPr>
          <a:lstStyle/>
          <a:p>
            <a:r>
              <a:rPr lang="en-IN" sz="2000" b="1" dirty="0"/>
              <a:t>[1/2] CI / CD Pipeline: Creating AWS EC2 Instance</a:t>
            </a:r>
          </a:p>
        </p:txBody>
      </p:sp>
      <p:sp>
        <p:nvSpPr>
          <p:cNvPr id="3" name="TextBox 2">
            <a:extLst>
              <a:ext uri="{FF2B5EF4-FFF2-40B4-BE49-F238E27FC236}">
                <a16:creationId xmlns:a16="http://schemas.microsoft.com/office/drawing/2014/main" id="{CC8A3E47-3C89-BD6A-72A9-AB0BD82A414F}"/>
              </a:ext>
            </a:extLst>
          </p:cNvPr>
          <p:cNvSpPr txBox="1"/>
          <p:nvPr/>
        </p:nvSpPr>
        <p:spPr>
          <a:xfrm>
            <a:off x="166255" y="545583"/>
            <a:ext cx="10380518" cy="1815882"/>
          </a:xfrm>
          <a:prstGeom prst="rect">
            <a:avLst/>
          </a:prstGeom>
          <a:noFill/>
        </p:spPr>
        <p:txBody>
          <a:bodyPr wrap="square" rtlCol="0">
            <a:spAutoFit/>
          </a:bodyPr>
          <a:lstStyle/>
          <a:p>
            <a:pPr marL="342900" indent="-342900">
              <a:buFont typeface="+mj-lt"/>
              <a:buAutoNum type="arabicPeriod"/>
            </a:pPr>
            <a:r>
              <a:rPr lang="en-IN" sz="1600" dirty="0"/>
              <a:t>Login to your AWS account</a:t>
            </a:r>
          </a:p>
          <a:p>
            <a:pPr marL="342900" indent="-342900">
              <a:buFont typeface="+mj-lt"/>
              <a:buAutoNum type="arabicPeriod"/>
            </a:pPr>
            <a:r>
              <a:rPr lang="en-IN" sz="1600" dirty="0"/>
              <a:t>Click on EC2</a:t>
            </a:r>
          </a:p>
          <a:p>
            <a:pPr marL="342900" indent="-342900">
              <a:buFont typeface="+mj-lt"/>
              <a:buAutoNum type="arabicPeriod"/>
            </a:pPr>
            <a:r>
              <a:rPr lang="en-IN" sz="1600" dirty="0"/>
              <a:t>Now, click on “Launch instance” button</a:t>
            </a:r>
          </a:p>
          <a:p>
            <a:pPr marL="342900" indent="-342900">
              <a:buFont typeface="+mj-lt"/>
              <a:buAutoNum type="arabicPeriod"/>
            </a:pPr>
            <a:r>
              <a:rPr lang="en-IN" sz="1600" dirty="0"/>
              <a:t>Enter name of your EC2 instance, for now let’s call it “my_ec2_instance”</a:t>
            </a:r>
          </a:p>
          <a:p>
            <a:pPr marL="342900" indent="-342900">
              <a:buFont typeface="+mj-lt"/>
              <a:buAutoNum type="arabicPeriod"/>
            </a:pPr>
            <a:r>
              <a:rPr lang="en-IN" sz="1600" dirty="0"/>
              <a:t>Under “Application and OS Images”, select “Ubuntu” (recommended)</a:t>
            </a:r>
          </a:p>
          <a:p>
            <a:pPr marL="342900" indent="-342900">
              <a:buFont typeface="+mj-lt"/>
              <a:buAutoNum type="arabicPeriod"/>
            </a:pPr>
            <a:r>
              <a:rPr lang="en-IN" sz="1600" dirty="0"/>
              <a:t>In “Amazon Machine Image (AMI)” dropdown list, select “Ubuntu Server 22.04 LTS” (recommended)</a:t>
            </a:r>
          </a:p>
          <a:p>
            <a:pPr marL="342900" indent="-342900">
              <a:buFont typeface="+mj-lt"/>
              <a:buAutoNum type="arabicPeriod"/>
            </a:pPr>
            <a:r>
              <a:rPr lang="en-IN" sz="1600" dirty="0"/>
              <a:t>Under “Instance type”, select instance type matching your requirements and budget</a:t>
            </a:r>
          </a:p>
        </p:txBody>
      </p:sp>
      <p:grpSp>
        <p:nvGrpSpPr>
          <p:cNvPr id="8" name="Group 7">
            <a:extLst>
              <a:ext uri="{FF2B5EF4-FFF2-40B4-BE49-F238E27FC236}">
                <a16:creationId xmlns:a16="http://schemas.microsoft.com/office/drawing/2014/main" id="{E475DC95-58DE-C1EB-610A-DABA7973A046}"/>
              </a:ext>
            </a:extLst>
          </p:cNvPr>
          <p:cNvGrpSpPr/>
          <p:nvPr/>
        </p:nvGrpSpPr>
        <p:grpSpPr>
          <a:xfrm>
            <a:off x="10546773" y="545583"/>
            <a:ext cx="1454727" cy="1727472"/>
            <a:chOff x="8248650" y="837970"/>
            <a:chExt cx="1454727" cy="1727472"/>
          </a:xfrm>
        </p:grpSpPr>
        <p:sp>
          <p:nvSpPr>
            <p:cNvPr id="6" name="TextBox 5">
              <a:extLst>
                <a:ext uri="{FF2B5EF4-FFF2-40B4-BE49-F238E27FC236}">
                  <a16:creationId xmlns:a16="http://schemas.microsoft.com/office/drawing/2014/main" id="{BA246747-8035-3821-6BEB-E7083C2EB189}"/>
                </a:ext>
              </a:extLst>
            </p:cNvPr>
            <p:cNvSpPr txBox="1"/>
            <p:nvPr/>
          </p:nvSpPr>
          <p:spPr>
            <a:xfrm>
              <a:off x="8248650" y="2226888"/>
              <a:ext cx="1454727" cy="338554"/>
            </a:xfrm>
            <a:prstGeom prst="rect">
              <a:avLst/>
            </a:prstGeom>
            <a:noFill/>
          </p:spPr>
          <p:txBody>
            <a:bodyPr wrap="square" rtlCol="0">
              <a:spAutoFit/>
            </a:bodyPr>
            <a:lstStyle/>
            <a:p>
              <a:pPr algn="ctr"/>
              <a:r>
                <a:rPr lang="en-IN" sz="1600" b="1" dirty="0"/>
                <a:t>Amazon EC2</a:t>
              </a:r>
            </a:p>
          </p:txBody>
        </p:sp>
        <p:pic>
          <p:nvPicPr>
            <p:cNvPr id="1036" name="Picture 12" descr="Aws Ec2 icon as SVG, PNG, JSX, and Base64">
              <a:extLst>
                <a:ext uri="{FF2B5EF4-FFF2-40B4-BE49-F238E27FC236}">
                  <a16:creationId xmlns:a16="http://schemas.microsoft.com/office/drawing/2014/main" id="{7CC0667F-B6CE-648E-0874-4CC735DF4C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1555" y="837970"/>
              <a:ext cx="1388918" cy="1388918"/>
            </a:xfrm>
            <a:prstGeom prst="rect">
              <a:avLst/>
            </a:prstGeom>
            <a:noFill/>
            <a:extLst>
              <a:ext uri="{909E8E84-426E-40DD-AFC4-6F175D3DCCD1}">
                <a14:hiddenFill xmlns:a14="http://schemas.microsoft.com/office/drawing/2010/main">
                  <a:solidFill>
                    <a:srgbClr val="FFFFFF"/>
                  </a:solidFill>
                </a14:hiddenFill>
              </a:ext>
            </a:extLst>
          </p:spPr>
        </p:pic>
      </p:grpSp>
      <p:sp>
        <p:nvSpPr>
          <p:cNvPr id="9" name="TextBox 8">
            <a:extLst>
              <a:ext uri="{FF2B5EF4-FFF2-40B4-BE49-F238E27FC236}">
                <a16:creationId xmlns:a16="http://schemas.microsoft.com/office/drawing/2014/main" id="{6431AEEE-E034-F205-5D77-DF6B266E120A}"/>
              </a:ext>
            </a:extLst>
          </p:cNvPr>
          <p:cNvSpPr txBox="1"/>
          <p:nvPr/>
        </p:nvSpPr>
        <p:spPr>
          <a:xfrm>
            <a:off x="166255" y="2361465"/>
            <a:ext cx="11802341" cy="3785652"/>
          </a:xfrm>
          <a:prstGeom prst="rect">
            <a:avLst/>
          </a:prstGeom>
          <a:noFill/>
        </p:spPr>
        <p:txBody>
          <a:bodyPr wrap="square" rtlCol="0">
            <a:spAutoFit/>
          </a:bodyPr>
          <a:lstStyle/>
          <a:p>
            <a:pPr marL="342900" indent="-342900">
              <a:buFont typeface="+mj-lt"/>
              <a:buAutoNum type="arabicPeriod" startAt="8"/>
            </a:pPr>
            <a:r>
              <a:rPr lang="en-IN" sz="1600" dirty="0"/>
              <a:t>Under “Key pair (login)”, select a key-pair if exists; otherwise click on “Create new key pair”, enter name of your choice for “Key pair name”, select “Key paid type” as “RSA” and “Private key file format” as “.</a:t>
            </a:r>
            <a:r>
              <a:rPr lang="en-IN" sz="1600" dirty="0" err="1"/>
              <a:t>pem</a:t>
            </a:r>
            <a:r>
              <a:rPr lang="en-IN" sz="1600" dirty="0"/>
              <a:t>”, and finally click on the button “Create key pair”. This will download a “.</a:t>
            </a:r>
            <a:r>
              <a:rPr lang="en-IN" sz="1600" dirty="0" err="1"/>
              <a:t>pem</a:t>
            </a:r>
            <a:r>
              <a:rPr lang="en-IN" sz="1600" dirty="0"/>
              <a:t>” file which is the private key of your key-pair. Keep it safely on your machine for later use. This will help you to access your EC2 instance by SSH commands.</a:t>
            </a:r>
          </a:p>
          <a:p>
            <a:pPr marL="342900" indent="-342900">
              <a:buFont typeface="+mj-lt"/>
              <a:buAutoNum type="arabicPeriod" startAt="8"/>
            </a:pPr>
            <a:r>
              <a:rPr lang="en-IN" sz="1600" dirty="0"/>
              <a:t>Now under “Network settings”, create a security group (or edit an existing security group) for the following changes:</a:t>
            </a:r>
          </a:p>
          <a:p>
            <a:pPr marL="857250" lvl="1" indent="-400050">
              <a:buFont typeface="+mj-lt"/>
              <a:buAutoNum type="romanLcPeriod"/>
            </a:pPr>
            <a:r>
              <a:rPr lang="en-IN" sz="1600" dirty="0"/>
              <a:t>Add inbound rule SSH (TCP 22); source: your laptop IP; DO NOT open port 22 for all, i.e., 0.0.0.0/0. This will help you to SSH into your EC2 instance from your machine’s terminal.</a:t>
            </a:r>
          </a:p>
          <a:p>
            <a:pPr marL="857250" lvl="1" indent="-400050">
              <a:buFont typeface="+mj-lt"/>
              <a:buAutoNum type="romanLcPeriod"/>
            </a:pPr>
            <a:r>
              <a:rPr lang="en-IN" sz="1600" dirty="0"/>
              <a:t>Add inbound rule Custom TCP 8080; source: 0.0.0.0/0 (to access Jenkins dashboard on your laptop’s browser + GitHub push notification to Jenkin that a push happened so that Jenkins can pull and deploy the latest code). 0.0.0.0/0 is not recommended </a:t>
            </a:r>
            <a:r>
              <a:rPr lang="en-IN" sz="1600" b="1" u="sng" dirty="0">
                <a:solidFill>
                  <a:srgbClr val="FF0000"/>
                </a:solidFill>
              </a:rPr>
              <a:t>(⮾SECURITY ALERT)</a:t>
            </a:r>
            <a:r>
              <a:rPr lang="en-IN" sz="1600" dirty="0"/>
              <a:t>.</a:t>
            </a:r>
          </a:p>
          <a:p>
            <a:pPr lvl="2"/>
            <a:r>
              <a:rPr lang="en-IN" sz="1600" dirty="0"/>
              <a:t>	Visit </a:t>
            </a:r>
            <a:r>
              <a:rPr lang="en-IN" sz="1600" dirty="0">
                <a:hlinkClick r:id="rId3"/>
              </a:rPr>
              <a:t>https://api.github.com/meta</a:t>
            </a:r>
            <a:r>
              <a:rPr lang="en-IN" sz="1600" dirty="0"/>
              <a:t> and copy the IP address ranges for “hooks”. Add only these IP4 address in your EC2 instance’s inbound rule.</a:t>
            </a:r>
          </a:p>
          <a:p>
            <a:pPr marL="857250" lvl="1" indent="-400050">
              <a:buFont typeface="+mj-lt"/>
              <a:buAutoNum type="romanLcPeriod"/>
            </a:pPr>
            <a:r>
              <a:rPr lang="en-IN" sz="1600" dirty="0"/>
              <a:t>Add outbound rules as “All traffic” (default security group usually does this). This will allow your EC2 instance to access the Internet and install all the required Linux and Python packages.</a:t>
            </a:r>
          </a:p>
          <a:p>
            <a:pPr marL="400050" indent="-400050">
              <a:buFont typeface="+mj-lt"/>
              <a:buAutoNum type="arabicPeriod" startAt="8"/>
            </a:pPr>
            <a:r>
              <a:rPr lang="en-IN" sz="1600" dirty="0"/>
              <a:t>Now, create on “Launch instance” button and ensure that the instance has started.</a:t>
            </a:r>
          </a:p>
        </p:txBody>
      </p:sp>
    </p:spTree>
    <p:extLst>
      <p:ext uri="{BB962C8B-B14F-4D97-AF65-F5344CB8AC3E}">
        <p14:creationId xmlns:p14="http://schemas.microsoft.com/office/powerpoint/2010/main" val="26742039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4350A-B09B-ABE4-DE2C-6566C179184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2D6DEB-71F0-71F7-C01E-5C623BB5AF88}"/>
              </a:ext>
            </a:extLst>
          </p:cNvPr>
          <p:cNvSpPr txBox="1"/>
          <p:nvPr/>
        </p:nvSpPr>
        <p:spPr>
          <a:xfrm>
            <a:off x="166255" y="145473"/>
            <a:ext cx="11835245" cy="400110"/>
          </a:xfrm>
          <a:prstGeom prst="rect">
            <a:avLst/>
          </a:prstGeom>
          <a:noFill/>
        </p:spPr>
        <p:txBody>
          <a:bodyPr wrap="square" rtlCol="0">
            <a:spAutoFit/>
          </a:bodyPr>
          <a:lstStyle/>
          <a:p>
            <a:r>
              <a:rPr lang="en-IN" sz="2000" b="1" dirty="0"/>
              <a:t>[2/2] CI / CD Pipeline: Creating AWS EC2 Instance</a:t>
            </a:r>
          </a:p>
        </p:txBody>
      </p:sp>
      <p:grpSp>
        <p:nvGrpSpPr>
          <p:cNvPr id="8" name="Group 7">
            <a:extLst>
              <a:ext uri="{FF2B5EF4-FFF2-40B4-BE49-F238E27FC236}">
                <a16:creationId xmlns:a16="http://schemas.microsoft.com/office/drawing/2014/main" id="{A35DB07D-75D6-10A8-AE17-E1D421BA52B3}"/>
              </a:ext>
            </a:extLst>
          </p:cNvPr>
          <p:cNvGrpSpPr/>
          <p:nvPr/>
        </p:nvGrpSpPr>
        <p:grpSpPr>
          <a:xfrm>
            <a:off x="10546773" y="545583"/>
            <a:ext cx="1454727" cy="1727472"/>
            <a:chOff x="8248650" y="837970"/>
            <a:chExt cx="1454727" cy="1727472"/>
          </a:xfrm>
        </p:grpSpPr>
        <p:sp>
          <p:nvSpPr>
            <p:cNvPr id="6" name="TextBox 5">
              <a:extLst>
                <a:ext uri="{FF2B5EF4-FFF2-40B4-BE49-F238E27FC236}">
                  <a16:creationId xmlns:a16="http://schemas.microsoft.com/office/drawing/2014/main" id="{95B0DE18-24C3-7981-2248-DC96776A683D}"/>
                </a:ext>
              </a:extLst>
            </p:cNvPr>
            <p:cNvSpPr txBox="1"/>
            <p:nvPr/>
          </p:nvSpPr>
          <p:spPr>
            <a:xfrm>
              <a:off x="8248650" y="2226888"/>
              <a:ext cx="1454727" cy="338554"/>
            </a:xfrm>
            <a:prstGeom prst="rect">
              <a:avLst/>
            </a:prstGeom>
            <a:noFill/>
          </p:spPr>
          <p:txBody>
            <a:bodyPr wrap="square" rtlCol="0">
              <a:spAutoFit/>
            </a:bodyPr>
            <a:lstStyle/>
            <a:p>
              <a:pPr algn="ctr"/>
              <a:r>
                <a:rPr lang="en-IN" sz="1600" b="1" dirty="0"/>
                <a:t>Amazon EC2</a:t>
              </a:r>
            </a:p>
          </p:txBody>
        </p:sp>
        <p:pic>
          <p:nvPicPr>
            <p:cNvPr id="1036" name="Picture 12" descr="Aws Ec2 icon as SVG, PNG, JSX, and Base64">
              <a:extLst>
                <a:ext uri="{FF2B5EF4-FFF2-40B4-BE49-F238E27FC236}">
                  <a16:creationId xmlns:a16="http://schemas.microsoft.com/office/drawing/2014/main" id="{74B95143-84F5-4BF0-116B-A1C018BEE5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1555" y="837970"/>
              <a:ext cx="1388918" cy="1388918"/>
            </a:xfrm>
            <a:prstGeom prst="rect">
              <a:avLst/>
            </a:prstGeom>
            <a:noFill/>
            <a:extLst>
              <a:ext uri="{909E8E84-426E-40DD-AFC4-6F175D3DCCD1}">
                <a14:hiddenFill xmlns:a14="http://schemas.microsoft.com/office/drawing/2010/main">
                  <a:solidFill>
                    <a:srgbClr val="FFFFFF"/>
                  </a:solidFill>
                </a14:hiddenFill>
              </a:ext>
            </a:extLst>
          </p:spPr>
        </p:pic>
      </p:grpSp>
      <p:sp>
        <p:nvSpPr>
          <p:cNvPr id="4" name="TextBox 3">
            <a:extLst>
              <a:ext uri="{FF2B5EF4-FFF2-40B4-BE49-F238E27FC236}">
                <a16:creationId xmlns:a16="http://schemas.microsoft.com/office/drawing/2014/main" id="{39134B79-8A84-5432-B145-DCBB5A0C531A}"/>
              </a:ext>
            </a:extLst>
          </p:cNvPr>
          <p:cNvSpPr txBox="1"/>
          <p:nvPr/>
        </p:nvSpPr>
        <p:spPr>
          <a:xfrm>
            <a:off x="166255" y="545583"/>
            <a:ext cx="10380518" cy="1815882"/>
          </a:xfrm>
          <a:prstGeom prst="rect">
            <a:avLst/>
          </a:prstGeom>
          <a:noFill/>
        </p:spPr>
        <p:txBody>
          <a:bodyPr wrap="square" rtlCol="0">
            <a:spAutoFit/>
          </a:bodyPr>
          <a:lstStyle/>
          <a:p>
            <a:pPr marL="342900" indent="-342900">
              <a:buFont typeface="+mj-lt"/>
              <a:buAutoNum type="arabicPeriod" startAt="11"/>
            </a:pPr>
            <a:r>
              <a:rPr lang="en-US" sz="1600" dirty="0"/>
              <a:t>The downloaded “.</a:t>
            </a:r>
            <a:r>
              <a:rPr lang="en-US" sz="1600" dirty="0" err="1"/>
              <a:t>pem</a:t>
            </a:r>
            <a:r>
              <a:rPr lang="en-US" sz="1600" dirty="0"/>
              <a:t>” private key file might be too open (i.e., with no access permissions). Due to this, when you try using this “.</a:t>
            </a:r>
            <a:r>
              <a:rPr lang="en-US" sz="1600" dirty="0" err="1"/>
              <a:t>pem</a:t>
            </a:r>
            <a:r>
              <a:rPr lang="en-US" sz="1600" dirty="0"/>
              <a:t>” file to SSH your EC2 instance, you may get the error: “Permissions for &lt;.</a:t>
            </a:r>
            <a:r>
              <a:rPr lang="en-US" sz="1600" dirty="0" err="1"/>
              <a:t>pem</a:t>
            </a:r>
            <a:r>
              <a:rPr lang="en-US" sz="1600" dirty="0"/>
              <a:t> filename&gt; are too open”. To fix this error, run “</a:t>
            </a:r>
            <a:r>
              <a:rPr lang="en-US" sz="1600" dirty="0" err="1"/>
              <a:t>chmod</a:t>
            </a:r>
            <a:r>
              <a:rPr lang="en-US" sz="1600" dirty="0"/>
              <a:t>” commands on Ubuntu and if you are on Windows then run the below commands:</a:t>
            </a:r>
          </a:p>
          <a:p>
            <a:pPr lvl="1"/>
            <a:r>
              <a:rPr lang="en-US" sz="1600" i="1" dirty="0"/>
              <a:t>$ </a:t>
            </a:r>
            <a:r>
              <a:rPr lang="en-US" sz="1600" i="1" dirty="0" err="1"/>
              <a:t>icacls</a:t>
            </a:r>
            <a:r>
              <a:rPr lang="en-US" sz="1600" i="1" dirty="0"/>
              <a:t> "C:\path\to\project_key.pem" /reset</a:t>
            </a:r>
          </a:p>
          <a:p>
            <a:pPr lvl="1"/>
            <a:r>
              <a:rPr lang="en-US" sz="1600" i="1" dirty="0"/>
              <a:t>$ </a:t>
            </a:r>
            <a:r>
              <a:rPr lang="en-US" sz="1600" i="1" dirty="0" err="1"/>
              <a:t>icacls</a:t>
            </a:r>
            <a:r>
              <a:rPr lang="en-US" sz="1600" i="1" dirty="0"/>
              <a:t> "C:\path\to\project_key.pem" /</a:t>
            </a:r>
            <a:r>
              <a:rPr lang="en-US" sz="1600" i="1" dirty="0" err="1"/>
              <a:t>grant:r</a:t>
            </a:r>
            <a:r>
              <a:rPr lang="en-US" sz="1600" i="1" dirty="0"/>
              <a:t> "$($</a:t>
            </a:r>
            <a:r>
              <a:rPr lang="en-US" sz="1600" i="1" dirty="0" err="1"/>
              <a:t>env:USERNAME</a:t>
            </a:r>
            <a:r>
              <a:rPr lang="en-US" sz="1600" i="1" dirty="0"/>
              <a:t>):(R)“</a:t>
            </a:r>
          </a:p>
          <a:p>
            <a:pPr lvl="1"/>
            <a:r>
              <a:rPr lang="en-US" sz="1600" i="1" dirty="0"/>
              <a:t>$ </a:t>
            </a:r>
            <a:r>
              <a:rPr lang="en-US" sz="1600" i="1" dirty="0" err="1"/>
              <a:t>icacls</a:t>
            </a:r>
            <a:r>
              <a:rPr lang="en-US" sz="1600" i="1" dirty="0"/>
              <a:t> "C:\path\to\project_key.pem" /</a:t>
            </a:r>
            <a:r>
              <a:rPr lang="en-US" sz="1600" i="1" dirty="0" err="1"/>
              <a:t>inheritance:r</a:t>
            </a:r>
            <a:endParaRPr lang="en-IN" sz="1600" i="1" dirty="0"/>
          </a:p>
        </p:txBody>
      </p:sp>
      <p:sp>
        <p:nvSpPr>
          <p:cNvPr id="5" name="TextBox 4">
            <a:extLst>
              <a:ext uri="{FF2B5EF4-FFF2-40B4-BE49-F238E27FC236}">
                <a16:creationId xmlns:a16="http://schemas.microsoft.com/office/drawing/2014/main" id="{F5B5BFB7-7070-3B40-5785-B8340C9B1061}"/>
              </a:ext>
            </a:extLst>
          </p:cNvPr>
          <p:cNvSpPr txBox="1"/>
          <p:nvPr/>
        </p:nvSpPr>
        <p:spPr>
          <a:xfrm>
            <a:off x="166255" y="2361465"/>
            <a:ext cx="11835244" cy="861774"/>
          </a:xfrm>
          <a:prstGeom prst="rect">
            <a:avLst/>
          </a:prstGeom>
          <a:noFill/>
        </p:spPr>
        <p:txBody>
          <a:bodyPr wrap="square" rtlCol="0">
            <a:spAutoFit/>
          </a:bodyPr>
          <a:lstStyle/>
          <a:p>
            <a:pPr marL="342900" indent="-342900">
              <a:buFont typeface="+mj-lt"/>
              <a:buAutoNum type="arabicPeriod" startAt="12"/>
            </a:pPr>
            <a:r>
              <a:rPr lang="en-US" sz="1600" dirty="0"/>
              <a:t>After the EC2 instance started running and got a public IP address, try accessing the EC2 instance from your laptop’s terminal by running the below command:</a:t>
            </a:r>
          </a:p>
          <a:p>
            <a:pPr lvl="2"/>
            <a:r>
              <a:rPr lang="en-IN" i="1" dirty="0"/>
              <a:t>$ ssh -</a:t>
            </a:r>
            <a:r>
              <a:rPr lang="en-IN" i="1" dirty="0" err="1"/>
              <a:t>i</a:t>
            </a:r>
            <a:r>
              <a:rPr lang="en-IN" i="1" dirty="0"/>
              <a:t> ~/&lt;path-to-</a:t>
            </a:r>
            <a:r>
              <a:rPr lang="en-IN" i="1" dirty="0" err="1"/>
              <a:t>pem</a:t>
            </a:r>
            <a:r>
              <a:rPr lang="en-IN" i="1" dirty="0"/>
              <a:t>-file&gt;/&lt;</a:t>
            </a:r>
            <a:r>
              <a:rPr lang="en-IN" i="1" dirty="0" err="1"/>
              <a:t>pem</a:t>
            </a:r>
            <a:r>
              <a:rPr lang="en-IN" i="1" dirty="0"/>
              <a:t>-filename&gt;.</a:t>
            </a:r>
            <a:r>
              <a:rPr lang="en-IN" i="1" dirty="0" err="1"/>
              <a:t>pem</a:t>
            </a:r>
            <a:r>
              <a:rPr lang="en-IN" i="1" dirty="0"/>
              <a:t> ubuntu@&lt;EC2_PUBLIC_IP&gt;</a:t>
            </a:r>
            <a:endParaRPr lang="en-IN" sz="1600" i="1" dirty="0"/>
          </a:p>
        </p:txBody>
      </p:sp>
    </p:spTree>
    <p:extLst>
      <p:ext uri="{BB962C8B-B14F-4D97-AF65-F5344CB8AC3E}">
        <p14:creationId xmlns:p14="http://schemas.microsoft.com/office/powerpoint/2010/main" val="14814218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F9611411-6153-60A8-64AD-B27BBEEC6A8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C3A29F-B25B-D97F-527E-F62871A3A727}"/>
              </a:ext>
            </a:extLst>
          </p:cNvPr>
          <p:cNvSpPr txBox="1"/>
          <p:nvPr/>
        </p:nvSpPr>
        <p:spPr>
          <a:xfrm>
            <a:off x="166254" y="545583"/>
            <a:ext cx="11835245" cy="5262979"/>
          </a:xfrm>
          <a:prstGeom prst="rect">
            <a:avLst/>
          </a:prstGeom>
          <a:noFill/>
        </p:spPr>
        <p:txBody>
          <a:bodyPr wrap="square" rtlCol="0">
            <a:spAutoFit/>
          </a:bodyPr>
          <a:lstStyle/>
          <a:p>
            <a:pPr marL="342900" indent="-342900">
              <a:buFont typeface="+mj-lt"/>
              <a:buAutoNum type="arabicPeriod"/>
            </a:pPr>
            <a:r>
              <a:rPr lang="en-IN" sz="1600" dirty="0"/>
              <a:t>Once your EC2 instance is set up and running, SSH into your EC2 instance from the terminal of your laptop by running the below command:</a:t>
            </a:r>
          </a:p>
          <a:p>
            <a:pPr lvl="1"/>
            <a:r>
              <a:rPr lang="en-IN" sz="1600" i="1" dirty="0"/>
              <a:t>$ ssh -</a:t>
            </a:r>
            <a:r>
              <a:rPr lang="en-IN" sz="1600" i="1" dirty="0" err="1"/>
              <a:t>i</a:t>
            </a:r>
            <a:r>
              <a:rPr lang="en-IN" sz="1600" i="1" dirty="0"/>
              <a:t> ~/&lt;path-to-</a:t>
            </a:r>
            <a:r>
              <a:rPr lang="en-IN" sz="1600" i="1" dirty="0" err="1"/>
              <a:t>pem</a:t>
            </a:r>
            <a:r>
              <a:rPr lang="en-IN" sz="1600" i="1" dirty="0"/>
              <a:t>-file&gt;/&lt;</a:t>
            </a:r>
            <a:r>
              <a:rPr lang="en-IN" sz="1600" i="1" dirty="0" err="1"/>
              <a:t>pem</a:t>
            </a:r>
            <a:r>
              <a:rPr lang="en-IN" sz="1600" i="1" dirty="0"/>
              <a:t>-filename&gt;.</a:t>
            </a:r>
            <a:r>
              <a:rPr lang="en-IN" sz="1600" i="1" dirty="0" err="1"/>
              <a:t>pem</a:t>
            </a:r>
            <a:r>
              <a:rPr lang="en-IN" sz="1600" i="1" dirty="0"/>
              <a:t> ubuntu@&lt;EC2_PUBLIC_IP&gt;</a:t>
            </a:r>
          </a:p>
          <a:p>
            <a:pPr marL="342900" indent="-342900">
              <a:buFont typeface="+mj-lt"/>
              <a:buAutoNum type="arabicPeriod"/>
            </a:pPr>
            <a:r>
              <a:rPr lang="en-IN" sz="1600" dirty="0"/>
              <a:t>In your EC2 instance, install Java (OpenJDK 17 – a requirement of Jenkins)</a:t>
            </a:r>
          </a:p>
          <a:p>
            <a:pPr lvl="1"/>
            <a:r>
              <a:rPr lang="en-IN" sz="1600" i="1" dirty="0"/>
              <a:t>$ </a:t>
            </a:r>
            <a:r>
              <a:rPr lang="en-IN" sz="1600" i="1" dirty="0" err="1"/>
              <a:t>sudo</a:t>
            </a:r>
            <a:r>
              <a:rPr lang="en-IN" sz="1600" i="1" dirty="0"/>
              <a:t> apt update –y</a:t>
            </a:r>
          </a:p>
          <a:p>
            <a:pPr lvl="1"/>
            <a:r>
              <a:rPr lang="en-IN" sz="1600" i="1" dirty="0"/>
              <a:t>$ </a:t>
            </a:r>
            <a:r>
              <a:rPr lang="en-IN" sz="1600" i="1" dirty="0" err="1"/>
              <a:t>sudo</a:t>
            </a:r>
            <a:r>
              <a:rPr lang="en-IN" sz="1600" i="1" dirty="0"/>
              <a:t> apt install -y </a:t>
            </a:r>
            <a:r>
              <a:rPr lang="en-IN" sz="1600" i="1" dirty="0" err="1"/>
              <a:t>fontconfig</a:t>
            </a:r>
            <a:r>
              <a:rPr lang="en-IN" sz="1600" i="1" dirty="0"/>
              <a:t> openjdk-17-jdk</a:t>
            </a:r>
          </a:p>
          <a:p>
            <a:pPr marL="342900" indent="-342900">
              <a:buFont typeface="+mj-lt"/>
              <a:buAutoNum type="arabicPeriod"/>
            </a:pPr>
            <a:r>
              <a:rPr lang="en-IN" sz="1600" dirty="0"/>
              <a:t>In your EC2 instance, install Jenkins:</a:t>
            </a:r>
          </a:p>
          <a:p>
            <a:pPr lvl="1"/>
            <a:r>
              <a:rPr lang="en-IN" sz="1600" i="1" dirty="0"/>
              <a:t>$ curl -</a:t>
            </a:r>
            <a:r>
              <a:rPr lang="en-IN" sz="1600" i="1" dirty="0" err="1"/>
              <a:t>fsSL</a:t>
            </a:r>
            <a:r>
              <a:rPr lang="en-IN" sz="1600" i="1" dirty="0"/>
              <a:t> https://pkg.jenkins.io/debian-stable/jenkins.io-2023.key | </a:t>
            </a:r>
            <a:r>
              <a:rPr lang="en-IN" sz="1600" i="1" dirty="0" err="1"/>
              <a:t>sudo</a:t>
            </a:r>
            <a:r>
              <a:rPr lang="en-IN" sz="1600" i="1" dirty="0"/>
              <a:t> tee \</a:t>
            </a:r>
          </a:p>
          <a:p>
            <a:pPr lvl="1"/>
            <a:r>
              <a:rPr lang="en-IN" sz="1600" i="1" dirty="0"/>
              <a:t>  /</a:t>
            </a:r>
            <a:r>
              <a:rPr lang="en-IN" sz="1600" i="1" dirty="0" err="1"/>
              <a:t>usr</a:t>
            </a:r>
            <a:r>
              <a:rPr lang="en-IN" sz="1600" i="1" dirty="0"/>
              <a:t>/share/keyrings/</a:t>
            </a:r>
            <a:r>
              <a:rPr lang="en-IN" sz="1600" i="1" dirty="0" err="1"/>
              <a:t>jenkins-keyring.asc</a:t>
            </a:r>
            <a:r>
              <a:rPr lang="en-IN" sz="1600" i="1" dirty="0"/>
              <a:t> &gt; /dev/null</a:t>
            </a:r>
          </a:p>
          <a:p>
            <a:pPr lvl="1"/>
            <a:r>
              <a:rPr lang="en-IN" sz="1600" i="1" dirty="0"/>
              <a:t>$ echo deb [signed-by=/</a:t>
            </a:r>
            <a:r>
              <a:rPr lang="en-IN" sz="1600" i="1" dirty="0" err="1"/>
              <a:t>usr</a:t>
            </a:r>
            <a:r>
              <a:rPr lang="en-IN" sz="1600" i="1" dirty="0"/>
              <a:t>/share/keyrings/</a:t>
            </a:r>
            <a:r>
              <a:rPr lang="en-IN" sz="1600" i="1" dirty="0" err="1"/>
              <a:t>jenkins-keyring.asc</a:t>
            </a:r>
            <a:r>
              <a:rPr lang="en-IN" sz="1600" i="1" dirty="0"/>
              <a:t>] \</a:t>
            </a:r>
          </a:p>
          <a:p>
            <a:pPr lvl="1"/>
            <a:r>
              <a:rPr lang="en-IN" sz="1600" i="1" dirty="0"/>
              <a:t>  https://pkg.jenkins.io/debian-stable binary/ | </a:t>
            </a:r>
            <a:r>
              <a:rPr lang="en-IN" sz="1600" i="1" dirty="0" err="1"/>
              <a:t>sudo</a:t>
            </a:r>
            <a:r>
              <a:rPr lang="en-IN" sz="1600" i="1" dirty="0"/>
              <a:t> tee \</a:t>
            </a:r>
          </a:p>
          <a:p>
            <a:pPr lvl="1"/>
            <a:r>
              <a:rPr lang="en-IN" sz="1600" i="1" dirty="0"/>
              <a:t>  /etc/apt/</a:t>
            </a:r>
            <a:r>
              <a:rPr lang="en-IN" sz="1600" i="1" dirty="0" err="1"/>
              <a:t>sources.list.d</a:t>
            </a:r>
            <a:r>
              <a:rPr lang="en-IN" sz="1600" i="1" dirty="0"/>
              <a:t>/</a:t>
            </a:r>
            <a:r>
              <a:rPr lang="en-IN" sz="1600" i="1" dirty="0" err="1"/>
              <a:t>jenkins.list</a:t>
            </a:r>
            <a:r>
              <a:rPr lang="en-IN" sz="1600" i="1" dirty="0"/>
              <a:t> &gt; /dev/null</a:t>
            </a:r>
          </a:p>
          <a:p>
            <a:pPr lvl="1"/>
            <a:r>
              <a:rPr lang="en-IN" sz="1600" i="1" dirty="0"/>
              <a:t>$ </a:t>
            </a:r>
            <a:r>
              <a:rPr lang="en-IN" sz="1600" i="1" dirty="0" err="1"/>
              <a:t>sudo</a:t>
            </a:r>
            <a:r>
              <a:rPr lang="en-IN" sz="1600" i="1" dirty="0"/>
              <a:t> apt update –y</a:t>
            </a:r>
          </a:p>
          <a:p>
            <a:pPr lvl="1"/>
            <a:r>
              <a:rPr lang="en-IN" sz="1600" i="1" dirty="0"/>
              <a:t>$ </a:t>
            </a:r>
            <a:r>
              <a:rPr lang="es-ES" sz="1600" i="1" dirty="0"/>
              <a:t>sudo </a:t>
            </a:r>
            <a:r>
              <a:rPr lang="es-ES" sz="1600" i="1" dirty="0" err="1"/>
              <a:t>apt</a:t>
            </a:r>
            <a:r>
              <a:rPr lang="es-ES" sz="1600" i="1" dirty="0"/>
              <a:t> </a:t>
            </a:r>
            <a:r>
              <a:rPr lang="es-ES" sz="1600" i="1" dirty="0" err="1"/>
              <a:t>install</a:t>
            </a:r>
            <a:r>
              <a:rPr lang="es-ES" sz="1600" i="1" dirty="0"/>
              <a:t> -y Jenkins</a:t>
            </a:r>
          </a:p>
          <a:p>
            <a:pPr marL="342900" indent="-342900">
              <a:buFont typeface="+mj-lt"/>
              <a:buAutoNum type="arabicPeriod" startAt="4"/>
            </a:pPr>
            <a:r>
              <a:rPr lang="en-IN" sz="1600" dirty="0"/>
              <a:t>Enable and start Jenkins:</a:t>
            </a:r>
          </a:p>
          <a:p>
            <a:pPr lvl="1"/>
            <a:r>
              <a:rPr lang="en-IN" sz="1600" i="1" dirty="0"/>
              <a:t>$ </a:t>
            </a:r>
            <a:r>
              <a:rPr lang="en-IN" sz="1600" i="1" dirty="0" err="1"/>
              <a:t>sudo</a:t>
            </a:r>
            <a:r>
              <a:rPr lang="en-IN" sz="1600" i="1" dirty="0"/>
              <a:t> </a:t>
            </a:r>
            <a:r>
              <a:rPr lang="en-IN" sz="1600" i="1" dirty="0" err="1"/>
              <a:t>systemctl</a:t>
            </a:r>
            <a:r>
              <a:rPr lang="en-IN" sz="1600" i="1" dirty="0"/>
              <a:t> enable </a:t>
            </a:r>
            <a:r>
              <a:rPr lang="en-IN" sz="1600" i="1" dirty="0" err="1"/>
              <a:t>jenkins</a:t>
            </a:r>
            <a:endParaRPr lang="en-IN" sz="1600" i="1" dirty="0"/>
          </a:p>
          <a:p>
            <a:pPr lvl="1"/>
            <a:r>
              <a:rPr lang="en-IN" sz="1600" i="1" dirty="0"/>
              <a:t>$ </a:t>
            </a:r>
            <a:r>
              <a:rPr lang="en-IN" sz="1600" i="1" dirty="0" err="1"/>
              <a:t>sudo</a:t>
            </a:r>
            <a:r>
              <a:rPr lang="en-IN" sz="1600" i="1" dirty="0"/>
              <a:t> </a:t>
            </a:r>
            <a:r>
              <a:rPr lang="en-IN" sz="1600" i="1" dirty="0" err="1"/>
              <a:t>systemctl</a:t>
            </a:r>
            <a:r>
              <a:rPr lang="en-IN" sz="1600" i="1" dirty="0"/>
              <a:t> start Jenkins</a:t>
            </a:r>
          </a:p>
          <a:p>
            <a:pPr lvl="1"/>
            <a:r>
              <a:rPr lang="en-IN" sz="1600" i="1" dirty="0"/>
              <a:t>$ </a:t>
            </a:r>
            <a:r>
              <a:rPr lang="en-IN" sz="1600" i="1" dirty="0" err="1"/>
              <a:t>systemctl</a:t>
            </a:r>
            <a:r>
              <a:rPr lang="en-IN" sz="1600" i="1" dirty="0"/>
              <a:t> status Jenkins</a:t>
            </a:r>
          </a:p>
          <a:p>
            <a:pPr marL="342900" indent="-342900">
              <a:buFont typeface="+mj-lt"/>
              <a:buAutoNum type="arabicPeriod" startAt="5"/>
            </a:pPr>
            <a:r>
              <a:rPr lang="en-US" sz="1600" dirty="0"/>
              <a:t>The initial admin password is stored in:</a:t>
            </a:r>
          </a:p>
          <a:p>
            <a:pPr lvl="1"/>
            <a:r>
              <a:rPr lang="en-US" sz="1600" i="1" dirty="0"/>
              <a:t>$ </a:t>
            </a:r>
            <a:r>
              <a:rPr lang="en-US" sz="1600" i="1" dirty="0" err="1"/>
              <a:t>sudo</a:t>
            </a:r>
            <a:r>
              <a:rPr lang="en-US" sz="1600" i="1" dirty="0"/>
              <a:t> cat /var/lib/</a:t>
            </a:r>
            <a:r>
              <a:rPr lang="en-US" sz="1600" i="1" dirty="0" err="1"/>
              <a:t>jenkins</a:t>
            </a:r>
            <a:r>
              <a:rPr lang="en-US" sz="1600" i="1" dirty="0"/>
              <a:t>/secrets/</a:t>
            </a:r>
            <a:r>
              <a:rPr lang="en-US" sz="1600" i="1" dirty="0" err="1"/>
              <a:t>initialAdminPassword</a:t>
            </a:r>
            <a:endParaRPr lang="en-US" sz="1600" i="1" dirty="0"/>
          </a:p>
          <a:p>
            <a:pPr lvl="1"/>
            <a:r>
              <a:rPr lang="en-US" sz="1600" dirty="0"/>
              <a:t>Copy this password. This will be required when you access the Jenkins for the first time.</a:t>
            </a:r>
            <a:endParaRPr lang="es-ES" sz="1600" dirty="0"/>
          </a:p>
        </p:txBody>
      </p:sp>
      <p:sp>
        <p:nvSpPr>
          <p:cNvPr id="2" name="TextBox 1">
            <a:extLst>
              <a:ext uri="{FF2B5EF4-FFF2-40B4-BE49-F238E27FC236}">
                <a16:creationId xmlns:a16="http://schemas.microsoft.com/office/drawing/2014/main" id="{4CF72501-BA29-F300-703E-FB8E9315E10C}"/>
              </a:ext>
            </a:extLst>
          </p:cNvPr>
          <p:cNvSpPr txBox="1"/>
          <p:nvPr/>
        </p:nvSpPr>
        <p:spPr>
          <a:xfrm>
            <a:off x="166255" y="145473"/>
            <a:ext cx="11835245" cy="400110"/>
          </a:xfrm>
          <a:prstGeom prst="rect">
            <a:avLst/>
          </a:prstGeom>
          <a:noFill/>
        </p:spPr>
        <p:txBody>
          <a:bodyPr wrap="square" rtlCol="0">
            <a:spAutoFit/>
          </a:bodyPr>
          <a:lstStyle/>
          <a:p>
            <a:r>
              <a:rPr lang="en-IN" sz="2000" b="1" dirty="0"/>
              <a:t>[1/4] CI / CD Pipeline: EC2 / Jenkins / GitHub</a:t>
            </a:r>
          </a:p>
        </p:txBody>
      </p:sp>
    </p:spTree>
    <p:extLst>
      <p:ext uri="{BB962C8B-B14F-4D97-AF65-F5344CB8AC3E}">
        <p14:creationId xmlns:p14="http://schemas.microsoft.com/office/powerpoint/2010/main" val="38205271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259B14E2-61E3-D232-958E-1EE97EAA329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A2BB313-6747-E8D3-AC4A-FB7A24DE2511}"/>
              </a:ext>
            </a:extLst>
          </p:cNvPr>
          <p:cNvSpPr txBox="1"/>
          <p:nvPr/>
        </p:nvSpPr>
        <p:spPr>
          <a:xfrm>
            <a:off x="166254" y="545583"/>
            <a:ext cx="11835245" cy="5509200"/>
          </a:xfrm>
          <a:prstGeom prst="rect">
            <a:avLst/>
          </a:prstGeom>
          <a:noFill/>
        </p:spPr>
        <p:txBody>
          <a:bodyPr wrap="square" rtlCol="0">
            <a:spAutoFit/>
          </a:bodyPr>
          <a:lstStyle/>
          <a:p>
            <a:pPr marL="342900" indent="-342900">
              <a:buFont typeface="+mj-lt"/>
              <a:buAutoNum type="arabicPeriod" startAt="6"/>
            </a:pPr>
            <a:r>
              <a:rPr lang="en-US" sz="1600" dirty="0"/>
              <a:t>After installation, Jenkins runs on port 8080 by default. You can access it in your laptop’s browser at:</a:t>
            </a:r>
          </a:p>
          <a:p>
            <a:pPr lvl="1"/>
            <a:r>
              <a:rPr lang="en-IN" sz="1600" i="1" dirty="0"/>
              <a:t>http://&lt;your-ec2-instance-public-ip&gt;:8080</a:t>
            </a:r>
          </a:p>
          <a:p>
            <a:pPr lvl="1"/>
            <a:r>
              <a:rPr lang="en-IN" sz="1600" dirty="0"/>
              <a:t>When you hit the above URL in your laptop’s browser, the first page will ask you admin password that you got in the last step. Since this connection is not secure, running on HTTP (not on HTTPS), thus create dummy user ID, password, and submit a dummy Email ID in the Jenkins registration form. Since the EC2 instance’s port 8080 (on which Jenkins is running) is open to the whole internet (as GitHub will notify Jenkins whenever there is a push), thus anyone on the internet can access your port 8080 </a:t>
            </a:r>
            <a:r>
              <a:rPr lang="en-IN" sz="1600" b="1" u="sng" dirty="0">
                <a:solidFill>
                  <a:srgbClr val="FF0000"/>
                </a:solidFill>
              </a:rPr>
              <a:t>(⮾SECURITY ALERT)</a:t>
            </a:r>
            <a:r>
              <a:rPr lang="en-IN" sz="1600" dirty="0"/>
              <a:t>.</a:t>
            </a:r>
          </a:p>
          <a:p>
            <a:pPr marL="342900" indent="-342900">
              <a:buFont typeface="+mj-lt"/>
              <a:buAutoNum type="arabicPeriod" startAt="6"/>
            </a:pPr>
            <a:r>
              <a:rPr lang="en-IN" sz="1600" dirty="0"/>
              <a:t>Install Docker on your EC2 instance. Run the below command in the SSH terminal of your laptop:</a:t>
            </a:r>
          </a:p>
          <a:p>
            <a:pPr lvl="1"/>
            <a:r>
              <a:rPr lang="en-IN" sz="1600" i="1" dirty="0"/>
              <a:t>$ </a:t>
            </a:r>
            <a:r>
              <a:rPr lang="en-IN" sz="1600" i="1" dirty="0" err="1"/>
              <a:t>sudo</a:t>
            </a:r>
            <a:r>
              <a:rPr lang="en-IN" sz="1600" i="1" dirty="0"/>
              <a:t> apt update</a:t>
            </a:r>
          </a:p>
          <a:p>
            <a:pPr lvl="1"/>
            <a:r>
              <a:rPr lang="en-IN" sz="1600" i="1" dirty="0"/>
              <a:t>$ </a:t>
            </a:r>
            <a:r>
              <a:rPr lang="en-IN" sz="1600" i="1" dirty="0" err="1"/>
              <a:t>sudo</a:t>
            </a:r>
            <a:r>
              <a:rPr lang="en-IN" sz="1600" i="1" dirty="0"/>
              <a:t> apt install -y ca-certificates curl </a:t>
            </a:r>
            <a:r>
              <a:rPr lang="en-IN" sz="1600" i="1" dirty="0" err="1"/>
              <a:t>gnupg</a:t>
            </a:r>
            <a:endParaRPr lang="en-IN" sz="1600" i="1" dirty="0"/>
          </a:p>
          <a:p>
            <a:pPr lvl="1"/>
            <a:r>
              <a:rPr lang="en-IN" sz="1600" i="1" dirty="0"/>
              <a:t>$ </a:t>
            </a:r>
            <a:r>
              <a:rPr lang="en-IN" sz="1600" i="1" dirty="0" err="1"/>
              <a:t>sudo</a:t>
            </a:r>
            <a:r>
              <a:rPr lang="en-IN" sz="1600" i="1" dirty="0"/>
              <a:t> install -m 0755 -d /etc/apt/keyrings</a:t>
            </a:r>
          </a:p>
          <a:p>
            <a:pPr lvl="1"/>
            <a:r>
              <a:rPr lang="en-IN" sz="1600" i="1" dirty="0"/>
              <a:t>$ curl -</a:t>
            </a:r>
            <a:r>
              <a:rPr lang="en-IN" sz="1600" i="1" dirty="0" err="1"/>
              <a:t>fsSL</a:t>
            </a:r>
            <a:r>
              <a:rPr lang="en-IN" sz="1600" i="1" dirty="0"/>
              <a:t> </a:t>
            </a:r>
            <a:r>
              <a:rPr lang="en-IN" sz="1600" i="1" dirty="0">
                <a:hlinkClick r:id="rId3"/>
              </a:rPr>
              <a:t>https://download.docker.com/linux/ubuntu/gpg</a:t>
            </a:r>
            <a:r>
              <a:rPr lang="en-IN" sz="1600" i="1" dirty="0"/>
              <a:t> | </a:t>
            </a:r>
            <a:r>
              <a:rPr lang="en-IN" sz="1600" i="1" dirty="0" err="1"/>
              <a:t>sudo</a:t>
            </a:r>
            <a:r>
              <a:rPr lang="en-IN" sz="1600" i="1" dirty="0"/>
              <a:t> </a:t>
            </a:r>
            <a:r>
              <a:rPr lang="en-IN" sz="1600" i="1" dirty="0" err="1"/>
              <a:t>gpg</a:t>
            </a:r>
            <a:r>
              <a:rPr lang="en-IN" sz="1600" i="1" dirty="0"/>
              <a:t> --</a:t>
            </a:r>
            <a:r>
              <a:rPr lang="en-IN" sz="1600" i="1" dirty="0" err="1"/>
              <a:t>dearmor</a:t>
            </a:r>
            <a:r>
              <a:rPr lang="en-IN" sz="1600" i="1" dirty="0"/>
              <a:t> -o /etc/apt/keyrings/</a:t>
            </a:r>
            <a:r>
              <a:rPr lang="en-IN" sz="1600" i="1" dirty="0" err="1"/>
              <a:t>docker.gpg</a:t>
            </a:r>
            <a:endParaRPr lang="en-IN" sz="1600" i="1" dirty="0"/>
          </a:p>
          <a:p>
            <a:pPr lvl="1"/>
            <a:r>
              <a:rPr lang="en-IN" sz="1600" i="1" dirty="0"/>
              <a:t>$ echo "deb [arch=$(</a:t>
            </a:r>
            <a:r>
              <a:rPr lang="en-IN" sz="1600" i="1" dirty="0" err="1"/>
              <a:t>dpkg</a:t>
            </a:r>
            <a:r>
              <a:rPr lang="en-IN" sz="1600" i="1" dirty="0"/>
              <a:t> --print-architecture) signed-by=/etc/apt/keyrings/</a:t>
            </a:r>
            <a:r>
              <a:rPr lang="en-IN" sz="1600" i="1" dirty="0" err="1"/>
              <a:t>docker.gpg</a:t>
            </a:r>
            <a:r>
              <a:rPr lang="en-IN" sz="1600" i="1" dirty="0"/>
              <a:t>] \</a:t>
            </a:r>
          </a:p>
          <a:p>
            <a:pPr lvl="1"/>
            <a:r>
              <a:rPr lang="en-IN" sz="1600" i="1" dirty="0"/>
              <a:t>  </a:t>
            </a:r>
            <a:r>
              <a:rPr lang="en-IN" sz="1600" i="1" dirty="0">
                <a:hlinkClick r:id="rId4"/>
              </a:rPr>
              <a:t>https://download.docker.com/linux/ubuntu</a:t>
            </a:r>
            <a:r>
              <a:rPr lang="en-IN" sz="1600" i="1" dirty="0"/>
              <a:t> $(</a:t>
            </a:r>
            <a:r>
              <a:rPr lang="en-IN" sz="1600" i="1" dirty="0" err="1"/>
              <a:t>lsb_release</a:t>
            </a:r>
            <a:r>
              <a:rPr lang="en-IN" sz="1600" i="1" dirty="0"/>
              <a:t> -cs) stable" | \</a:t>
            </a:r>
          </a:p>
          <a:p>
            <a:pPr lvl="1"/>
            <a:r>
              <a:rPr lang="en-IN" sz="1600" i="1" dirty="0"/>
              <a:t>  </a:t>
            </a:r>
            <a:r>
              <a:rPr lang="en-IN" sz="1600" i="1" dirty="0" err="1"/>
              <a:t>sudo</a:t>
            </a:r>
            <a:r>
              <a:rPr lang="en-IN" sz="1600" i="1" dirty="0"/>
              <a:t> tee /etc/apt/</a:t>
            </a:r>
            <a:r>
              <a:rPr lang="en-IN" sz="1600" i="1" dirty="0" err="1"/>
              <a:t>sources.list.d</a:t>
            </a:r>
            <a:r>
              <a:rPr lang="en-IN" sz="1600" i="1" dirty="0"/>
              <a:t>/</a:t>
            </a:r>
            <a:r>
              <a:rPr lang="en-IN" sz="1600" i="1" dirty="0" err="1"/>
              <a:t>docker.list</a:t>
            </a:r>
            <a:r>
              <a:rPr lang="en-IN" sz="1600" i="1" dirty="0"/>
              <a:t> &gt; /dev/null</a:t>
            </a:r>
          </a:p>
          <a:p>
            <a:pPr lvl="1"/>
            <a:r>
              <a:rPr lang="en-IN" sz="1600" i="1" dirty="0"/>
              <a:t>$ </a:t>
            </a:r>
            <a:r>
              <a:rPr lang="en-IN" sz="1600" i="1" dirty="0" err="1"/>
              <a:t>sudo</a:t>
            </a:r>
            <a:r>
              <a:rPr lang="en-IN" sz="1600" i="1" dirty="0"/>
              <a:t> apt update</a:t>
            </a:r>
          </a:p>
          <a:p>
            <a:pPr lvl="1"/>
            <a:r>
              <a:rPr lang="en-IN" sz="1600" i="1" dirty="0"/>
              <a:t>$ </a:t>
            </a:r>
            <a:r>
              <a:rPr lang="en-IN" sz="1600" i="1" dirty="0" err="1"/>
              <a:t>sudo</a:t>
            </a:r>
            <a:r>
              <a:rPr lang="en-IN" sz="1600" i="1" dirty="0"/>
              <a:t> apt install -y docker-</a:t>
            </a:r>
            <a:r>
              <a:rPr lang="en-IN" sz="1600" i="1" dirty="0" err="1"/>
              <a:t>ce</a:t>
            </a:r>
            <a:r>
              <a:rPr lang="en-IN" sz="1600" i="1" dirty="0"/>
              <a:t> docker-</a:t>
            </a:r>
            <a:r>
              <a:rPr lang="en-IN" sz="1600" i="1" dirty="0" err="1"/>
              <a:t>ce</a:t>
            </a:r>
            <a:r>
              <a:rPr lang="en-IN" sz="1600" i="1" dirty="0"/>
              <a:t>-cli containerd.io</a:t>
            </a:r>
          </a:p>
          <a:p>
            <a:pPr marL="342900" indent="-342900">
              <a:buFont typeface="+mj-lt"/>
              <a:buAutoNum type="arabicPeriod" startAt="8"/>
            </a:pPr>
            <a:r>
              <a:rPr lang="en-IN" sz="1600" dirty="0"/>
              <a:t>Allow </a:t>
            </a:r>
            <a:r>
              <a:rPr lang="en-IN" sz="1600" dirty="0" err="1"/>
              <a:t>jenkins</a:t>
            </a:r>
            <a:r>
              <a:rPr lang="en-IN" sz="1600" dirty="0"/>
              <a:t> user to run docker, then restart Jenkins:</a:t>
            </a:r>
          </a:p>
          <a:p>
            <a:pPr lvl="1"/>
            <a:r>
              <a:rPr lang="en-IN" sz="1600" i="1" dirty="0"/>
              <a:t>$ </a:t>
            </a:r>
            <a:r>
              <a:rPr lang="en-IN" sz="1600" i="1" dirty="0" err="1"/>
              <a:t>sudo</a:t>
            </a:r>
            <a:r>
              <a:rPr lang="en-IN" sz="1600" i="1" dirty="0"/>
              <a:t> </a:t>
            </a:r>
            <a:r>
              <a:rPr lang="en-IN" sz="1600" i="1" dirty="0" err="1"/>
              <a:t>usermod</a:t>
            </a:r>
            <a:r>
              <a:rPr lang="en-IN" sz="1600" i="1" dirty="0"/>
              <a:t> -</a:t>
            </a:r>
            <a:r>
              <a:rPr lang="en-IN" sz="1600" i="1" dirty="0" err="1"/>
              <a:t>aG</a:t>
            </a:r>
            <a:r>
              <a:rPr lang="en-IN" sz="1600" i="1" dirty="0"/>
              <a:t> docker </a:t>
            </a:r>
            <a:r>
              <a:rPr lang="en-IN" sz="1600" i="1" dirty="0" err="1"/>
              <a:t>jenkins</a:t>
            </a:r>
            <a:endParaRPr lang="en-IN" sz="1600" i="1" dirty="0"/>
          </a:p>
          <a:p>
            <a:pPr lvl="1"/>
            <a:r>
              <a:rPr lang="en-IN" sz="1600" i="1" dirty="0"/>
              <a:t>$ </a:t>
            </a:r>
            <a:r>
              <a:rPr lang="en-IN" sz="1600" i="1" dirty="0" err="1"/>
              <a:t>sudo</a:t>
            </a:r>
            <a:r>
              <a:rPr lang="en-IN" sz="1600" i="1" dirty="0"/>
              <a:t> </a:t>
            </a:r>
            <a:r>
              <a:rPr lang="en-IN" sz="1600" i="1" dirty="0" err="1"/>
              <a:t>systemctl</a:t>
            </a:r>
            <a:r>
              <a:rPr lang="en-IN" sz="1600" i="1" dirty="0"/>
              <a:t> restart </a:t>
            </a:r>
            <a:r>
              <a:rPr lang="en-IN" sz="1600" i="1" dirty="0" err="1"/>
              <a:t>jenkins</a:t>
            </a:r>
            <a:endParaRPr lang="en-IN" sz="1600" i="1" dirty="0"/>
          </a:p>
          <a:p>
            <a:pPr marL="342900" indent="-342900">
              <a:buFont typeface="+mj-lt"/>
              <a:buAutoNum type="arabicPeriod" startAt="8"/>
            </a:pPr>
            <a:r>
              <a:rPr lang="en-IN" sz="1600" dirty="0"/>
              <a:t>In the Jenkins dashboard running in the browser of your laptop, ensure that the following Jenkins plugins are installed:</a:t>
            </a:r>
          </a:p>
          <a:p>
            <a:pPr lvl="1"/>
            <a:r>
              <a:rPr lang="en-IN" sz="1600" dirty="0"/>
              <a:t>(1) Pipeline    (2) GitHub Integration    (3) Docker pipeline    (4) Git    (5) GitHub</a:t>
            </a:r>
          </a:p>
        </p:txBody>
      </p:sp>
      <p:sp>
        <p:nvSpPr>
          <p:cNvPr id="2" name="TextBox 1">
            <a:extLst>
              <a:ext uri="{FF2B5EF4-FFF2-40B4-BE49-F238E27FC236}">
                <a16:creationId xmlns:a16="http://schemas.microsoft.com/office/drawing/2014/main" id="{07B50B24-98E6-5EBC-10BB-C6B46D40ABB6}"/>
              </a:ext>
            </a:extLst>
          </p:cNvPr>
          <p:cNvSpPr txBox="1"/>
          <p:nvPr/>
        </p:nvSpPr>
        <p:spPr>
          <a:xfrm>
            <a:off x="166255" y="145473"/>
            <a:ext cx="11835245" cy="400110"/>
          </a:xfrm>
          <a:prstGeom prst="rect">
            <a:avLst/>
          </a:prstGeom>
          <a:noFill/>
        </p:spPr>
        <p:txBody>
          <a:bodyPr wrap="square" rtlCol="0">
            <a:spAutoFit/>
          </a:bodyPr>
          <a:lstStyle/>
          <a:p>
            <a:r>
              <a:rPr lang="en-IN" sz="2000" b="1" dirty="0"/>
              <a:t>[2/4] CI / CD Pipeline: EC2 / Jenkins / GitHub</a:t>
            </a:r>
          </a:p>
        </p:txBody>
      </p:sp>
    </p:spTree>
    <p:extLst>
      <p:ext uri="{BB962C8B-B14F-4D97-AF65-F5344CB8AC3E}">
        <p14:creationId xmlns:p14="http://schemas.microsoft.com/office/powerpoint/2010/main" val="15514346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8F109D91-CD8B-9E60-B2FA-0C1FC2DD76E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AA4ACBDF-67CF-D506-2FAA-268E88E91EF6}"/>
              </a:ext>
            </a:extLst>
          </p:cNvPr>
          <p:cNvSpPr txBox="1"/>
          <p:nvPr/>
        </p:nvSpPr>
        <p:spPr>
          <a:xfrm>
            <a:off x="166254" y="545583"/>
            <a:ext cx="5237019" cy="6247864"/>
          </a:xfrm>
          <a:prstGeom prst="rect">
            <a:avLst/>
          </a:prstGeom>
          <a:noFill/>
        </p:spPr>
        <p:txBody>
          <a:bodyPr wrap="square" rtlCol="0">
            <a:spAutoFit/>
          </a:bodyPr>
          <a:lstStyle/>
          <a:p>
            <a:pPr marL="342900" indent="-342900">
              <a:buFont typeface="+mj-lt"/>
              <a:buAutoNum type="arabicPeriod" startAt="10"/>
            </a:pPr>
            <a:r>
              <a:rPr lang="en-US" sz="1600" dirty="0"/>
              <a:t>Create a pipeline job:</a:t>
            </a:r>
          </a:p>
          <a:p>
            <a:pPr marL="800100" lvl="1" indent="-342900">
              <a:buFont typeface="Courier New" panose="02070309020205020404" pitchFamily="49" charset="0"/>
              <a:buChar char="o"/>
            </a:pPr>
            <a:r>
              <a:rPr lang="en-US" sz="1600" b="1" dirty="0"/>
              <a:t>New Item → Pipeline</a:t>
            </a:r>
          </a:p>
          <a:p>
            <a:pPr marL="800100" lvl="1" indent="-342900">
              <a:buFont typeface="Courier New" panose="02070309020205020404" pitchFamily="49" charset="0"/>
              <a:buChar char="o"/>
            </a:pPr>
            <a:r>
              <a:rPr lang="en-US" sz="1600" b="1" dirty="0"/>
              <a:t>General</a:t>
            </a:r>
            <a:r>
              <a:rPr lang="en-US" sz="1600" dirty="0"/>
              <a:t>: tick </a:t>
            </a:r>
            <a:r>
              <a:rPr lang="en-US" sz="1600" b="1" dirty="0"/>
              <a:t>GitHub Project</a:t>
            </a:r>
            <a:r>
              <a:rPr lang="en-US" sz="1600" dirty="0"/>
              <a:t> and paste repo URL</a:t>
            </a:r>
          </a:p>
          <a:p>
            <a:pPr marL="800100" lvl="1" indent="-342900">
              <a:buFont typeface="Courier New" panose="02070309020205020404" pitchFamily="49" charset="0"/>
              <a:buChar char="o"/>
            </a:pPr>
            <a:r>
              <a:rPr lang="en-US" sz="1600" b="1" dirty="0"/>
              <a:t>Build Trigger</a:t>
            </a:r>
            <a:r>
              <a:rPr lang="en-US" sz="1600" dirty="0"/>
              <a:t>: check </a:t>
            </a:r>
            <a:r>
              <a:rPr lang="en-US" sz="1600" b="1" dirty="0"/>
              <a:t>GitHub hook trigger for </a:t>
            </a:r>
            <a:r>
              <a:rPr lang="en-US" sz="1600" b="1" dirty="0" err="1"/>
              <a:t>GITScm</a:t>
            </a:r>
            <a:r>
              <a:rPr lang="en-US" sz="1600" b="1" dirty="0"/>
              <a:t> Polling</a:t>
            </a:r>
          </a:p>
          <a:p>
            <a:pPr marL="800100" lvl="1" indent="-342900">
              <a:buFont typeface="Courier New" panose="02070309020205020404" pitchFamily="49" charset="0"/>
              <a:buChar char="o"/>
            </a:pPr>
            <a:r>
              <a:rPr lang="en-US" sz="1600" b="1" dirty="0"/>
              <a:t>Pipeline</a:t>
            </a:r>
            <a:r>
              <a:rPr lang="en-US" sz="1600" dirty="0"/>
              <a:t>: Choose </a:t>
            </a:r>
            <a:r>
              <a:rPr lang="en-US" sz="1600" b="1" dirty="0"/>
              <a:t>Pipeline script from SCM</a:t>
            </a:r>
          </a:p>
          <a:p>
            <a:pPr marL="1257300" lvl="2" indent="-342900">
              <a:buFont typeface="Wingdings" panose="05000000000000000000" pitchFamily="2" charset="2"/>
              <a:buChar char="§"/>
            </a:pPr>
            <a:r>
              <a:rPr lang="en-US" sz="1600" dirty="0"/>
              <a:t>SCM: </a:t>
            </a:r>
            <a:r>
              <a:rPr lang="en-US" sz="1600" b="1" dirty="0"/>
              <a:t>Git</a:t>
            </a:r>
          </a:p>
          <a:p>
            <a:pPr marL="1257300" lvl="2" indent="-342900">
              <a:buFont typeface="Wingdings" panose="05000000000000000000" pitchFamily="2" charset="2"/>
              <a:buChar char="§"/>
            </a:pPr>
            <a:r>
              <a:rPr lang="en-US" sz="1600" dirty="0"/>
              <a:t>Repo URL: &lt;your GitHub repo URL&gt;</a:t>
            </a:r>
          </a:p>
          <a:p>
            <a:pPr marL="1257300" lvl="2" indent="-342900">
              <a:buFont typeface="Wingdings" panose="05000000000000000000" pitchFamily="2" charset="2"/>
              <a:buChar char="§"/>
            </a:pPr>
            <a:r>
              <a:rPr lang="en-US" sz="1600" dirty="0"/>
              <a:t>Credentials: Select if private</a:t>
            </a:r>
          </a:p>
          <a:p>
            <a:pPr marL="1257300" lvl="2" indent="-342900">
              <a:buFont typeface="Wingdings" panose="05000000000000000000" pitchFamily="2" charset="2"/>
              <a:buChar char="§"/>
            </a:pPr>
            <a:r>
              <a:rPr lang="en-US" sz="1600" dirty="0"/>
              <a:t>Branches: </a:t>
            </a:r>
            <a:r>
              <a:rPr lang="en-US" sz="1600" b="1" dirty="0"/>
              <a:t>*/main</a:t>
            </a:r>
            <a:endParaRPr lang="en-US" sz="1600" dirty="0"/>
          </a:p>
          <a:p>
            <a:pPr marL="1257300" lvl="2" indent="-342900">
              <a:buFont typeface="Wingdings" panose="05000000000000000000" pitchFamily="2" charset="2"/>
              <a:buChar char="§"/>
            </a:pPr>
            <a:r>
              <a:rPr lang="en-US" sz="1600" dirty="0"/>
              <a:t>Script path:</a:t>
            </a:r>
            <a:r>
              <a:rPr lang="en-US" sz="1600" b="1" dirty="0"/>
              <a:t> </a:t>
            </a:r>
            <a:r>
              <a:rPr lang="en-US" sz="1600" b="1" dirty="0" err="1"/>
              <a:t>Jenkinsfile</a:t>
            </a:r>
            <a:endParaRPr lang="en-US" sz="1600" b="1" dirty="0"/>
          </a:p>
          <a:p>
            <a:pPr marL="342900" indent="-342900">
              <a:buFont typeface="+mj-lt"/>
              <a:buAutoNum type="arabicPeriod" startAt="11"/>
            </a:pPr>
            <a:r>
              <a:rPr lang="en-US" sz="1600" dirty="0"/>
              <a:t>GitHub: add the Webhook</a:t>
            </a:r>
          </a:p>
          <a:p>
            <a:pPr lvl="1"/>
            <a:r>
              <a:rPr lang="en-US" sz="1600" dirty="0"/>
              <a:t>Repo → Settings → Webhooks → Add webhook</a:t>
            </a:r>
          </a:p>
          <a:p>
            <a:pPr marL="742950" lvl="1" indent="-285750">
              <a:buFont typeface="Courier New" panose="02070309020205020404" pitchFamily="49" charset="0"/>
              <a:buChar char="o"/>
            </a:pPr>
            <a:r>
              <a:rPr lang="en-US" sz="1600" dirty="0"/>
              <a:t>Payload URL: http://&lt;EC2_PUBLIC_IP&gt;:8080/github-webhook/</a:t>
            </a:r>
          </a:p>
          <a:p>
            <a:pPr marL="742950" lvl="1" indent="-285750">
              <a:buFont typeface="Courier New" panose="02070309020205020404" pitchFamily="49" charset="0"/>
              <a:buChar char="o"/>
            </a:pPr>
            <a:r>
              <a:rPr lang="en-US" sz="1600" dirty="0"/>
              <a:t>Content type: application/</a:t>
            </a:r>
            <a:r>
              <a:rPr lang="en-US" sz="1600" dirty="0" err="1"/>
              <a:t>json</a:t>
            </a:r>
            <a:endParaRPr lang="en-US" sz="1600" dirty="0"/>
          </a:p>
          <a:p>
            <a:pPr marL="742950" lvl="1" indent="-285750">
              <a:buFont typeface="Courier New" panose="02070309020205020404" pitchFamily="49" charset="0"/>
              <a:buChar char="o"/>
            </a:pPr>
            <a:r>
              <a:rPr lang="en-US" sz="1600" dirty="0"/>
              <a:t>Which events?: “Just the push event” (or “Let me select” → Push)</a:t>
            </a:r>
          </a:p>
          <a:p>
            <a:pPr marL="742950" lvl="1" indent="-285750">
              <a:buFont typeface="Courier New" panose="02070309020205020404" pitchFamily="49" charset="0"/>
              <a:buChar char="o"/>
            </a:pPr>
            <a:r>
              <a:rPr lang="en-US" sz="1600" dirty="0"/>
              <a:t>Active: checked → Add webhook</a:t>
            </a:r>
          </a:p>
          <a:p>
            <a:pPr marL="742950" lvl="1" indent="-285750">
              <a:buFont typeface="Courier New" panose="02070309020205020404" pitchFamily="49" charset="0"/>
              <a:buChar char="o"/>
            </a:pPr>
            <a:r>
              <a:rPr lang="en-US" sz="1600" dirty="0"/>
              <a:t>Back in Jenkins job (or system config), set the same secret:</a:t>
            </a:r>
          </a:p>
          <a:p>
            <a:pPr marL="742950" lvl="1" indent="-285750">
              <a:buFont typeface="Courier New" panose="02070309020205020404" pitchFamily="49" charset="0"/>
              <a:buChar char="o"/>
            </a:pPr>
            <a:r>
              <a:rPr lang="en-US" sz="1600" dirty="0"/>
              <a:t>Manage Jenkins → Configure System → GitHub → Add endpoint → set Secret; or in the job under Build Triggers if shown.</a:t>
            </a:r>
          </a:p>
        </p:txBody>
      </p:sp>
      <p:sp>
        <p:nvSpPr>
          <p:cNvPr id="2" name="TextBox 1">
            <a:extLst>
              <a:ext uri="{FF2B5EF4-FFF2-40B4-BE49-F238E27FC236}">
                <a16:creationId xmlns:a16="http://schemas.microsoft.com/office/drawing/2014/main" id="{50E40D87-73C0-8493-D06E-747B3F2ED165}"/>
              </a:ext>
            </a:extLst>
          </p:cNvPr>
          <p:cNvSpPr txBox="1"/>
          <p:nvPr/>
        </p:nvSpPr>
        <p:spPr>
          <a:xfrm>
            <a:off x="166255" y="145473"/>
            <a:ext cx="11835245" cy="400110"/>
          </a:xfrm>
          <a:prstGeom prst="rect">
            <a:avLst/>
          </a:prstGeom>
          <a:noFill/>
        </p:spPr>
        <p:txBody>
          <a:bodyPr wrap="square" rtlCol="0">
            <a:spAutoFit/>
          </a:bodyPr>
          <a:lstStyle/>
          <a:p>
            <a:r>
              <a:rPr lang="en-IN" sz="2000" b="1" dirty="0"/>
              <a:t>[3/4] CI / CD Pipeline: EC2 / Jenkins / GitHub</a:t>
            </a:r>
          </a:p>
        </p:txBody>
      </p:sp>
      <p:sp>
        <p:nvSpPr>
          <p:cNvPr id="3" name="Rectangle 2">
            <a:extLst>
              <a:ext uri="{FF2B5EF4-FFF2-40B4-BE49-F238E27FC236}">
                <a16:creationId xmlns:a16="http://schemas.microsoft.com/office/drawing/2014/main" id="{D85ED211-2F3B-BA9E-4C13-92BEE50A48ED}"/>
              </a:ext>
            </a:extLst>
          </p:cNvPr>
          <p:cNvSpPr/>
          <p:nvPr/>
        </p:nvSpPr>
        <p:spPr>
          <a:xfrm>
            <a:off x="5403274" y="545583"/>
            <a:ext cx="6598226" cy="6166944"/>
          </a:xfrm>
          <a:prstGeom prst="rect">
            <a:avLst/>
          </a:prstGeom>
          <a:solidFill>
            <a:schemeClr val="lt1">
              <a:alpha val="0"/>
            </a:schemeClr>
          </a:solidFill>
          <a:ln/>
        </p:spPr>
        <p:style>
          <a:lnRef idx="2">
            <a:schemeClr val="dk1"/>
          </a:lnRef>
          <a:fillRef idx="1">
            <a:schemeClr val="lt1"/>
          </a:fillRef>
          <a:effectRef idx="0">
            <a:schemeClr val="dk1"/>
          </a:effectRef>
          <a:fontRef idx="minor">
            <a:schemeClr val="dk1"/>
          </a:fontRef>
        </p:style>
        <p:txBody>
          <a:bodyPr rtlCol="0" anchor="t"/>
          <a:lstStyle/>
          <a:p>
            <a:pPr algn="ctr"/>
            <a:r>
              <a:rPr lang="en-IN" sz="1600" b="1" dirty="0" err="1">
                <a:solidFill>
                  <a:schemeClr val="tx1"/>
                </a:solidFill>
              </a:rPr>
              <a:t>Jenkinsfile</a:t>
            </a:r>
            <a:endParaRPr lang="en-IN" sz="1600" b="1" dirty="0">
              <a:solidFill>
                <a:schemeClr val="tx1"/>
              </a:solidFill>
            </a:endParaRPr>
          </a:p>
          <a:p>
            <a:r>
              <a:rPr lang="en-IN" sz="800" dirty="0">
                <a:solidFill>
                  <a:schemeClr val="tx1"/>
                </a:solidFill>
              </a:rPr>
              <a:t>pipeline {</a:t>
            </a:r>
          </a:p>
          <a:p>
            <a:r>
              <a:rPr lang="en-IN" sz="800" dirty="0">
                <a:solidFill>
                  <a:schemeClr val="tx1"/>
                </a:solidFill>
              </a:rPr>
              <a:t>  agent any</a:t>
            </a:r>
          </a:p>
          <a:p>
            <a:r>
              <a:rPr lang="en-IN" sz="800" dirty="0">
                <a:solidFill>
                  <a:schemeClr val="tx1"/>
                </a:solidFill>
              </a:rPr>
              <a:t>  environment {</a:t>
            </a:r>
          </a:p>
          <a:p>
            <a:r>
              <a:rPr lang="en-IN" sz="800" dirty="0">
                <a:solidFill>
                  <a:schemeClr val="tx1"/>
                </a:solidFill>
              </a:rPr>
              <a:t>    APP_NAME = '</a:t>
            </a:r>
            <a:r>
              <a:rPr lang="en-IN" sz="800" dirty="0" err="1">
                <a:solidFill>
                  <a:schemeClr val="tx1"/>
                </a:solidFill>
              </a:rPr>
              <a:t>myapp</a:t>
            </a:r>
            <a:r>
              <a:rPr lang="en-IN" sz="800" dirty="0">
                <a:solidFill>
                  <a:schemeClr val="tx1"/>
                </a:solidFill>
              </a:rPr>
              <a:t>'</a:t>
            </a:r>
          </a:p>
          <a:p>
            <a:r>
              <a:rPr lang="en-IN" sz="800" dirty="0">
                <a:solidFill>
                  <a:schemeClr val="tx1"/>
                </a:solidFill>
              </a:rPr>
              <a:t>    APP_PORT = '3000'            // change to your app port</a:t>
            </a:r>
          </a:p>
          <a:p>
            <a:r>
              <a:rPr lang="en-IN" sz="800" dirty="0">
                <a:solidFill>
                  <a:schemeClr val="tx1"/>
                </a:solidFill>
              </a:rPr>
              <a:t>    IMAGE = "</a:t>
            </a:r>
            <a:r>
              <a:rPr lang="en-IN" sz="800" dirty="0" err="1">
                <a:solidFill>
                  <a:schemeClr val="tx1"/>
                </a:solidFill>
              </a:rPr>
              <a:t>myapp</a:t>
            </a:r>
            <a:r>
              <a:rPr lang="en-IN" sz="800" dirty="0">
                <a:solidFill>
                  <a:schemeClr val="tx1"/>
                </a:solidFill>
              </a:rPr>
              <a:t>:${</a:t>
            </a:r>
            <a:r>
              <a:rPr lang="en-IN" sz="800" dirty="0" err="1">
                <a:solidFill>
                  <a:schemeClr val="tx1"/>
                </a:solidFill>
              </a:rPr>
              <a:t>env.GIT_COMMIT.take</a:t>
            </a:r>
            <a:r>
              <a:rPr lang="en-IN" sz="800" dirty="0">
                <a:solidFill>
                  <a:schemeClr val="tx1"/>
                </a:solidFill>
              </a:rPr>
              <a:t>(7)}"</a:t>
            </a:r>
          </a:p>
          <a:p>
            <a:r>
              <a:rPr lang="en-IN" sz="800" dirty="0">
                <a:solidFill>
                  <a:schemeClr val="tx1"/>
                </a:solidFill>
              </a:rPr>
              <a:t>  }</a:t>
            </a:r>
          </a:p>
          <a:p>
            <a:r>
              <a:rPr lang="en-IN" sz="800" dirty="0">
                <a:solidFill>
                  <a:schemeClr val="tx1"/>
                </a:solidFill>
              </a:rPr>
              <a:t>  triggers { </a:t>
            </a:r>
            <a:r>
              <a:rPr lang="en-IN" sz="800" dirty="0" err="1">
                <a:solidFill>
                  <a:schemeClr val="tx1"/>
                </a:solidFill>
              </a:rPr>
              <a:t>pollSCM</a:t>
            </a:r>
            <a:r>
              <a:rPr lang="en-IN" sz="800" dirty="0">
                <a:solidFill>
                  <a:schemeClr val="tx1"/>
                </a:solidFill>
              </a:rPr>
              <a:t>('') } // optional; GitHub hook is primary trigger</a:t>
            </a:r>
          </a:p>
          <a:p>
            <a:r>
              <a:rPr lang="en-IN" sz="800" dirty="0">
                <a:solidFill>
                  <a:schemeClr val="tx1"/>
                </a:solidFill>
              </a:rPr>
              <a:t>  stages {</a:t>
            </a:r>
          </a:p>
          <a:p>
            <a:r>
              <a:rPr lang="en-IN" sz="800" dirty="0">
                <a:solidFill>
                  <a:schemeClr val="tx1"/>
                </a:solidFill>
              </a:rPr>
              <a:t>    stage('Checkout') {</a:t>
            </a:r>
          </a:p>
          <a:p>
            <a:r>
              <a:rPr lang="en-IN" sz="800" dirty="0">
                <a:solidFill>
                  <a:schemeClr val="tx1"/>
                </a:solidFill>
              </a:rPr>
              <a:t>      steps { checkout </a:t>
            </a:r>
            <a:r>
              <a:rPr lang="en-IN" sz="800" dirty="0" err="1">
                <a:solidFill>
                  <a:schemeClr val="tx1"/>
                </a:solidFill>
              </a:rPr>
              <a:t>scm</a:t>
            </a:r>
            <a:r>
              <a:rPr lang="en-IN" sz="800" dirty="0">
                <a:solidFill>
                  <a:schemeClr val="tx1"/>
                </a:solidFill>
              </a:rPr>
              <a:t> }</a:t>
            </a:r>
          </a:p>
          <a:p>
            <a:r>
              <a:rPr lang="en-IN" sz="800" dirty="0">
                <a:solidFill>
                  <a:schemeClr val="tx1"/>
                </a:solidFill>
              </a:rPr>
              <a:t>    }</a:t>
            </a:r>
          </a:p>
          <a:p>
            <a:r>
              <a:rPr lang="en-IN" sz="800" dirty="0">
                <a:solidFill>
                  <a:schemeClr val="tx1"/>
                </a:solidFill>
              </a:rPr>
              <a:t>    stage('Build image') {</a:t>
            </a:r>
          </a:p>
          <a:p>
            <a:r>
              <a:rPr lang="en-IN" sz="800" dirty="0">
                <a:solidFill>
                  <a:schemeClr val="tx1"/>
                </a:solidFill>
              </a:rPr>
              <a:t>      steps {</a:t>
            </a:r>
          </a:p>
          <a:p>
            <a:r>
              <a:rPr lang="en-IN" sz="800" dirty="0">
                <a:solidFill>
                  <a:schemeClr val="tx1"/>
                </a:solidFill>
              </a:rPr>
              <a:t>        </a:t>
            </a:r>
            <a:r>
              <a:rPr lang="en-IN" sz="800" dirty="0" err="1">
                <a:solidFill>
                  <a:schemeClr val="tx1"/>
                </a:solidFill>
              </a:rPr>
              <a:t>sh</a:t>
            </a:r>
            <a:r>
              <a:rPr lang="en-IN" sz="800" dirty="0">
                <a:solidFill>
                  <a:schemeClr val="tx1"/>
                </a:solidFill>
              </a:rPr>
              <a:t> '''</a:t>
            </a:r>
          </a:p>
          <a:p>
            <a:r>
              <a:rPr lang="en-IN" sz="800" dirty="0">
                <a:solidFill>
                  <a:schemeClr val="tx1"/>
                </a:solidFill>
              </a:rPr>
              <a:t>          docker build -t $IMAGE .</a:t>
            </a:r>
          </a:p>
          <a:p>
            <a:r>
              <a:rPr lang="en-IN" sz="800" dirty="0">
                <a:solidFill>
                  <a:schemeClr val="tx1"/>
                </a:solidFill>
              </a:rPr>
              <a:t>        '''</a:t>
            </a:r>
          </a:p>
          <a:p>
            <a:r>
              <a:rPr lang="en-IN" sz="800" dirty="0">
                <a:solidFill>
                  <a:schemeClr val="tx1"/>
                </a:solidFill>
              </a:rPr>
              <a:t>      }</a:t>
            </a:r>
          </a:p>
          <a:p>
            <a:r>
              <a:rPr lang="en-IN" sz="800" dirty="0">
                <a:solidFill>
                  <a:schemeClr val="tx1"/>
                </a:solidFill>
              </a:rPr>
              <a:t>    }</a:t>
            </a:r>
          </a:p>
          <a:p>
            <a:r>
              <a:rPr lang="en-IN" sz="800" dirty="0">
                <a:solidFill>
                  <a:schemeClr val="tx1"/>
                </a:solidFill>
              </a:rPr>
              <a:t>    stage('Stop old container') {</a:t>
            </a:r>
          </a:p>
          <a:p>
            <a:r>
              <a:rPr lang="en-IN" sz="800" dirty="0">
                <a:solidFill>
                  <a:schemeClr val="tx1"/>
                </a:solidFill>
              </a:rPr>
              <a:t>      steps {</a:t>
            </a:r>
          </a:p>
          <a:p>
            <a:r>
              <a:rPr lang="en-IN" sz="800" dirty="0">
                <a:solidFill>
                  <a:schemeClr val="tx1"/>
                </a:solidFill>
              </a:rPr>
              <a:t>        </a:t>
            </a:r>
            <a:r>
              <a:rPr lang="en-IN" sz="800" dirty="0" err="1">
                <a:solidFill>
                  <a:schemeClr val="tx1"/>
                </a:solidFill>
              </a:rPr>
              <a:t>sh</a:t>
            </a:r>
            <a:r>
              <a:rPr lang="en-IN" sz="800" dirty="0">
                <a:solidFill>
                  <a:schemeClr val="tx1"/>
                </a:solidFill>
              </a:rPr>
              <a:t> '''</a:t>
            </a:r>
          </a:p>
          <a:p>
            <a:r>
              <a:rPr lang="en-IN" sz="800" dirty="0">
                <a:solidFill>
                  <a:schemeClr val="tx1"/>
                </a:solidFill>
              </a:rPr>
              <a:t>          if [ "$(docker </a:t>
            </a:r>
            <a:r>
              <a:rPr lang="en-IN" sz="800" dirty="0" err="1">
                <a:solidFill>
                  <a:schemeClr val="tx1"/>
                </a:solidFill>
              </a:rPr>
              <a:t>ps</a:t>
            </a:r>
            <a:r>
              <a:rPr lang="en-IN" sz="800" dirty="0">
                <a:solidFill>
                  <a:schemeClr val="tx1"/>
                </a:solidFill>
              </a:rPr>
              <a:t> -q -f name=$APP_NAME)" ]; then docker stop $APP_NAME; fi</a:t>
            </a:r>
          </a:p>
          <a:p>
            <a:r>
              <a:rPr lang="en-IN" sz="800" dirty="0">
                <a:solidFill>
                  <a:schemeClr val="tx1"/>
                </a:solidFill>
              </a:rPr>
              <a:t>          if [ "$(docker </a:t>
            </a:r>
            <a:r>
              <a:rPr lang="en-IN" sz="800" dirty="0" err="1">
                <a:solidFill>
                  <a:schemeClr val="tx1"/>
                </a:solidFill>
              </a:rPr>
              <a:t>ps</a:t>
            </a:r>
            <a:r>
              <a:rPr lang="en-IN" sz="800" dirty="0">
                <a:solidFill>
                  <a:schemeClr val="tx1"/>
                </a:solidFill>
              </a:rPr>
              <a:t> -</a:t>
            </a:r>
            <a:r>
              <a:rPr lang="en-IN" sz="800" dirty="0" err="1">
                <a:solidFill>
                  <a:schemeClr val="tx1"/>
                </a:solidFill>
              </a:rPr>
              <a:t>aq</a:t>
            </a:r>
            <a:r>
              <a:rPr lang="en-IN" sz="800" dirty="0">
                <a:solidFill>
                  <a:schemeClr val="tx1"/>
                </a:solidFill>
              </a:rPr>
              <a:t> -f name=$APP_NAME)" ]; then docker rm $APP_NAME; fi</a:t>
            </a:r>
          </a:p>
          <a:p>
            <a:r>
              <a:rPr lang="en-IN" sz="800" dirty="0">
                <a:solidFill>
                  <a:schemeClr val="tx1"/>
                </a:solidFill>
              </a:rPr>
              <a:t>        '''</a:t>
            </a:r>
          </a:p>
          <a:p>
            <a:r>
              <a:rPr lang="en-IN" sz="800" dirty="0">
                <a:solidFill>
                  <a:schemeClr val="tx1"/>
                </a:solidFill>
              </a:rPr>
              <a:t>      }</a:t>
            </a:r>
          </a:p>
          <a:p>
            <a:r>
              <a:rPr lang="en-IN" sz="800" dirty="0">
                <a:solidFill>
                  <a:schemeClr val="tx1"/>
                </a:solidFill>
              </a:rPr>
              <a:t>    }</a:t>
            </a:r>
          </a:p>
          <a:p>
            <a:r>
              <a:rPr lang="en-IN" sz="800" dirty="0">
                <a:solidFill>
                  <a:schemeClr val="tx1"/>
                </a:solidFill>
              </a:rPr>
              <a:t>    stage('Run new container') {</a:t>
            </a:r>
          </a:p>
          <a:p>
            <a:r>
              <a:rPr lang="en-IN" sz="800" dirty="0">
                <a:solidFill>
                  <a:schemeClr val="tx1"/>
                </a:solidFill>
              </a:rPr>
              <a:t>      steps {</a:t>
            </a:r>
          </a:p>
          <a:p>
            <a:r>
              <a:rPr lang="en-IN" sz="800" dirty="0">
                <a:solidFill>
                  <a:schemeClr val="tx1"/>
                </a:solidFill>
              </a:rPr>
              <a:t>        </a:t>
            </a:r>
            <a:r>
              <a:rPr lang="en-IN" sz="800" dirty="0" err="1">
                <a:solidFill>
                  <a:schemeClr val="tx1"/>
                </a:solidFill>
              </a:rPr>
              <a:t>sh</a:t>
            </a:r>
            <a:r>
              <a:rPr lang="en-IN" sz="800" dirty="0">
                <a:solidFill>
                  <a:schemeClr val="tx1"/>
                </a:solidFill>
              </a:rPr>
              <a:t> '''</a:t>
            </a:r>
          </a:p>
          <a:p>
            <a:r>
              <a:rPr lang="en-IN" sz="800" dirty="0">
                <a:solidFill>
                  <a:schemeClr val="tx1"/>
                </a:solidFill>
              </a:rPr>
              <a:t>          docker run -d --name $APP_NAME -p ${APP_PORT}:${APP_PORT} --restart=always $IMAGE</a:t>
            </a:r>
          </a:p>
          <a:p>
            <a:r>
              <a:rPr lang="en-IN" sz="800" dirty="0">
                <a:solidFill>
                  <a:schemeClr val="tx1"/>
                </a:solidFill>
              </a:rPr>
              <a:t>        '''</a:t>
            </a:r>
          </a:p>
          <a:p>
            <a:r>
              <a:rPr lang="en-IN" sz="800" dirty="0">
                <a:solidFill>
                  <a:schemeClr val="tx1"/>
                </a:solidFill>
              </a:rPr>
              <a:t>      }</a:t>
            </a:r>
          </a:p>
          <a:p>
            <a:r>
              <a:rPr lang="en-IN" sz="800" dirty="0">
                <a:solidFill>
                  <a:schemeClr val="tx1"/>
                </a:solidFill>
              </a:rPr>
              <a:t>    }</a:t>
            </a:r>
          </a:p>
          <a:p>
            <a:r>
              <a:rPr lang="en-IN" sz="800" dirty="0">
                <a:solidFill>
                  <a:schemeClr val="tx1"/>
                </a:solidFill>
              </a:rPr>
              <a:t>    stage('Cleanup old images') {</a:t>
            </a:r>
          </a:p>
          <a:p>
            <a:r>
              <a:rPr lang="en-IN" sz="800" dirty="0">
                <a:solidFill>
                  <a:schemeClr val="tx1"/>
                </a:solidFill>
              </a:rPr>
              <a:t>      steps {</a:t>
            </a:r>
          </a:p>
          <a:p>
            <a:r>
              <a:rPr lang="en-IN" sz="800" dirty="0">
                <a:solidFill>
                  <a:schemeClr val="tx1"/>
                </a:solidFill>
              </a:rPr>
              <a:t>        </a:t>
            </a:r>
            <a:r>
              <a:rPr lang="en-IN" sz="800" dirty="0" err="1">
                <a:solidFill>
                  <a:schemeClr val="tx1"/>
                </a:solidFill>
              </a:rPr>
              <a:t>sh</a:t>
            </a:r>
            <a:r>
              <a:rPr lang="en-IN" sz="800" dirty="0">
                <a:solidFill>
                  <a:schemeClr val="tx1"/>
                </a:solidFill>
              </a:rPr>
              <a:t> 'docker image prune -f || true'</a:t>
            </a:r>
          </a:p>
          <a:p>
            <a:r>
              <a:rPr lang="en-IN" sz="800" dirty="0">
                <a:solidFill>
                  <a:schemeClr val="tx1"/>
                </a:solidFill>
              </a:rPr>
              <a:t>      }</a:t>
            </a:r>
          </a:p>
          <a:p>
            <a:r>
              <a:rPr lang="en-IN" sz="800" dirty="0">
                <a:solidFill>
                  <a:schemeClr val="tx1"/>
                </a:solidFill>
              </a:rPr>
              <a:t>    }</a:t>
            </a:r>
          </a:p>
          <a:p>
            <a:r>
              <a:rPr lang="en-IN" sz="800" dirty="0">
                <a:solidFill>
                  <a:schemeClr val="tx1"/>
                </a:solidFill>
              </a:rPr>
              <a:t>  }</a:t>
            </a:r>
          </a:p>
          <a:p>
            <a:r>
              <a:rPr lang="en-IN" sz="800" dirty="0">
                <a:solidFill>
                  <a:schemeClr val="tx1"/>
                </a:solidFill>
              </a:rPr>
              <a:t>  post {</a:t>
            </a:r>
          </a:p>
          <a:p>
            <a:r>
              <a:rPr lang="en-IN" sz="800" dirty="0">
                <a:solidFill>
                  <a:schemeClr val="tx1"/>
                </a:solidFill>
              </a:rPr>
              <a:t>    failure { echo 'Build failed. Check console output.' }</a:t>
            </a:r>
          </a:p>
          <a:p>
            <a:r>
              <a:rPr lang="en-IN" sz="800" dirty="0">
                <a:solidFill>
                  <a:schemeClr val="tx1"/>
                </a:solidFill>
              </a:rPr>
              <a:t>  }</a:t>
            </a:r>
          </a:p>
          <a:p>
            <a:r>
              <a:rPr lang="en-IN" sz="800" dirty="0">
                <a:solidFill>
                  <a:schemeClr val="tx1"/>
                </a:solidFill>
              </a:rPr>
              <a:t>}</a:t>
            </a:r>
          </a:p>
        </p:txBody>
      </p:sp>
    </p:spTree>
    <p:extLst>
      <p:ext uri="{BB962C8B-B14F-4D97-AF65-F5344CB8AC3E}">
        <p14:creationId xmlns:p14="http://schemas.microsoft.com/office/powerpoint/2010/main" val="2253703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15000"/>
            <a:lum/>
          </a:blip>
          <a:srcRect/>
          <a:stretch>
            <a:fillRect l="29000" t="17000" r="29000" b="17000"/>
          </a:stretch>
        </a:blipFill>
        <a:effectLst/>
      </p:bgPr>
    </p:bg>
    <p:spTree>
      <p:nvGrpSpPr>
        <p:cNvPr id="1" name="">
          <a:extLst>
            <a:ext uri="{FF2B5EF4-FFF2-40B4-BE49-F238E27FC236}">
              <a16:creationId xmlns:a16="http://schemas.microsoft.com/office/drawing/2014/main" id="{82197FB5-2E48-F309-D80C-EFAB39605E5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3F406600-F6CA-F4DD-831C-46E5F2B0155A}"/>
              </a:ext>
            </a:extLst>
          </p:cNvPr>
          <p:cNvSpPr txBox="1"/>
          <p:nvPr/>
        </p:nvSpPr>
        <p:spPr>
          <a:xfrm>
            <a:off x="166254" y="545583"/>
            <a:ext cx="11835245" cy="4031873"/>
          </a:xfrm>
          <a:prstGeom prst="rect">
            <a:avLst/>
          </a:prstGeom>
          <a:noFill/>
        </p:spPr>
        <p:txBody>
          <a:bodyPr wrap="square" rtlCol="0">
            <a:spAutoFit/>
          </a:bodyPr>
          <a:lstStyle/>
          <a:p>
            <a:pPr marL="342900" indent="-342900">
              <a:buFont typeface="+mj-lt"/>
              <a:buAutoNum type="arabicPeriod" startAt="11"/>
            </a:pPr>
            <a:r>
              <a:rPr lang="en-US" sz="1600" dirty="0"/>
              <a:t>Configure a trigger in Jenkins dashboard (running on your laptop’s browser) which will be triggered by GitHub whenever there is a push on GitHub. This will help Jenkins to immediately take pull from GitHub and deploy the latest app. Following are the steps:</a:t>
            </a:r>
          </a:p>
          <a:p>
            <a:pPr marL="857250" lvl="1" indent="-400050">
              <a:buFont typeface="+mj-lt"/>
              <a:buAutoNum type="romanLcPeriod"/>
            </a:pPr>
            <a:r>
              <a:rPr lang="en-US" sz="1600" dirty="0"/>
              <a:t>In Jenkins dashboard (running on your laptop’s browser), click on “Configure”</a:t>
            </a:r>
          </a:p>
          <a:p>
            <a:pPr marL="857250" lvl="1" indent="-400050">
              <a:buFont typeface="+mj-lt"/>
              <a:buAutoNum type="romanLcPeriod"/>
            </a:pPr>
            <a:r>
              <a:rPr lang="en-US" sz="1600" dirty="0"/>
              <a:t>Then on “Triggers”, and select “GitHub hook trigger for </a:t>
            </a:r>
            <a:r>
              <a:rPr lang="en-US" sz="1600" dirty="0" err="1"/>
              <a:t>GitScm</a:t>
            </a:r>
            <a:r>
              <a:rPr lang="en-US" sz="1600" dirty="0"/>
              <a:t> polling”</a:t>
            </a:r>
          </a:p>
          <a:p>
            <a:pPr marL="342900" indent="-342900">
              <a:buFont typeface="+mj-lt"/>
              <a:buAutoNum type="arabicPeriod" startAt="11"/>
            </a:pPr>
            <a:r>
              <a:rPr lang="en-US" sz="1600" dirty="0"/>
              <a:t>Configure GitHub Webhook which will send a push notification to Jenkins trigger created in the above step to take pull whenever there is a push to the repository:</a:t>
            </a:r>
          </a:p>
          <a:p>
            <a:pPr marL="857250" lvl="1" indent="-400050">
              <a:buFont typeface="+mj-lt"/>
              <a:buAutoNum type="romanLcPeriod"/>
            </a:pPr>
            <a:r>
              <a:rPr lang="en-US" sz="1600" dirty="0"/>
              <a:t>In your GitHub repo, go to the “Settings”</a:t>
            </a:r>
          </a:p>
          <a:p>
            <a:pPr marL="857250" lvl="1" indent="-400050">
              <a:buFont typeface="+mj-lt"/>
              <a:buAutoNum type="romanLcPeriod"/>
            </a:pPr>
            <a:r>
              <a:rPr lang="en-US" sz="1600" dirty="0"/>
              <a:t>Click on “Webhooks”</a:t>
            </a:r>
          </a:p>
          <a:p>
            <a:pPr marL="857250" lvl="1" indent="-400050">
              <a:buFont typeface="+mj-lt"/>
              <a:buAutoNum type="romanLcPeriod"/>
            </a:pPr>
            <a:r>
              <a:rPr lang="en-US" sz="1600" dirty="0"/>
              <a:t>Now, click on “Add Webhook” and enter “http://&lt;EC2-public-ip&gt;:8080/</a:t>
            </a:r>
            <a:r>
              <a:rPr lang="en-US" sz="1600" dirty="0" err="1"/>
              <a:t>github</a:t>
            </a:r>
            <a:r>
              <a:rPr lang="en-US" sz="1600" dirty="0"/>
              <a:t>-webhook/” in the “Payload URL”</a:t>
            </a:r>
          </a:p>
          <a:p>
            <a:pPr marL="857250" lvl="1" indent="-400050">
              <a:buFont typeface="+mj-lt"/>
              <a:buAutoNum type="romanLcPeriod"/>
            </a:pPr>
            <a:r>
              <a:rPr lang="en-US" sz="1600" dirty="0"/>
              <a:t>Select “Content Type” as “application/</a:t>
            </a:r>
            <a:r>
              <a:rPr lang="en-US" sz="1600" dirty="0" err="1"/>
              <a:t>json</a:t>
            </a:r>
            <a:r>
              <a:rPr lang="en-US" sz="1600" dirty="0"/>
              <a:t>”</a:t>
            </a:r>
          </a:p>
          <a:p>
            <a:pPr marL="857250" lvl="1" indent="-400050">
              <a:buFont typeface="+mj-lt"/>
              <a:buAutoNum type="romanLcPeriod"/>
            </a:pPr>
            <a:r>
              <a:rPr lang="en-US" sz="1600" dirty="0"/>
              <a:t>Select “Events” as “Just the push event”</a:t>
            </a:r>
          </a:p>
          <a:p>
            <a:pPr marL="400050" indent="-400050">
              <a:buFont typeface="+mj-lt"/>
              <a:buAutoNum type="arabicPeriod" startAt="11"/>
            </a:pPr>
            <a:r>
              <a:rPr lang="en-US" sz="1600" dirty="0"/>
              <a:t>Manually create the first build:</a:t>
            </a:r>
          </a:p>
          <a:p>
            <a:pPr marL="857250" lvl="1" indent="-400050">
              <a:buFont typeface="+mj-lt"/>
              <a:buAutoNum type="romanLcPeriod"/>
            </a:pPr>
            <a:r>
              <a:rPr lang="en-US" sz="1600" dirty="0"/>
              <a:t>In the Jenkins dashboard (running in your laptop’s browser), just click on “Build Now”</a:t>
            </a:r>
          </a:p>
          <a:p>
            <a:pPr marL="857250" lvl="1" indent="-400050">
              <a:buFont typeface="+mj-lt"/>
              <a:buAutoNum type="romanLcPeriod"/>
            </a:pPr>
            <a:r>
              <a:rPr lang="en-US" sz="1600" dirty="0"/>
              <a:t>The first deployment should be done on your EC2 instance. Test it in your browser / terminal / postman app</a:t>
            </a:r>
          </a:p>
          <a:p>
            <a:pPr marL="857250" lvl="1" indent="-400050">
              <a:buFont typeface="+mj-lt"/>
              <a:buAutoNum type="romanLcPeriod"/>
            </a:pPr>
            <a:r>
              <a:rPr lang="en-US" sz="1600" dirty="0"/>
              <a:t>From now onwards, whenever you will push the code in your GitHub repo, Jenkins will automatically take the pull, delete the running Docker container in your EC2 instance, and deploy the new Docker container.</a:t>
            </a:r>
          </a:p>
        </p:txBody>
      </p:sp>
      <p:sp>
        <p:nvSpPr>
          <p:cNvPr id="2" name="TextBox 1">
            <a:extLst>
              <a:ext uri="{FF2B5EF4-FFF2-40B4-BE49-F238E27FC236}">
                <a16:creationId xmlns:a16="http://schemas.microsoft.com/office/drawing/2014/main" id="{2EDEEBC8-6F6A-7B43-E61C-D83369780E96}"/>
              </a:ext>
            </a:extLst>
          </p:cNvPr>
          <p:cNvSpPr txBox="1"/>
          <p:nvPr/>
        </p:nvSpPr>
        <p:spPr>
          <a:xfrm>
            <a:off x="166255" y="145473"/>
            <a:ext cx="11835245" cy="400110"/>
          </a:xfrm>
          <a:prstGeom prst="rect">
            <a:avLst/>
          </a:prstGeom>
          <a:noFill/>
        </p:spPr>
        <p:txBody>
          <a:bodyPr wrap="square" rtlCol="0">
            <a:spAutoFit/>
          </a:bodyPr>
          <a:lstStyle/>
          <a:p>
            <a:r>
              <a:rPr lang="en-IN" sz="2000" b="1" dirty="0"/>
              <a:t>[4/4] CI / CD Pipeline: EC2 / Jenkins / GitHub</a:t>
            </a:r>
          </a:p>
        </p:txBody>
      </p:sp>
    </p:spTree>
    <p:extLst>
      <p:ext uri="{BB962C8B-B14F-4D97-AF65-F5344CB8AC3E}">
        <p14:creationId xmlns:p14="http://schemas.microsoft.com/office/powerpoint/2010/main" val="39181598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E747-6233-8B40-3B1D-4B8F1085F76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04F0DDF-AC38-FD9B-D3E8-AECF43EA8A32}"/>
              </a:ext>
            </a:extLst>
          </p:cNvPr>
          <p:cNvSpPr txBox="1"/>
          <p:nvPr/>
        </p:nvSpPr>
        <p:spPr>
          <a:xfrm>
            <a:off x="166255" y="145473"/>
            <a:ext cx="11835245" cy="400110"/>
          </a:xfrm>
          <a:prstGeom prst="rect">
            <a:avLst/>
          </a:prstGeom>
          <a:noFill/>
        </p:spPr>
        <p:txBody>
          <a:bodyPr wrap="square" rtlCol="0">
            <a:spAutoFit/>
          </a:bodyPr>
          <a:lstStyle/>
          <a:p>
            <a:r>
              <a:rPr lang="en-IN" sz="2000" b="1" dirty="0"/>
              <a:t>[1/2] CI / CD Pipeline: Workflow</a:t>
            </a:r>
          </a:p>
        </p:txBody>
      </p:sp>
      <p:sp>
        <p:nvSpPr>
          <p:cNvPr id="5" name="TextBox 4">
            <a:extLst>
              <a:ext uri="{FF2B5EF4-FFF2-40B4-BE49-F238E27FC236}">
                <a16:creationId xmlns:a16="http://schemas.microsoft.com/office/drawing/2014/main" id="{FEF35E73-26F1-0BAB-142A-F4568EA1359C}"/>
              </a:ext>
            </a:extLst>
          </p:cNvPr>
          <p:cNvSpPr txBox="1"/>
          <p:nvPr/>
        </p:nvSpPr>
        <p:spPr>
          <a:xfrm>
            <a:off x="166254" y="545583"/>
            <a:ext cx="6806045" cy="3539430"/>
          </a:xfrm>
          <a:prstGeom prst="rect">
            <a:avLst/>
          </a:prstGeom>
          <a:noFill/>
          <a:ln>
            <a:solidFill>
              <a:schemeClr val="tx1"/>
            </a:solidFill>
            <a:prstDash val="dash"/>
          </a:ln>
        </p:spPr>
        <p:txBody>
          <a:bodyPr wrap="square" rtlCol="0">
            <a:spAutoFit/>
          </a:bodyPr>
          <a:lstStyle/>
          <a:p>
            <a:pPr algn="ctr"/>
            <a:r>
              <a:rPr lang="en-IN" sz="1400" b="1" dirty="0"/>
              <a:t>Development / Feature Additions</a:t>
            </a:r>
          </a:p>
          <a:p>
            <a:pPr marL="342900" indent="-342900">
              <a:buFont typeface="+mj-lt"/>
              <a:buAutoNum type="arabicPeriod"/>
            </a:pPr>
            <a:r>
              <a:rPr lang="en-IN" sz="1400" dirty="0"/>
              <a:t>Programming Language: Python-3.12</a:t>
            </a:r>
          </a:p>
          <a:p>
            <a:pPr marL="342900" indent="-342900">
              <a:buFont typeface="+mj-lt"/>
              <a:buAutoNum type="arabicPeriod"/>
            </a:pPr>
            <a:r>
              <a:rPr lang="en-IN" sz="1400" dirty="0"/>
              <a:t>Backend: </a:t>
            </a:r>
            <a:r>
              <a:rPr lang="en-IN" sz="1400" dirty="0" err="1"/>
              <a:t>FastAPI</a:t>
            </a:r>
            <a:endParaRPr lang="en-IN" sz="1400" dirty="0"/>
          </a:p>
          <a:p>
            <a:pPr marL="342900" indent="-342900">
              <a:buFont typeface="+mj-lt"/>
              <a:buAutoNum type="arabicPeriod"/>
            </a:pPr>
            <a:r>
              <a:rPr lang="en-IN" sz="1400" dirty="0"/>
              <a:t>Data directory</a:t>
            </a:r>
          </a:p>
          <a:p>
            <a:pPr marL="342900" indent="-342900">
              <a:buFont typeface="+mj-lt"/>
              <a:buAutoNum type="arabicPeriod"/>
            </a:pPr>
            <a:r>
              <a:rPr lang="en-IN" sz="1400" dirty="0"/>
              <a:t>.env file</a:t>
            </a:r>
          </a:p>
          <a:p>
            <a:pPr marL="342900" indent="-342900">
              <a:buFont typeface="+mj-lt"/>
              <a:buAutoNum type="arabicPeriod"/>
            </a:pPr>
            <a:r>
              <a:rPr lang="en-IN" sz="1400" dirty="0" err="1"/>
              <a:t>Config.json</a:t>
            </a:r>
            <a:endParaRPr lang="en-IN" sz="1400" dirty="0"/>
          </a:p>
          <a:p>
            <a:pPr marL="342900" indent="-342900">
              <a:buFont typeface="+mj-lt"/>
              <a:buAutoNum type="arabicPeriod"/>
            </a:pPr>
            <a:r>
              <a:rPr lang="en-IN" sz="1400" dirty="0"/>
              <a:t>Guardrails to block unintended topics</a:t>
            </a:r>
          </a:p>
          <a:p>
            <a:pPr marL="342900" indent="-342900">
              <a:buFont typeface="+mj-lt"/>
              <a:buAutoNum type="arabicPeriod"/>
            </a:pPr>
            <a:r>
              <a:rPr lang="en-IN" sz="1400" dirty="0"/>
              <a:t>Azure OpenAI’s embedding models are used to embeddings of the data</a:t>
            </a:r>
          </a:p>
          <a:p>
            <a:pPr marL="342900" indent="-342900">
              <a:buFont typeface="+mj-lt"/>
              <a:buAutoNum type="arabicPeriod"/>
            </a:pPr>
            <a:r>
              <a:rPr lang="en-IN" sz="1400" dirty="0"/>
              <a:t>Chroma vector database (due to privacy) used to store embeddings</a:t>
            </a:r>
          </a:p>
          <a:p>
            <a:pPr marL="342900" indent="-342900">
              <a:buFont typeface="+mj-lt"/>
              <a:buAutoNum type="arabicPeriod"/>
            </a:pPr>
            <a:r>
              <a:rPr lang="en-IN" sz="1400" dirty="0"/>
              <a:t>Azure OpenAI’s GPT-4.1 is used as LLM</a:t>
            </a:r>
          </a:p>
          <a:p>
            <a:pPr marL="342900" indent="-342900">
              <a:buFont typeface="+mj-lt"/>
              <a:buAutoNum type="arabicPeriod"/>
            </a:pPr>
            <a:r>
              <a:rPr lang="en-IN" sz="1400" dirty="0"/>
              <a:t>During development, </a:t>
            </a:r>
            <a:r>
              <a:rPr lang="en-IN" sz="1400" dirty="0" err="1"/>
              <a:t>LangFuse</a:t>
            </a:r>
            <a:r>
              <a:rPr lang="en-IN" sz="1400" dirty="0"/>
              <a:t> is used for prompt management and evaluation</a:t>
            </a:r>
          </a:p>
          <a:p>
            <a:pPr marL="342900" indent="-342900">
              <a:buFont typeface="+mj-lt"/>
              <a:buAutoNum type="arabicPeriod"/>
            </a:pPr>
            <a:r>
              <a:rPr lang="en-IN" sz="1400" dirty="0" err="1"/>
              <a:t>Streamlit</a:t>
            </a:r>
            <a:r>
              <a:rPr lang="en-IN" sz="1400" dirty="0"/>
              <a:t> / </a:t>
            </a:r>
            <a:r>
              <a:rPr lang="en-IN" sz="1400" dirty="0" err="1"/>
              <a:t>Gradio</a:t>
            </a:r>
            <a:r>
              <a:rPr lang="en-IN" sz="1400" dirty="0"/>
              <a:t> app included for quick testing / demo by stakeholders and conversational design experts</a:t>
            </a:r>
          </a:p>
          <a:p>
            <a:pPr marL="342900" indent="-342900">
              <a:buFont typeface="+mj-lt"/>
              <a:buAutoNum type="arabicPeriod"/>
            </a:pPr>
            <a:r>
              <a:rPr lang="en-IN" sz="1400" dirty="0" err="1"/>
              <a:t>Dockerfile</a:t>
            </a:r>
            <a:r>
              <a:rPr lang="en-IN" sz="1400" dirty="0"/>
              <a:t> included</a:t>
            </a:r>
          </a:p>
          <a:p>
            <a:pPr marL="342900" indent="-342900">
              <a:buFont typeface="+mj-lt"/>
              <a:buAutoNum type="arabicPeriod"/>
            </a:pPr>
            <a:r>
              <a:rPr lang="en-IN" sz="1400" dirty="0" err="1"/>
              <a:t>Jenkinsfile</a:t>
            </a:r>
            <a:r>
              <a:rPr lang="en-IN" sz="1400" dirty="0"/>
              <a:t> included</a:t>
            </a:r>
          </a:p>
          <a:p>
            <a:pPr marL="342900" indent="-342900">
              <a:buFont typeface="+mj-lt"/>
              <a:buAutoNum type="arabicPeriod"/>
            </a:pPr>
            <a:r>
              <a:rPr lang="en-IN" sz="1400" dirty="0"/>
              <a:t>App server: Nginx</a:t>
            </a:r>
          </a:p>
        </p:txBody>
      </p:sp>
      <p:cxnSp>
        <p:nvCxnSpPr>
          <p:cNvPr id="7" name="Straight Arrow Connector 6">
            <a:extLst>
              <a:ext uri="{FF2B5EF4-FFF2-40B4-BE49-F238E27FC236}">
                <a16:creationId xmlns:a16="http://schemas.microsoft.com/office/drawing/2014/main" id="{07E10BFA-315B-2771-D688-E070631F120A}"/>
              </a:ext>
            </a:extLst>
          </p:cNvPr>
          <p:cNvCxnSpPr>
            <a:cxnSpLocks/>
            <a:stCxn id="5" idx="3"/>
            <a:endCxn id="11" idx="1"/>
          </p:cNvCxnSpPr>
          <p:nvPr/>
        </p:nvCxnSpPr>
        <p:spPr>
          <a:xfrm flipV="1">
            <a:off x="6972299" y="2305616"/>
            <a:ext cx="1849581" cy="96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95EDF3FB-7269-E08B-6CAD-1ED0E46D4461}"/>
              </a:ext>
            </a:extLst>
          </p:cNvPr>
          <p:cNvSpPr txBox="1"/>
          <p:nvPr/>
        </p:nvSpPr>
        <p:spPr>
          <a:xfrm>
            <a:off x="6961908" y="1744505"/>
            <a:ext cx="1859972" cy="529937"/>
          </a:xfrm>
          <a:prstGeom prst="rect">
            <a:avLst/>
          </a:prstGeom>
          <a:noFill/>
        </p:spPr>
        <p:txBody>
          <a:bodyPr wrap="square" rtlCol="0">
            <a:spAutoFit/>
          </a:bodyPr>
          <a:lstStyle/>
          <a:p>
            <a:pPr algn="ctr"/>
            <a:r>
              <a:rPr lang="en-IN" sz="1400" dirty="0"/>
              <a:t>Once a development cycle completes</a:t>
            </a:r>
          </a:p>
        </p:txBody>
      </p:sp>
      <p:sp>
        <p:nvSpPr>
          <p:cNvPr id="11" name="TextBox 10">
            <a:extLst>
              <a:ext uri="{FF2B5EF4-FFF2-40B4-BE49-F238E27FC236}">
                <a16:creationId xmlns:a16="http://schemas.microsoft.com/office/drawing/2014/main" id="{3AB95370-E140-C3FD-15FF-F230E1F363F0}"/>
              </a:ext>
            </a:extLst>
          </p:cNvPr>
          <p:cNvSpPr txBox="1"/>
          <p:nvPr/>
        </p:nvSpPr>
        <p:spPr>
          <a:xfrm>
            <a:off x="8821880" y="1182231"/>
            <a:ext cx="3079173" cy="2246769"/>
          </a:xfrm>
          <a:prstGeom prst="rect">
            <a:avLst/>
          </a:prstGeom>
          <a:noFill/>
          <a:ln>
            <a:solidFill>
              <a:schemeClr val="tx1"/>
            </a:solidFill>
            <a:prstDash val="dash"/>
          </a:ln>
        </p:spPr>
        <p:txBody>
          <a:bodyPr wrap="square" rtlCol="0">
            <a:spAutoFit/>
          </a:bodyPr>
          <a:lstStyle/>
          <a:p>
            <a:pPr algn="ctr"/>
            <a:r>
              <a:rPr lang="en-IN" sz="1400" b="1" dirty="0"/>
              <a:t>Shell Script</a:t>
            </a:r>
          </a:p>
          <a:p>
            <a:pPr marL="285750" indent="-285750">
              <a:buFont typeface="Arial" panose="020B0604020202020204" pitchFamily="34" charset="0"/>
              <a:buChar char="•"/>
            </a:pPr>
            <a:r>
              <a:rPr lang="en-IN" sz="1400" dirty="0"/>
              <a:t>Uploads data and .env to a private S3 bucket</a:t>
            </a:r>
          </a:p>
          <a:p>
            <a:pPr marL="285750" indent="-285750">
              <a:buFont typeface="Arial" panose="020B0604020202020204" pitchFamily="34" charset="0"/>
              <a:buChar char="•"/>
            </a:pPr>
            <a:r>
              <a:rPr lang="en-IN" sz="1400" dirty="0"/>
              <a:t>Runs “</a:t>
            </a:r>
            <a:r>
              <a:rPr lang="en-IN" sz="1400" dirty="0" err="1"/>
              <a:t>pipreqs</a:t>
            </a:r>
            <a:r>
              <a:rPr lang="en-IN" sz="1400" dirty="0"/>
              <a:t> / </a:t>
            </a:r>
            <a:r>
              <a:rPr lang="en-IN" sz="1400" b="1" dirty="0">
                <a:solidFill>
                  <a:srgbClr val="FF0000"/>
                </a:solidFill>
              </a:rPr>
              <a:t>poetry</a:t>
            </a:r>
            <a:r>
              <a:rPr lang="en-IN" sz="1400" dirty="0"/>
              <a:t>” over the project directory and creates / updates “requirements.txt”</a:t>
            </a:r>
          </a:p>
          <a:p>
            <a:pPr marL="285750" indent="-285750">
              <a:buFont typeface="Arial" panose="020B0604020202020204" pitchFamily="34" charset="0"/>
              <a:buChar char="•"/>
            </a:pPr>
            <a:r>
              <a:rPr lang="en-IN" sz="1400" dirty="0"/>
              <a:t>Asks user to confirm the GitHub branch</a:t>
            </a:r>
          </a:p>
          <a:p>
            <a:pPr marL="285750" indent="-285750">
              <a:buFont typeface="Arial" panose="020B0604020202020204" pitchFamily="34" charset="0"/>
              <a:buChar char="•"/>
            </a:pPr>
            <a:r>
              <a:rPr lang="en-IN" sz="1400" dirty="0"/>
              <a:t>Asks user to select the branch</a:t>
            </a:r>
          </a:p>
          <a:p>
            <a:pPr marL="285750" indent="-285750">
              <a:buFont typeface="Arial" panose="020B0604020202020204" pitchFamily="34" charset="0"/>
              <a:buChar char="•"/>
            </a:pPr>
            <a:r>
              <a:rPr lang="en-IN" sz="1400" dirty="0"/>
              <a:t>Pushes the project to the GitHub</a:t>
            </a:r>
          </a:p>
        </p:txBody>
      </p:sp>
      <p:cxnSp>
        <p:nvCxnSpPr>
          <p:cNvPr id="12" name="Straight Arrow Connector 11">
            <a:extLst>
              <a:ext uri="{FF2B5EF4-FFF2-40B4-BE49-F238E27FC236}">
                <a16:creationId xmlns:a16="http://schemas.microsoft.com/office/drawing/2014/main" id="{D8B3149F-832B-35A2-96CA-4BA03AFC9C9B}"/>
              </a:ext>
            </a:extLst>
          </p:cNvPr>
          <p:cNvCxnSpPr>
            <a:cxnSpLocks/>
            <a:stCxn id="11" idx="2"/>
          </p:cNvCxnSpPr>
          <p:nvPr/>
        </p:nvCxnSpPr>
        <p:spPr>
          <a:xfrm>
            <a:off x="10361467" y="3429000"/>
            <a:ext cx="0" cy="11782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FA8AFDA-8968-0BD9-D7BB-2276E9879C51}"/>
              </a:ext>
            </a:extLst>
          </p:cNvPr>
          <p:cNvSpPr txBox="1"/>
          <p:nvPr/>
        </p:nvSpPr>
        <p:spPr>
          <a:xfrm>
            <a:off x="9027967" y="3756493"/>
            <a:ext cx="1333499" cy="523220"/>
          </a:xfrm>
          <a:prstGeom prst="rect">
            <a:avLst/>
          </a:prstGeom>
          <a:noFill/>
        </p:spPr>
        <p:txBody>
          <a:bodyPr wrap="square" rtlCol="0">
            <a:spAutoFit/>
          </a:bodyPr>
          <a:lstStyle/>
          <a:p>
            <a:pPr algn="ctr"/>
            <a:r>
              <a:rPr lang="en-IN" sz="1400" dirty="0"/>
              <a:t>If the branch is “main” branch</a:t>
            </a:r>
          </a:p>
        </p:txBody>
      </p:sp>
      <p:sp>
        <p:nvSpPr>
          <p:cNvPr id="15" name="TextBox 14">
            <a:extLst>
              <a:ext uri="{FF2B5EF4-FFF2-40B4-BE49-F238E27FC236}">
                <a16:creationId xmlns:a16="http://schemas.microsoft.com/office/drawing/2014/main" id="{A651A63F-1B75-09F0-6977-3EE8F830F44E}"/>
              </a:ext>
            </a:extLst>
          </p:cNvPr>
          <p:cNvSpPr txBox="1"/>
          <p:nvPr/>
        </p:nvSpPr>
        <p:spPr>
          <a:xfrm>
            <a:off x="166255" y="4607207"/>
            <a:ext cx="11734800" cy="1384995"/>
          </a:xfrm>
          <a:prstGeom prst="rect">
            <a:avLst/>
          </a:prstGeom>
          <a:noFill/>
          <a:ln>
            <a:solidFill>
              <a:schemeClr val="tx1"/>
            </a:solidFill>
            <a:prstDash val="dash"/>
          </a:ln>
        </p:spPr>
        <p:txBody>
          <a:bodyPr wrap="square" rtlCol="0">
            <a:spAutoFit/>
          </a:bodyPr>
          <a:lstStyle/>
          <a:p>
            <a:pPr algn="ctr"/>
            <a:r>
              <a:rPr lang="en-IN" sz="1400" b="1" dirty="0"/>
              <a:t>GitHub Webhook &amp; Jenkins on EC2 instance</a:t>
            </a:r>
          </a:p>
          <a:p>
            <a:pPr marL="285750" indent="-285750">
              <a:buFont typeface="Arial" panose="020B0604020202020204" pitchFamily="34" charset="0"/>
              <a:buChar char="•"/>
            </a:pPr>
            <a:r>
              <a:rPr lang="en-IN" sz="1400" dirty="0"/>
              <a:t>Sends a push notification to Jenkins running on an EC2 instance with pre-installed HTTPS/TLS</a:t>
            </a:r>
          </a:p>
          <a:p>
            <a:pPr marL="285750" indent="-285750">
              <a:buFont typeface="Arial" panose="020B0604020202020204" pitchFamily="34" charset="0"/>
              <a:buChar char="•"/>
            </a:pPr>
            <a:r>
              <a:rPr lang="en-IN" sz="1400" dirty="0"/>
              <a:t>Jenkins pull the repository, deletes the running Docker container (if any), and starts building the new Docker container as per the below steps:</a:t>
            </a:r>
          </a:p>
          <a:p>
            <a:pPr marL="800100" lvl="1" indent="-342900">
              <a:buFont typeface="+mj-lt"/>
              <a:buAutoNum type="arabicPeriod"/>
            </a:pPr>
            <a:r>
              <a:rPr lang="en-IN" sz="1400" dirty="0"/>
              <a:t>Runs a Python script to check a flag in </a:t>
            </a:r>
            <a:r>
              <a:rPr lang="en-IN" sz="1400" dirty="0" err="1"/>
              <a:t>Config.json</a:t>
            </a:r>
            <a:r>
              <a:rPr lang="en-IN" sz="1400" dirty="0"/>
              <a:t>; if true then it pulls data from S3 bucket and builds Chroma vector DB; if false then uses the existing one</a:t>
            </a:r>
          </a:p>
          <a:p>
            <a:pPr marL="800100" lvl="1" indent="-342900">
              <a:buFont typeface="+mj-lt"/>
              <a:buAutoNum type="arabicPeriod"/>
            </a:pPr>
            <a:r>
              <a:rPr lang="en-IN" sz="1400" dirty="0"/>
              <a:t>Builds the container and runs the </a:t>
            </a:r>
            <a:r>
              <a:rPr lang="en-IN" sz="1400" dirty="0" err="1"/>
              <a:t>FastAPI</a:t>
            </a:r>
            <a:r>
              <a:rPr lang="en-IN" sz="1400" dirty="0"/>
              <a:t> app</a:t>
            </a:r>
          </a:p>
        </p:txBody>
      </p:sp>
    </p:spTree>
    <p:extLst>
      <p:ext uri="{BB962C8B-B14F-4D97-AF65-F5344CB8AC3E}">
        <p14:creationId xmlns:p14="http://schemas.microsoft.com/office/powerpoint/2010/main" val="350983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F1650-70E2-2915-71AE-EA8E5D5E23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5CC8CA7-980F-9EC4-60E1-5B276B25EFA4}"/>
              </a:ext>
            </a:extLst>
          </p:cNvPr>
          <p:cNvSpPr txBox="1"/>
          <p:nvPr/>
        </p:nvSpPr>
        <p:spPr>
          <a:xfrm>
            <a:off x="166255" y="145473"/>
            <a:ext cx="11835245" cy="400110"/>
          </a:xfrm>
          <a:prstGeom prst="rect">
            <a:avLst/>
          </a:prstGeom>
          <a:noFill/>
        </p:spPr>
        <p:txBody>
          <a:bodyPr wrap="square" rtlCol="0">
            <a:spAutoFit/>
          </a:bodyPr>
          <a:lstStyle/>
          <a:p>
            <a:r>
              <a:rPr lang="en-IN" sz="2000" b="1" dirty="0"/>
              <a:t>[2/2] CI / CD Pipeline: Workflow</a:t>
            </a:r>
          </a:p>
        </p:txBody>
      </p:sp>
      <p:sp>
        <p:nvSpPr>
          <p:cNvPr id="5" name="TextBox 4">
            <a:extLst>
              <a:ext uri="{FF2B5EF4-FFF2-40B4-BE49-F238E27FC236}">
                <a16:creationId xmlns:a16="http://schemas.microsoft.com/office/drawing/2014/main" id="{96B0D25D-90D7-4207-B08A-92970BBFE7DD}"/>
              </a:ext>
            </a:extLst>
          </p:cNvPr>
          <p:cNvSpPr txBox="1"/>
          <p:nvPr/>
        </p:nvSpPr>
        <p:spPr>
          <a:xfrm>
            <a:off x="166254" y="545583"/>
            <a:ext cx="11835245" cy="3785652"/>
          </a:xfrm>
          <a:prstGeom prst="rect">
            <a:avLst/>
          </a:prstGeom>
          <a:noFill/>
          <a:ln>
            <a:solidFill>
              <a:schemeClr val="tx1"/>
            </a:solidFill>
            <a:prstDash val="dash"/>
          </a:ln>
        </p:spPr>
        <p:txBody>
          <a:bodyPr wrap="square" rtlCol="0">
            <a:spAutoFit/>
          </a:bodyPr>
          <a:lstStyle/>
          <a:p>
            <a:pPr marL="342900" indent="-342900">
              <a:buFont typeface="+mj-lt"/>
              <a:buAutoNum type="arabicPeriod"/>
            </a:pPr>
            <a:r>
              <a:rPr lang="en-US" sz="1600" dirty="0"/>
              <a:t>Once a development cycle completes, we run a shell script which does the following:</a:t>
            </a:r>
          </a:p>
          <a:p>
            <a:pPr marL="857250" lvl="1" indent="-400050">
              <a:buFont typeface="+mj-lt"/>
              <a:buAutoNum type="romanLcPeriod"/>
            </a:pPr>
            <a:r>
              <a:rPr lang="en-US" sz="1600" dirty="0"/>
              <a:t>Uploads our data directory and .env file (which has all secretes and API keys) to a private Amazon S3 bucket</a:t>
            </a:r>
          </a:p>
          <a:p>
            <a:pPr marL="857250" lvl="1" indent="-400050">
              <a:buFont typeface="+mj-lt"/>
              <a:buAutoNum type="romanLcPeriod"/>
            </a:pPr>
            <a:r>
              <a:rPr lang="en-US" sz="1600" dirty="0"/>
              <a:t>Then it runs "</a:t>
            </a:r>
            <a:r>
              <a:rPr lang="en-US" sz="1600" dirty="0" err="1"/>
              <a:t>pipreqs</a:t>
            </a:r>
            <a:r>
              <a:rPr lang="en-US" sz="1600" dirty="0"/>
              <a:t> / </a:t>
            </a:r>
            <a:r>
              <a:rPr lang="en-US" sz="1600" b="1" dirty="0">
                <a:solidFill>
                  <a:srgbClr val="FF0000"/>
                </a:solidFill>
              </a:rPr>
              <a:t>poetry</a:t>
            </a:r>
            <a:r>
              <a:rPr lang="en-US" sz="1600" dirty="0"/>
              <a:t>" to create / update the "requirements.txt" file</a:t>
            </a:r>
          </a:p>
          <a:p>
            <a:pPr marL="857250" lvl="1" indent="-400050">
              <a:buFont typeface="+mj-lt"/>
              <a:buAutoNum type="romanLcPeriod"/>
            </a:pPr>
            <a:r>
              <a:rPr lang="en-US" sz="1600" dirty="0"/>
              <a:t>Then it pushes our entire code repository (except data directory and .env file) to the GitHub</a:t>
            </a:r>
          </a:p>
          <a:p>
            <a:pPr marL="342900" indent="-342900">
              <a:buFont typeface="+mj-lt"/>
              <a:buAutoNum type="arabicPeriod"/>
            </a:pPr>
            <a:r>
              <a:rPr lang="en-US" sz="1600" dirty="0"/>
              <a:t>As a code push happens on GitHub, it has a Webhook which sends a push notification to Jenkins running on our Amazon EC2 instance.</a:t>
            </a:r>
          </a:p>
          <a:p>
            <a:pPr marL="342900" indent="-342900">
              <a:buFont typeface="+mj-lt"/>
              <a:buAutoNum type="arabicPeriod"/>
            </a:pPr>
            <a:r>
              <a:rPr lang="en-US" sz="1600" dirty="0"/>
              <a:t>Jenkins pulls the repository, deletes the running Docker container of the app (if any), and starts building a new Docker container by running the </a:t>
            </a:r>
            <a:r>
              <a:rPr lang="en-US" sz="1600" dirty="0" err="1"/>
              <a:t>Dockerfile</a:t>
            </a:r>
            <a:r>
              <a:rPr lang="en-US" sz="1600" dirty="0"/>
              <a:t> which came from GitHub</a:t>
            </a:r>
          </a:p>
          <a:p>
            <a:pPr marL="342900" indent="-342900">
              <a:buFont typeface="+mj-lt"/>
              <a:buAutoNum type="arabicPeriod"/>
            </a:pPr>
            <a:r>
              <a:rPr lang="en-US" sz="1600" dirty="0"/>
              <a:t>This </a:t>
            </a:r>
            <a:r>
              <a:rPr lang="en-US" sz="1600" dirty="0" err="1"/>
              <a:t>Dockerfile</a:t>
            </a:r>
            <a:r>
              <a:rPr lang="en-US" sz="1600" dirty="0"/>
              <a:t> pulls python image, installs all required Python packages with the help of requirements.txt, runs a Python script which checks if flag in </a:t>
            </a:r>
            <a:r>
              <a:rPr lang="en-US" sz="1600" dirty="0" err="1"/>
              <a:t>config.json</a:t>
            </a:r>
            <a:r>
              <a:rPr lang="en-US" sz="1600" dirty="0"/>
              <a:t> to build Chroma vector database is true or not. If true then it pulls data from the private S3 bucket and </a:t>
            </a:r>
            <a:r>
              <a:rPr lang="en-US" sz="1600" dirty="0" err="1"/>
              <a:t>creats</a:t>
            </a:r>
            <a:r>
              <a:rPr lang="en-US" sz="1600" dirty="0"/>
              <a:t> Chroma vector database by calling Azure OpenAI Embedding model (due to data privacy; loads the required API keys from the .env file stored in S3 bucket). It creates Chroma vector database in EC2's storage and deletes data from EC2's storage. If the flag is False, then it does nothing, i.e., uses the existing Chroma vector database.</a:t>
            </a:r>
          </a:p>
          <a:p>
            <a:pPr marL="342900" indent="-342900">
              <a:buFont typeface="+mj-lt"/>
              <a:buAutoNum type="arabicPeriod"/>
            </a:pPr>
            <a:r>
              <a:rPr lang="en-US" sz="1600" dirty="0"/>
              <a:t>Finally, </a:t>
            </a:r>
            <a:r>
              <a:rPr lang="en-US" sz="1600" dirty="0" err="1"/>
              <a:t>Dockerfile</a:t>
            </a:r>
            <a:r>
              <a:rPr lang="en-US" sz="1600" dirty="0"/>
              <a:t> runs the </a:t>
            </a:r>
            <a:r>
              <a:rPr lang="en-US" sz="1600" dirty="0" err="1"/>
              <a:t>FastAPI</a:t>
            </a:r>
            <a:r>
              <a:rPr lang="en-US" sz="1600" dirty="0"/>
              <a:t> app (i.e., Generative AI app) and exposes it to the outer world on port 8000. This app loads all required secrets from the .env file stored in private S3 bucket.</a:t>
            </a:r>
            <a:endParaRPr lang="en-IN" sz="1600" dirty="0"/>
          </a:p>
        </p:txBody>
      </p:sp>
      <p:sp>
        <p:nvSpPr>
          <p:cNvPr id="3" name="TextBox 2">
            <a:extLst>
              <a:ext uri="{FF2B5EF4-FFF2-40B4-BE49-F238E27FC236}">
                <a16:creationId xmlns:a16="http://schemas.microsoft.com/office/drawing/2014/main" id="{254F58C4-A867-C063-91C2-4FE8CF326F54}"/>
              </a:ext>
            </a:extLst>
          </p:cNvPr>
          <p:cNvSpPr txBox="1"/>
          <p:nvPr/>
        </p:nvSpPr>
        <p:spPr>
          <a:xfrm>
            <a:off x="166253" y="4423072"/>
            <a:ext cx="11835245" cy="2062103"/>
          </a:xfrm>
          <a:prstGeom prst="rect">
            <a:avLst/>
          </a:prstGeom>
          <a:noFill/>
          <a:ln>
            <a:solidFill>
              <a:schemeClr val="tx1"/>
            </a:solidFill>
            <a:prstDash val="dash"/>
          </a:ln>
        </p:spPr>
        <p:txBody>
          <a:bodyPr wrap="square" rtlCol="0">
            <a:spAutoFit/>
          </a:bodyPr>
          <a:lstStyle/>
          <a:p>
            <a:pPr marL="342900" indent="-342900">
              <a:buFont typeface="Arial" panose="020B0604020202020204" pitchFamily="34" charset="0"/>
              <a:buChar char="•"/>
            </a:pPr>
            <a:r>
              <a:rPr lang="en-IN" sz="1600" b="1" dirty="0"/>
              <a:t>EC2 instance’s security group:</a:t>
            </a:r>
          </a:p>
          <a:p>
            <a:pPr marL="800100" lvl="1" indent="-342900">
              <a:buFont typeface="+mj-lt"/>
              <a:buAutoNum type="arabicPeriod"/>
            </a:pPr>
            <a:r>
              <a:rPr lang="en-IN" sz="1600" dirty="0"/>
              <a:t>Inbound:</a:t>
            </a:r>
          </a:p>
          <a:p>
            <a:pPr marL="1257300" lvl="2" indent="-342900">
              <a:buFont typeface="+mj-lt"/>
              <a:buAutoNum type="alphaLcParenR"/>
            </a:pPr>
            <a:r>
              <a:rPr lang="en-IN" sz="1600" dirty="0"/>
              <a:t>SSH (TCP 22)</a:t>
            </a:r>
          </a:p>
          <a:p>
            <a:pPr marL="1257300" lvl="2" indent="-342900">
              <a:buFont typeface="+mj-lt"/>
              <a:buAutoNum type="alphaLcParenR"/>
            </a:pPr>
            <a:r>
              <a:rPr lang="en-IN" sz="1600" dirty="0"/>
              <a:t>HTTPS 8080 for Jenkins</a:t>
            </a:r>
          </a:p>
          <a:p>
            <a:pPr marL="1257300" lvl="2" indent="-342900">
              <a:buFont typeface="+mj-lt"/>
              <a:buAutoNum type="alphaLcParenR"/>
            </a:pPr>
            <a:r>
              <a:rPr lang="en-IN" sz="1600" dirty="0"/>
              <a:t>HTTPS 8000: We keep it close as frontend (Node.JS app running on port 3000 – exposed to the client VPN IP range configured in the Security Group (SG) of the EC2 instance) access it by calling </a:t>
            </a:r>
            <a:r>
              <a:rPr lang="en-IN" sz="1600" i="1" dirty="0"/>
              <a:t>localhost:8000</a:t>
            </a:r>
            <a:r>
              <a:rPr lang="en-IN" sz="1600" dirty="0"/>
              <a:t>.</a:t>
            </a:r>
          </a:p>
          <a:p>
            <a:pPr marL="800100" lvl="1" indent="-342900">
              <a:buFont typeface="+mj-lt"/>
              <a:buAutoNum type="arabicPeriod"/>
            </a:pPr>
            <a:r>
              <a:rPr lang="en-IN" sz="1600" dirty="0"/>
              <a:t>Outbound:</a:t>
            </a:r>
          </a:p>
          <a:p>
            <a:pPr marL="1257300" lvl="2" indent="-342900">
              <a:buFont typeface="+mj-lt"/>
              <a:buAutoNum type="alphaLcParenR"/>
            </a:pPr>
            <a:r>
              <a:rPr lang="en-IN" sz="1600" dirty="0"/>
              <a:t>Open to all (to access the whole internet)</a:t>
            </a:r>
          </a:p>
        </p:txBody>
      </p:sp>
      <p:sp>
        <p:nvSpPr>
          <p:cNvPr id="6" name="Right Brace 5">
            <a:extLst>
              <a:ext uri="{FF2B5EF4-FFF2-40B4-BE49-F238E27FC236}">
                <a16:creationId xmlns:a16="http://schemas.microsoft.com/office/drawing/2014/main" id="{46654A73-2B4A-9C52-E814-8F2A2C1981D9}"/>
              </a:ext>
            </a:extLst>
          </p:cNvPr>
          <p:cNvSpPr/>
          <p:nvPr/>
        </p:nvSpPr>
        <p:spPr>
          <a:xfrm>
            <a:off x="3605645" y="4883727"/>
            <a:ext cx="405246" cy="571500"/>
          </a:xfrm>
          <a:prstGeom prst="rightBrace">
            <a:avLst/>
          </a:prstGeom>
          <a:ln w="28575">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IN"/>
          </a:p>
        </p:txBody>
      </p:sp>
      <p:sp>
        <p:nvSpPr>
          <p:cNvPr id="7" name="TextBox 6">
            <a:extLst>
              <a:ext uri="{FF2B5EF4-FFF2-40B4-BE49-F238E27FC236}">
                <a16:creationId xmlns:a16="http://schemas.microsoft.com/office/drawing/2014/main" id="{C343D152-9C16-231B-37C9-02A94EB6D20B}"/>
              </a:ext>
            </a:extLst>
          </p:cNvPr>
          <p:cNvSpPr txBox="1"/>
          <p:nvPr/>
        </p:nvSpPr>
        <p:spPr>
          <a:xfrm>
            <a:off x="4005693" y="5000200"/>
            <a:ext cx="2078182" cy="338554"/>
          </a:xfrm>
          <a:prstGeom prst="rect">
            <a:avLst/>
          </a:prstGeom>
          <a:noFill/>
        </p:spPr>
        <p:txBody>
          <a:bodyPr wrap="square" rtlCol="0">
            <a:spAutoFit/>
          </a:bodyPr>
          <a:lstStyle/>
          <a:p>
            <a:pPr algn="ctr"/>
            <a:r>
              <a:rPr lang="en-IN" sz="1600" dirty="0">
                <a:solidFill>
                  <a:srgbClr val="FF0000"/>
                </a:solidFill>
              </a:rPr>
              <a:t>Only via Deloitte VPN</a:t>
            </a:r>
          </a:p>
        </p:txBody>
      </p:sp>
    </p:spTree>
    <p:extLst>
      <p:ext uri="{BB962C8B-B14F-4D97-AF65-F5344CB8AC3E}">
        <p14:creationId xmlns:p14="http://schemas.microsoft.com/office/powerpoint/2010/main" val="5628640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CF778-D601-FCCE-459D-BD751E9564E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9CA9BBA-06A9-99B3-CEF2-232FA3935834}"/>
              </a:ext>
            </a:extLst>
          </p:cNvPr>
          <p:cNvSpPr txBox="1"/>
          <p:nvPr/>
        </p:nvSpPr>
        <p:spPr>
          <a:xfrm>
            <a:off x="166255" y="145473"/>
            <a:ext cx="11835245" cy="400110"/>
          </a:xfrm>
          <a:prstGeom prst="rect">
            <a:avLst/>
          </a:prstGeom>
          <a:noFill/>
        </p:spPr>
        <p:txBody>
          <a:bodyPr wrap="square" rtlCol="0">
            <a:spAutoFit/>
          </a:bodyPr>
          <a:lstStyle/>
          <a:p>
            <a:r>
              <a:rPr lang="en-IN" sz="2000" b="1" dirty="0"/>
              <a:t>Agile Methodology</a:t>
            </a:r>
          </a:p>
        </p:txBody>
      </p:sp>
      <p:graphicFrame>
        <p:nvGraphicFramePr>
          <p:cNvPr id="8" name="Diagram 7">
            <a:extLst>
              <a:ext uri="{FF2B5EF4-FFF2-40B4-BE49-F238E27FC236}">
                <a16:creationId xmlns:a16="http://schemas.microsoft.com/office/drawing/2014/main" id="{97819CFA-AD01-61A5-8BD8-D95ED36B8441}"/>
              </a:ext>
            </a:extLst>
          </p:cNvPr>
          <p:cNvGraphicFramePr/>
          <p:nvPr>
            <p:extLst>
              <p:ext uri="{D42A27DB-BD31-4B8C-83A1-F6EECF244321}">
                <p14:modId xmlns:p14="http://schemas.microsoft.com/office/powerpoint/2010/main" val="3771963449"/>
              </p:ext>
            </p:extLst>
          </p:nvPr>
        </p:nvGraphicFramePr>
        <p:xfrm>
          <a:off x="4608943" y="1263842"/>
          <a:ext cx="7392557" cy="43303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Arrow: Chevron 8">
            <a:extLst>
              <a:ext uri="{FF2B5EF4-FFF2-40B4-BE49-F238E27FC236}">
                <a16:creationId xmlns:a16="http://schemas.microsoft.com/office/drawing/2014/main" id="{128EB677-382F-732B-2F8E-B4BBB8B6A3C7}"/>
              </a:ext>
            </a:extLst>
          </p:cNvPr>
          <p:cNvSpPr/>
          <p:nvPr/>
        </p:nvSpPr>
        <p:spPr>
          <a:xfrm>
            <a:off x="4608943" y="4061559"/>
            <a:ext cx="1750868" cy="635132"/>
          </a:xfrm>
          <a:prstGeom prst="chevron">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IN" dirty="0">
                <a:solidFill>
                  <a:schemeClr val="bg1"/>
                </a:solidFill>
              </a:rPr>
              <a:t>Initialize</a:t>
            </a:r>
          </a:p>
        </p:txBody>
      </p:sp>
      <p:sp>
        <p:nvSpPr>
          <p:cNvPr id="12" name="Arrow: Chevron 11">
            <a:extLst>
              <a:ext uri="{FF2B5EF4-FFF2-40B4-BE49-F238E27FC236}">
                <a16:creationId xmlns:a16="http://schemas.microsoft.com/office/drawing/2014/main" id="{780FE7E2-D7B8-30BB-EDF0-4357E085B93A}"/>
              </a:ext>
            </a:extLst>
          </p:cNvPr>
          <p:cNvSpPr/>
          <p:nvPr/>
        </p:nvSpPr>
        <p:spPr>
          <a:xfrm flipH="1">
            <a:off x="6008253" y="4959026"/>
            <a:ext cx="1750868" cy="635132"/>
          </a:xfrm>
          <a:prstGeom prst="chevron">
            <a:avLst/>
          </a:prstGeom>
        </p:spPr>
        <p:style>
          <a:lnRef idx="1">
            <a:schemeClr val="accent5"/>
          </a:lnRef>
          <a:fillRef idx="3">
            <a:schemeClr val="accent5"/>
          </a:fillRef>
          <a:effectRef idx="2">
            <a:schemeClr val="accent5"/>
          </a:effectRef>
          <a:fontRef idx="minor">
            <a:schemeClr val="lt1"/>
          </a:fontRef>
        </p:style>
        <p:txBody>
          <a:bodyPr rtlCol="0" anchor="ctr"/>
          <a:lstStyle/>
          <a:p>
            <a:pPr algn="ctr"/>
            <a:r>
              <a:rPr lang="en-IN" dirty="0">
                <a:solidFill>
                  <a:schemeClr val="bg1"/>
                </a:solidFill>
              </a:rPr>
              <a:t>Launch</a:t>
            </a:r>
          </a:p>
        </p:txBody>
      </p:sp>
      <p:sp>
        <p:nvSpPr>
          <p:cNvPr id="13" name="TextBox 12">
            <a:extLst>
              <a:ext uri="{FF2B5EF4-FFF2-40B4-BE49-F238E27FC236}">
                <a16:creationId xmlns:a16="http://schemas.microsoft.com/office/drawing/2014/main" id="{67DED4DD-D46C-E182-4440-2046014F0A83}"/>
              </a:ext>
            </a:extLst>
          </p:cNvPr>
          <p:cNvSpPr txBox="1"/>
          <p:nvPr/>
        </p:nvSpPr>
        <p:spPr>
          <a:xfrm>
            <a:off x="166255" y="2890391"/>
            <a:ext cx="4442688"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Agile is a flexible way to build software in small steps (sprints/iterations), with regular feedback and quick improvements based on user needs.</a:t>
            </a:r>
          </a:p>
        </p:txBody>
      </p:sp>
    </p:spTree>
    <p:extLst>
      <p:ext uri="{BB962C8B-B14F-4D97-AF65-F5344CB8AC3E}">
        <p14:creationId xmlns:p14="http://schemas.microsoft.com/office/powerpoint/2010/main" val="39735352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D2CE9-3438-5906-5136-C228DEB7327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215A734-0482-6C14-47AC-8F5DAA44014A}"/>
              </a:ext>
            </a:extLst>
          </p:cNvPr>
          <p:cNvSpPr txBox="1"/>
          <p:nvPr/>
        </p:nvSpPr>
        <p:spPr>
          <a:xfrm>
            <a:off x="166255" y="145473"/>
            <a:ext cx="11835245" cy="400110"/>
          </a:xfrm>
          <a:prstGeom prst="rect">
            <a:avLst/>
          </a:prstGeom>
          <a:noFill/>
        </p:spPr>
        <p:txBody>
          <a:bodyPr wrap="square" rtlCol="0">
            <a:spAutoFit/>
          </a:bodyPr>
          <a:lstStyle/>
          <a:p>
            <a:r>
              <a:rPr lang="en-IN" sz="2000" b="1" dirty="0"/>
              <a:t>Waterfall Methodology</a:t>
            </a:r>
          </a:p>
        </p:txBody>
      </p:sp>
      <p:sp>
        <p:nvSpPr>
          <p:cNvPr id="13" name="TextBox 12">
            <a:extLst>
              <a:ext uri="{FF2B5EF4-FFF2-40B4-BE49-F238E27FC236}">
                <a16:creationId xmlns:a16="http://schemas.microsoft.com/office/drawing/2014/main" id="{2E81D5C4-BA41-9103-F6B2-38475F706C2C}"/>
              </a:ext>
            </a:extLst>
          </p:cNvPr>
          <p:cNvSpPr txBox="1"/>
          <p:nvPr/>
        </p:nvSpPr>
        <p:spPr>
          <a:xfrm>
            <a:off x="166255" y="2767280"/>
            <a:ext cx="4571999" cy="1323439"/>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Waterfall model is a step-by-step software development process where each phase (like requirements, design, coding, testing, deployment) is done one after the other, with no going back to previous steps.</a:t>
            </a:r>
          </a:p>
        </p:txBody>
      </p:sp>
      <p:grpSp>
        <p:nvGrpSpPr>
          <p:cNvPr id="16" name="Group 15">
            <a:extLst>
              <a:ext uri="{FF2B5EF4-FFF2-40B4-BE49-F238E27FC236}">
                <a16:creationId xmlns:a16="http://schemas.microsoft.com/office/drawing/2014/main" id="{660DD38D-12E7-88E8-A1E0-A4088F287DA8}"/>
              </a:ext>
            </a:extLst>
          </p:cNvPr>
          <p:cNvGrpSpPr/>
          <p:nvPr/>
        </p:nvGrpSpPr>
        <p:grpSpPr>
          <a:xfrm>
            <a:off x="4738254" y="1667562"/>
            <a:ext cx="7263246" cy="3184851"/>
            <a:chOff x="4904509" y="1246909"/>
            <a:chExt cx="7263246" cy="3184851"/>
          </a:xfrm>
        </p:grpSpPr>
        <p:sp>
          <p:nvSpPr>
            <p:cNvPr id="3" name="Rectangle: Rounded Corners 2">
              <a:extLst>
                <a:ext uri="{FF2B5EF4-FFF2-40B4-BE49-F238E27FC236}">
                  <a16:creationId xmlns:a16="http://schemas.microsoft.com/office/drawing/2014/main" id="{73906A5F-9D0E-C881-FD66-97B63BEBED57}"/>
                </a:ext>
              </a:extLst>
            </p:cNvPr>
            <p:cNvSpPr/>
            <p:nvPr/>
          </p:nvSpPr>
          <p:spPr>
            <a:xfrm>
              <a:off x="4904509" y="1246909"/>
              <a:ext cx="2421082" cy="477982"/>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IN" sz="1600" dirty="0"/>
                <a:t>Requirements</a:t>
              </a:r>
            </a:p>
          </p:txBody>
        </p:sp>
        <p:sp>
          <p:nvSpPr>
            <p:cNvPr id="4" name="Rectangle: Rounded Corners 3">
              <a:extLst>
                <a:ext uri="{FF2B5EF4-FFF2-40B4-BE49-F238E27FC236}">
                  <a16:creationId xmlns:a16="http://schemas.microsoft.com/office/drawing/2014/main" id="{DC6B622F-E589-0B74-AEDA-ADB3E82E655A}"/>
                </a:ext>
              </a:extLst>
            </p:cNvPr>
            <p:cNvSpPr/>
            <p:nvPr/>
          </p:nvSpPr>
          <p:spPr>
            <a:xfrm>
              <a:off x="6115050" y="1927453"/>
              <a:ext cx="2421082" cy="477982"/>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IN" sz="1600" dirty="0"/>
                <a:t>Design</a:t>
              </a:r>
            </a:p>
          </p:txBody>
        </p:sp>
        <p:sp>
          <p:nvSpPr>
            <p:cNvPr id="5" name="Rectangle: Rounded Corners 4">
              <a:extLst>
                <a:ext uri="{FF2B5EF4-FFF2-40B4-BE49-F238E27FC236}">
                  <a16:creationId xmlns:a16="http://schemas.microsoft.com/office/drawing/2014/main" id="{28C39C3C-4311-9F11-525F-5F5EF381C2F6}"/>
                </a:ext>
              </a:extLst>
            </p:cNvPr>
            <p:cNvSpPr/>
            <p:nvPr/>
          </p:nvSpPr>
          <p:spPr>
            <a:xfrm>
              <a:off x="7325591" y="2620227"/>
              <a:ext cx="2421082" cy="477982"/>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IN" sz="1600" dirty="0"/>
                <a:t>Implementation</a:t>
              </a:r>
            </a:p>
          </p:txBody>
        </p:sp>
        <p:sp>
          <p:nvSpPr>
            <p:cNvPr id="6" name="Rectangle: Rounded Corners 5">
              <a:extLst>
                <a:ext uri="{FF2B5EF4-FFF2-40B4-BE49-F238E27FC236}">
                  <a16:creationId xmlns:a16="http://schemas.microsoft.com/office/drawing/2014/main" id="{640A730A-5C47-BABD-C310-2BC4C648C230}"/>
                </a:ext>
              </a:extLst>
            </p:cNvPr>
            <p:cNvSpPr/>
            <p:nvPr/>
          </p:nvSpPr>
          <p:spPr>
            <a:xfrm>
              <a:off x="8536132" y="3302589"/>
              <a:ext cx="2421082" cy="477982"/>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IN" sz="1600" dirty="0"/>
                <a:t>Verification</a:t>
              </a:r>
            </a:p>
          </p:txBody>
        </p:sp>
        <p:sp>
          <p:nvSpPr>
            <p:cNvPr id="7" name="Rectangle: Rounded Corners 6">
              <a:extLst>
                <a:ext uri="{FF2B5EF4-FFF2-40B4-BE49-F238E27FC236}">
                  <a16:creationId xmlns:a16="http://schemas.microsoft.com/office/drawing/2014/main" id="{945801DF-845F-6A83-C898-DB31CF7CCC93}"/>
                </a:ext>
              </a:extLst>
            </p:cNvPr>
            <p:cNvSpPr/>
            <p:nvPr/>
          </p:nvSpPr>
          <p:spPr>
            <a:xfrm>
              <a:off x="9746673" y="3953778"/>
              <a:ext cx="2421082" cy="477982"/>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IN" sz="1600" dirty="0"/>
                <a:t>Maintenance</a:t>
              </a:r>
            </a:p>
          </p:txBody>
        </p:sp>
        <p:sp>
          <p:nvSpPr>
            <p:cNvPr id="10" name="Arrow: Bent 9">
              <a:extLst>
                <a:ext uri="{FF2B5EF4-FFF2-40B4-BE49-F238E27FC236}">
                  <a16:creationId xmlns:a16="http://schemas.microsoft.com/office/drawing/2014/main" id="{31E24125-8A88-CA04-4268-E6D58B2E4C39}"/>
                </a:ext>
              </a:extLst>
            </p:cNvPr>
            <p:cNvSpPr/>
            <p:nvPr/>
          </p:nvSpPr>
          <p:spPr>
            <a:xfrm rot="5400000">
              <a:off x="7369722" y="1392382"/>
              <a:ext cx="467591" cy="555853"/>
            </a:xfrm>
            <a:prstGeom prst="bentArrow">
              <a:avLst/>
            </a:prstGeom>
            <a:solidFill>
              <a:schemeClr val="accent3"/>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1" name="Arrow: Bent 10">
              <a:extLst>
                <a:ext uri="{FF2B5EF4-FFF2-40B4-BE49-F238E27FC236}">
                  <a16:creationId xmlns:a16="http://schemas.microsoft.com/office/drawing/2014/main" id="{382718C1-3B1B-E635-6B04-6D791A473FDD}"/>
                </a:ext>
              </a:extLst>
            </p:cNvPr>
            <p:cNvSpPr/>
            <p:nvPr/>
          </p:nvSpPr>
          <p:spPr>
            <a:xfrm rot="5400000">
              <a:off x="8580263" y="2075493"/>
              <a:ext cx="467591" cy="555853"/>
            </a:xfrm>
            <a:prstGeom prst="bentArrow">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4" name="Arrow: Bent 13">
              <a:extLst>
                <a:ext uri="{FF2B5EF4-FFF2-40B4-BE49-F238E27FC236}">
                  <a16:creationId xmlns:a16="http://schemas.microsoft.com/office/drawing/2014/main" id="{E58D5716-9022-CFEF-B9B0-23490126362B}"/>
                </a:ext>
              </a:extLst>
            </p:cNvPr>
            <p:cNvSpPr/>
            <p:nvPr/>
          </p:nvSpPr>
          <p:spPr>
            <a:xfrm rot="5400000">
              <a:off x="9790804" y="2766609"/>
              <a:ext cx="467591" cy="555853"/>
            </a:xfrm>
            <a:prstGeom prst="ben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15" name="Arrow: Bent 14">
              <a:extLst>
                <a:ext uri="{FF2B5EF4-FFF2-40B4-BE49-F238E27FC236}">
                  <a16:creationId xmlns:a16="http://schemas.microsoft.com/office/drawing/2014/main" id="{02B88EF5-62AD-2997-2F22-0AC196E8E833}"/>
                </a:ext>
              </a:extLst>
            </p:cNvPr>
            <p:cNvSpPr/>
            <p:nvPr/>
          </p:nvSpPr>
          <p:spPr>
            <a:xfrm rot="5400000">
              <a:off x="11001345" y="3414323"/>
              <a:ext cx="467591" cy="555853"/>
            </a:xfrm>
            <a:prstGeom prst="bent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spTree>
    <p:extLst>
      <p:ext uri="{BB962C8B-B14F-4D97-AF65-F5344CB8AC3E}">
        <p14:creationId xmlns:p14="http://schemas.microsoft.com/office/powerpoint/2010/main" val="35505583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F4195-474A-3624-BABD-5DF662B7C48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94EFD8B-22EA-2A98-BAEE-64871190B45C}"/>
              </a:ext>
            </a:extLst>
          </p:cNvPr>
          <p:cNvSpPr txBox="1"/>
          <p:nvPr/>
        </p:nvSpPr>
        <p:spPr>
          <a:xfrm>
            <a:off x="166255" y="145473"/>
            <a:ext cx="11835245" cy="400110"/>
          </a:xfrm>
          <a:prstGeom prst="rect">
            <a:avLst/>
          </a:prstGeom>
          <a:noFill/>
        </p:spPr>
        <p:txBody>
          <a:bodyPr wrap="square" rtlCol="0">
            <a:spAutoFit/>
          </a:bodyPr>
          <a:lstStyle/>
          <a:p>
            <a:r>
              <a:rPr lang="en-IN" sz="2000" b="1" dirty="0"/>
              <a:t>Iterative Methodology</a:t>
            </a:r>
          </a:p>
        </p:txBody>
      </p:sp>
      <p:sp>
        <p:nvSpPr>
          <p:cNvPr id="13" name="TextBox 12">
            <a:extLst>
              <a:ext uri="{FF2B5EF4-FFF2-40B4-BE49-F238E27FC236}">
                <a16:creationId xmlns:a16="http://schemas.microsoft.com/office/drawing/2014/main" id="{B15983C3-14DB-6855-7FF4-C2F4A83A6BCC}"/>
              </a:ext>
            </a:extLst>
          </p:cNvPr>
          <p:cNvSpPr txBox="1"/>
          <p:nvPr/>
        </p:nvSpPr>
        <p:spPr>
          <a:xfrm>
            <a:off x="166255" y="3013501"/>
            <a:ext cx="5929745" cy="830997"/>
          </a:xfrm>
          <a:prstGeom prst="rect">
            <a:avLst/>
          </a:prstGeom>
          <a:noFill/>
        </p:spPr>
        <p:txBody>
          <a:bodyPr wrap="square" rtlCol="0">
            <a:spAutoFit/>
          </a:bodyPr>
          <a:lstStyle/>
          <a:p>
            <a:pPr marL="285750" indent="-285750">
              <a:buFont typeface="Arial" panose="020B0604020202020204" pitchFamily="34" charset="0"/>
              <a:buChar char="•"/>
            </a:pPr>
            <a:r>
              <a:rPr lang="en-US" sz="1600" dirty="0"/>
              <a:t>Focuses on repeatedly improving the software in cycles (each iteration adds or refines features). But the plan is usually decided upfront, and changes later can be harder.</a:t>
            </a:r>
          </a:p>
        </p:txBody>
      </p:sp>
      <p:graphicFrame>
        <p:nvGraphicFramePr>
          <p:cNvPr id="8" name="Diagram 7">
            <a:extLst>
              <a:ext uri="{FF2B5EF4-FFF2-40B4-BE49-F238E27FC236}">
                <a16:creationId xmlns:a16="http://schemas.microsoft.com/office/drawing/2014/main" id="{13AB5AF0-17A9-B895-7E27-660280FF22A1}"/>
              </a:ext>
            </a:extLst>
          </p:cNvPr>
          <p:cNvGraphicFramePr/>
          <p:nvPr>
            <p:extLst>
              <p:ext uri="{D42A27DB-BD31-4B8C-83A1-F6EECF244321}">
                <p14:modId xmlns:p14="http://schemas.microsoft.com/office/powerpoint/2010/main" val="2780511573"/>
              </p:ext>
            </p:extLst>
          </p:nvPr>
        </p:nvGraphicFramePr>
        <p:xfrm>
          <a:off x="4608943" y="1263842"/>
          <a:ext cx="7392557" cy="43303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1821819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DBD33-FE2B-B2D2-190C-9E48B55091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EB5644-E692-4870-87A4-4143641852D6}"/>
              </a:ext>
            </a:extLst>
          </p:cNvPr>
          <p:cNvSpPr txBox="1"/>
          <p:nvPr/>
        </p:nvSpPr>
        <p:spPr>
          <a:xfrm>
            <a:off x="166255" y="145473"/>
            <a:ext cx="11835245" cy="400110"/>
          </a:xfrm>
          <a:prstGeom prst="rect">
            <a:avLst/>
          </a:prstGeom>
          <a:noFill/>
        </p:spPr>
        <p:txBody>
          <a:bodyPr wrap="square" rtlCol="0">
            <a:spAutoFit/>
          </a:bodyPr>
          <a:lstStyle/>
          <a:p>
            <a:r>
              <a:rPr lang="en-IN" sz="2000" b="1" dirty="0"/>
              <a:t>Iterative vs Agile Methodology</a:t>
            </a:r>
          </a:p>
        </p:txBody>
      </p:sp>
      <p:sp>
        <p:nvSpPr>
          <p:cNvPr id="3" name="Rectangle: Rounded Corners 2">
            <a:extLst>
              <a:ext uri="{FF2B5EF4-FFF2-40B4-BE49-F238E27FC236}">
                <a16:creationId xmlns:a16="http://schemas.microsoft.com/office/drawing/2014/main" id="{79343234-3CC1-E031-A0DC-7B6D58168FED}"/>
              </a:ext>
            </a:extLst>
          </p:cNvPr>
          <p:cNvSpPr/>
          <p:nvPr/>
        </p:nvSpPr>
        <p:spPr>
          <a:xfrm>
            <a:off x="166256" y="1891146"/>
            <a:ext cx="5850080" cy="1465118"/>
          </a:xfrm>
          <a:prstGeom prst="roundRect">
            <a:avLst/>
          </a:prstGeom>
          <a:effectLst>
            <a:outerShdw blurRad="76200" dist="12700" dir="8100000" sy="-23000" kx="800400" algn="br" rotWithShape="0">
              <a:prstClr val="black">
                <a:alpha val="20000"/>
              </a:prstClr>
            </a:outerShdw>
          </a:effectLst>
        </p:spPr>
        <p:style>
          <a:lnRef idx="2">
            <a:schemeClr val="accent2"/>
          </a:lnRef>
          <a:fillRef idx="1">
            <a:schemeClr val="lt1"/>
          </a:fillRef>
          <a:effectRef idx="0">
            <a:schemeClr val="accent2"/>
          </a:effectRef>
          <a:fontRef idx="minor">
            <a:schemeClr val="dk1"/>
          </a:fontRef>
        </p:style>
        <p:txBody>
          <a:bodyPr rtlCol="0" anchor="t"/>
          <a:lstStyle/>
          <a:p>
            <a:pPr algn="ctr"/>
            <a:r>
              <a:rPr lang="en-IN" sz="1600" b="1" dirty="0"/>
              <a:t>Iterative Methodology</a:t>
            </a:r>
          </a:p>
          <a:p>
            <a:pPr marL="285750" indent="-285750">
              <a:buFont typeface="Arial" panose="020B0604020202020204" pitchFamily="34" charset="0"/>
              <a:buChar char="•"/>
            </a:pPr>
            <a:r>
              <a:rPr lang="en-US" sz="1600" dirty="0"/>
              <a:t>Focuses on repeatedly improving the software in cycles (each iteration adds or refines features). But the plan is usually decided upfront, and changes later can be harder.</a:t>
            </a:r>
          </a:p>
          <a:p>
            <a:pPr marL="285750" indent="-285750">
              <a:buFont typeface="Arial" panose="020B0604020202020204" pitchFamily="34" charset="0"/>
              <a:buChar char="•"/>
            </a:pPr>
            <a:r>
              <a:rPr lang="en-IN" sz="1600" dirty="0"/>
              <a:t>Step-by-step building.</a:t>
            </a:r>
          </a:p>
        </p:txBody>
      </p:sp>
      <p:sp>
        <p:nvSpPr>
          <p:cNvPr id="4" name="Rectangle: Rounded Corners 3">
            <a:extLst>
              <a:ext uri="{FF2B5EF4-FFF2-40B4-BE49-F238E27FC236}">
                <a16:creationId xmlns:a16="http://schemas.microsoft.com/office/drawing/2014/main" id="{B9C8BA95-D513-2BBF-D2E2-F86BF892313D}"/>
              </a:ext>
            </a:extLst>
          </p:cNvPr>
          <p:cNvSpPr/>
          <p:nvPr/>
        </p:nvSpPr>
        <p:spPr>
          <a:xfrm>
            <a:off x="6175666" y="1891146"/>
            <a:ext cx="5825834" cy="1465118"/>
          </a:xfrm>
          <a:prstGeom prst="roundRect">
            <a:avLst/>
          </a:prstGeom>
          <a:effectLst>
            <a:outerShdw blurRad="76200" dist="12700" dir="8100000" sy="-23000" kx="800400" algn="br" rotWithShape="0">
              <a:prstClr val="black">
                <a:alpha val="20000"/>
              </a:prstClr>
            </a:outerShdw>
          </a:effectLst>
        </p:spPr>
        <p:style>
          <a:lnRef idx="2">
            <a:schemeClr val="accent6"/>
          </a:lnRef>
          <a:fillRef idx="1">
            <a:schemeClr val="lt1"/>
          </a:fillRef>
          <a:effectRef idx="0">
            <a:schemeClr val="accent6"/>
          </a:effectRef>
          <a:fontRef idx="minor">
            <a:schemeClr val="dk1"/>
          </a:fontRef>
        </p:style>
        <p:txBody>
          <a:bodyPr rtlCol="0" anchor="t"/>
          <a:lstStyle/>
          <a:p>
            <a:pPr algn="ctr"/>
            <a:r>
              <a:rPr lang="en-IN" sz="1600" b="1" dirty="0"/>
              <a:t>Agile Methodology</a:t>
            </a:r>
          </a:p>
          <a:p>
            <a:pPr marL="285750" indent="-285750">
              <a:buFont typeface="Arial" panose="020B0604020202020204" pitchFamily="34" charset="0"/>
              <a:buChar char="•"/>
            </a:pPr>
            <a:r>
              <a:rPr lang="en-US" sz="1600" dirty="0"/>
              <a:t>Uses iterations/sprints but also welcomes change at any time, relies heavily on team collaboration + customer feedback, and adjusts the plan continuously.</a:t>
            </a:r>
          </a:p>
          <a:p>
            <a:pPr marL="285750" indent="-285750">
              <a:buFont typeface="Arial" panose="020B0604020202020204" pitchFamily="34" charset="0"/>
              <a:buChar char="•"/>
            </a:pPr>
            <a:r>
              <a:rPr lang="en-US" sz="1600" dirty="0">
                <a:solidFill>
                  <a:srgbClr val="00B050"/>
                </a:solidFill>
              </a:rPr>
              <a:t>Iterative + adaptability + strong feedback loop</a:t>
            </a:r>
            <a:r>
              <a:rPr lang="en-US" sz="1600" dirty="0"/>
              <a:t>.</a:t>
            </a:r>
            <a:endParaRPr lang="en-IN" sz="1600" dirty="0"/>
          </a:p>
        </p:txBody>
      </p:sp>
    </p:spTree>
    <p:extLst>
      <p:ext uri="{BB962C8B-B14F-4D97-AF65-F5344CB8AC3E}">
        <p14:creationId xmlns:p14="http://schemas.microsoft.com/office/powerpoint/2010/main" val="26482547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ED8EA-E2A4-F478-E722-E3BAEA6AB8A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09D3D4F-979A-32CE-8160-C10AA4C051A1}"/>
              </a:ext>
            </a:extLst>
          </p:cNvPr>
          <p:cNvSpPr txBox="1"/>
          <p:nvPr/>
        </p:nvSpPr>
        <p:spPr>
          <a:xfrm>
            <a:off x="166255" y="145473"/>
            <a:ext cx="11835245" cy="400110"/>
          </a:xfrm>
          <a:prstGeom prst="rect">
            <a:avLst/>
          </a:prstGeom>
          <a:noFill/>
        </p:spPr>
        <p:txBody>
          <a:bodyPr wrap="square" rtlCol="0">
            <a:spAutoFit/>
          </a:bodyPr>
          <a:lstStyle/>
          <a:p>
            <a:r>
              <a:rPr lang="en-IN" sz="2000" b="1" dirty="0"/>
              <a:t>AWS Services</a:t>
            </a:r>
          </a:p>
        </p:txBody>
      </p:sp>
      <p:sp>
        <p:nvSpPr>
          <p:cNvPr id="3" name="TextBox 2">
            <a:extLst>
              <a:ext uri="{FF2B5EF4-FFF2-40B4-BE49-F238E27FC236}">
                <a16:creationId xmlns:a16="http://schemas.microsoft.com/office/drawing/2014/main" id="{62C7BD71-1CBC-1354-2476-D27AF763B7E0}"/>
              </a:ext>
            </a:extLst>
          </p:cNvPr>
          <p:cNvSpPr txBox="1"/>
          <p:nvPr/>
        </p:nvSpPr>
        <p:spPr>
          <a:xfrm>
            <a:off x="190500" y="545583"/>
            <a:ext cx="11835245" cy="584775"/>
          </a:xfrm>
          <a:prstGeom prst="rect">
            <a:avLst/>
          </a:prstGeom>
          <a:noFill/>
          <a:ln>
            <a:solidFill>
              <a:schemeClr val="tx1"/>
            </a:solidFill>
            <a:prstDash val="sysDash"/>
          </a:ln>
        </p:spPr>
        <p:txBody>
          <a:bodyPr wrap="square" rtlCol="0">
            <a:spAutoFit/>
          </a:bodyPr>
          <a:lstStyle/>
          <a:p>
            <a:r>
              <a:rPr lang="en-IN" sz="1600" b="1" dirty="0"/>
              <a:t>AWS EC2</a:t>
            </a:r>
            <a:endParaRPr lang="en-IN" sz="1600" dirty="0"/>
          </a:p>
          <a:p>
            <a:pPr marL="285750" indent="-285750">
              <a:buFont typeface="Arial" panose="020B0604020202020204" pitchFamily="34" charset="0"/>
              <a:buChar char="•"/>
            </a:pPr>
            <a:r>
              <a:rPr lang="en-IN" sz="1600" dirty="0"/>
              <a:t>The storage comes with EC2 is EBS (Elastic Block Storage).</a:t>
            </a:r>
          </a:p>
        </p:txBody>
      </p:sp>
      <p:graphicFrame>
        <p:nvGraphicFramePr>
          <p:cNvPr id="4" name="Table 3">
            <a:extLst>
              <a:ext uri="{FF2B5EF4-FFF2-40B4-BE49-F238E27FC236}">
                <a16:creationId xmlns:a16="http://schemas.microsoft.com/office/drawing/2014/main" id="{3683923C-8A01-FB07-49B3-3840C1AF9525}"/>
              </a:ext>
            </a:extLst>
          </p:cNvPr>
          <p:cNvGraphicFramePr>
            <a:graphicFrameLocks noGrp="1"/>
          </p:cNvGraphicFramePr>
          <p:nvPr>
            <p:extLst>
              <p:ext uri="{D42A27DB-BD31-4B8C-83A1-F6EECF244321}">
                <p14:modId xmlns:p14="http://schemas.microsoft.com/office/powerpoint/2010/main" val="53184474"/>
              </p:ext>
            </p:extLst>
          </p:nvPr>
        </p:nvGraphicFramePr>
        <p:xfrm>
          <a:off x="190500" y="1579638"/>
          <a:ext cx="11835246" cy="4389120"/>
        </p:xfrm>
        <a:graphic>
          <a:graphicData uri="http://schemas.openxmlformats.org/drawingml/2006/table">
            <a:tbl>
              <a:tblPr firstRow="1" bandRow="1">
                <a:tableStyleId>{073A0DAA-6AF3-43AB-8588-CEC1D06C72B9}</a:tableStyleId>
              </a:tblPr>
              <a:tblGrid>
                <a:gridCol w="2677391">
                  <a:extLst>
                    <a:ext uri="{9D8B030D-6E8A-4147-A177-3AD203B41FA5}">
                      <a16:colId xmlns:a16="http://schemas.microsoft.com/office/drawing/2014/main" val="3532667559"/>
                    </a:ext>
                  </a:extLst>
                </a:gridCol>
                <a:gridCol w="4675909">
                  <a:extLst>
                    <a:ext uri="{9D8B030D-6E8A-4147-A177-3AD203B41FA5}">
                      <a16:colId xmlns:a16="http://schemas.microsoft.com/office/drawing/2014/main" val="3385114532"/>
                    </a:ext>
                  </a:extLst>
                </a:gridCol>
                <a:gridCol w="4481946">
                  <a:extLst>
                    <a:ext uri="{9D8B030D-6E8A-4147-A177-3AD203B41FA5}">
                      <a16:colId xmlns:a16="http://schemas.microsoft.com/office/drawing/2014/main" val="384871703"/>
                    </a:ext>
                  </a:extLst>
                </a:gridCol>
              </a:tblGrid>
              <a:tr h="168820">
                <a:tc>
                  <a:txBody>
                    <a:bodyPr/>
                    <a:lstStyle/>
                    <a:p>
                      <a:pPr algn="ctr"/>
                      <a:r>
                        <a:rPr lang="en-IN" sz="1600" dirty="0"/>
                        <a:t>Feature</a:t>
                      </a:r>
                    </a:p>
                  </a:txBody>
                  <a:tcPr/>
                </a:tc>
                <a:tc>
                  <a:txBody>
                    <a:bodyPr/>
                    <a:lstStyle/>
                    <a:p>
                      <a:pPr algn="ctr"/>
                      <a:r>
                        <a:rPr lang="en-IN" sz="1600" dirty="0"/>
                        <a:t>Amazon EBS (Elastic Block Storage)</a:t>
                      </a:r>
                    </a:p>
                  </a:txBody>
                  <a:tcPr/>
                </a:tc>
                <a:tc>
                  <a:txBody>
                    <a:bodyPr/>
                    <a:lstStyle/>
                    <a:p>
                      <a:pPr algn="ctr"/>
                      <a:r>
                        <a:rPr lang="en-IN" sz="1600" dirty="0"/>
                        <a:t>Amazon S3 (Simple Storage Service)</a:t>
                      </a:r>
                    </a:p>
                  </a:txBody>
                  <a:tcPr/>
                </a:tc>
                <a:extLst>
                  <a:ext uri="{0D108BD9-81ED-4DB2-BD59-A6C34878D82A}">
                    <a16:rowId xmlns:a16="http://schemas.microsoft.com/office/drawing/2014/main" val="4032196613"/>
                  </a:ext>
                </a:extLst>
              </a:tr>
              <a:tr h="168820">
                <a:tc>
                  <a:txBody>
                    <a:bodyPr/>
                    <a:lstStyle/>
                    <a:p>
                      <a:r>
                        <a:rPr lang="en-IN" sz="1600" dirty="0"/>
                        <a:t>Type of storage</a:t>
                      </a:r>
                    </a:p>
                  </a:txBody>
                  <a:tcPr/>
                </a:tc>
                <a:tc>
                  <a:txBody>
                    <a:bodyPr/>
                    <a:lstStyle/>
                    <a:p>
                      <a:r>
                        <a:rPr lang="en-IN" sz="1600" dirty="0"/>
                        <a:t>Block storage (like a had disk)</a:t>
                      </a:r>
                    </a:p>
                  </a:txBody>
                  <a:tcPr/>
                </a:tc>
                <a:tc>
                  <a:txBody>
                    <a:bodyPr/>
                    <a:lstStyle/>
                    <a:p>
                      <a:r>
                        <a:rPr lang="en-IN" sz="1600" dirty="0"/>
                        <a:t>Object storage (like a data bucket)</a:t>
                      </a:r>
                    </a:p>
                  </a:txBody>
                  <a:tcPr/>
                </a:tc>
                <a:extLst>
                  <a:ext uri="{0D108BD9-81ED-4DB2-BD59-A6C34878D82A}">
                    <a16:rowId xmlns:a16="http://schemas.microsoft.com/office/drawing/2014/main" val="1788148539"/>
                  </a:ext>
                </a:extLst>
              </a:tr>
              <a:tr h="168820">
                <a:tc>
                  <a:txBody>
                    <a:bodyPr/>
                    <a:lstStyle/>
                    <a:p>
                      <a:r>
                        <a:rPr lang="en-IN" sz="1600" dirty="0"/>
                        <a:t>Usage</a:t>
                      </a:r>
                    </a:p>
                  </a:txBody>
                  <a:tcPr/>
                </a:tc>
                <a:tc>
                  <a:txBody>
                    <a:bodyPr/>
                    <a:lstStyle/>
                    <a:p>
                      <a:r>
                        <a:rPr lang="en-IN" sz="1600" dirty="0"/>
                        <a:t>Attached to EC2 instances as a disk for OS, databases, code, etc.</a:t>
                      </a:r>
                    </a:p>
                  </a:txBody>
                  <a:tcPr/>
                </a:tc>
                <a:tc>
                  <a:txBody>
                    <a:bodyPr/>
                    <a:lstStyle/>
                    <a:p>
                      <a:r>
                        <a:rPr lang="en-IN" sz="1600" dirty="0"/>
                        <a:t>Store and access the files over the internet</a:t>
                      </a:r>
                    </a:p>
                  </a:txBody>
                  <a:tcPr/>
                </a:tc>
                <a:extLst>
                  <a:ext uri="{0D108BD9-81ED-4DB2-BD59-A6C34878D82A}">
                    <a16:rowId xmlns:a16="http://schemas.microsoft.com/office/drawing/2014/main" val="3930506072"/>
                  </a:ext>
                </a:extLst>
              </a:tr>
              <a:tr h="168820">
                <a:tc>
                  <a:txBody>
                    <a:bodyPr/>
                    <a:lstStyle/>
                    <a:p>
                      <a:r>
                        <a:rPr lang="en-IN" sz="1600" dirty="0"/>
                        <a:t>Access</a:t>
                      </a:r>
                    </a:p>
                  </a:txBody>
                  <a:tcPr/>
                </a:tc>
                <a:tc>
                  <a:txBody>
                    <a:bodyPr/>
                    <a:lstStyle/>
                    <a:p>
                      <a:r>
                        <a:rPr lang="en-IN" sz="1600" dirty="0"/>
                        <a:t>Accessible only from the attached EC2 instance. EC2 instances can be attached / detached; only one EC2 instance can be attached at a time</a:t>
                      </a:r>
                    </a:p>
                  </a:txBody>
                  <a:tcPr/>
                </a:tc>
                <a:tc>
                  <a:txBody>
                    <a:bodyPr/>
                    <a:lstStyle/>
                    <a:p>
                      <a:r>
                        <a:rPr lang="en-IN" sz="1600" dirty="0"/>
                        <a:t>Accessible from anywhere via APIs, console, SDKs, CLI</a:t>
                      </a:r>
                    </a:p>
                  </a:txBody>
                  <a:tcPr/>
                </a:tc>
                <a:extLst>
                  <a:ext uri="{0D108BD9-81ED-4DB2-BD59-A6C34878D82A}">
                    <a16:rowId xmlns:a16="http://schemas.microsoft.com/office/drawing/2014/main" val="2350371494"/>
                  </a:ext>
                </a:extLst>
              </a:tr>
              <a:tr h="168820">
                <a:tc>
                  <a:txBody>
                    <a:bodyPr/>
                    <a:lstStyle/>
                    <a:p>
                      <a:r>
                        <a:rPr lang="en-IN" sz="1600" dirty="0"/>
                        <a:t>Persistence</a:t>
                      </a:r>
                    </a:p>
                  </a:txBody>
                  <a:tcPr/>
                </a:tc>
                <a:tc>
                  <a:txBody>
                    <a:bodyPr/>
                    <a:lstStyle/>
                    <a:p>
                      <a:r>
                        <a:rPr lang="en-IN" sz="1600" dirty="0"/>
                        <a:t>Persists even if EC2 instance is stopped (unless deleted)</a:t>
                      </a:r>
                    </a:p>
                  </a:txBody>
                  <a:tcPr/>
                </a:tc>
                <a:tc>
                  <a:txBody>
                    <a:bodyPr/>
                    <a:lstStyle/>
                    <a:p>
                      <a:r>
                        <a:rPr lang="en-IN" sz="1600" dirty="0"/>
                        <a:t>Persists until you explicitly delete it</a:t>
                      </a:r>
                    </a:p>
                  </a:txBody>
                  <a:tcPr/>
                </a:tc>
                <a:extLst>
                  <a:ext uri="{0D108BD9-81ED-4DB2-BD59-A6C34878D82A}">
                    <a16:rowId xmlns:a16="http://schemas.microsoft.com/office/drawing/2014/main" val="2675223906"/>
                  </a:ext>
                </a:extLst>
              </a:tr>
              <a:tr h="168820">
                <a:tc>
                  <a:txBody>
                    <a:bodyPr/>
                    <a:lstStyle/>
                    <a:p>
                      <a:r>
                        <a:rPr lang="en-IN" sz="1600" dirty="0"/>
                        <a:t>Scalability</a:t>
                      </a:r>
                    </a:p>
                  </a:txBody>
                  <a:tcPr/>
                </a:tc>
                <a:tc>
                  <a:txBody>
                    <a:bodyPr/>
                    <a:lstStyle/>
                    <a:p>
                      <a:r>
                        <a:rPr lang="en-IN" sz="1600" dirty="0"/>
                        <a:t>Fixed size (you have to choose from a few options: 8 GB, 100 GB, etc.)</a:t>
                      </a:r>
                    </a:p>
                  </a:txBody>
                  <a:tcPr/>
                </a:tc>
                <a:tc>
                  <a:txBody>
                    <a:bodyPr/>
                    <a:lstStyle/>
                    <a:p>
                      <a:r>
                        <a:rPr lang="en-IN" sz="1600" dirty="0"/>
                        <a:t>Virtually unlimited storage</a:t>
                      </a:r>
                    </a:p>
                  </a:txBody>
                  <a:tcPr/>
                </a:tc>
                <a:extLst>
                  <a:ext uri="{0D108BD9-81ED-4DB2-BD59-A6C34878D82A}">
                    <a16:rowId xmlns:a16="http://schemas.microsoft.com/office/drawing/2014/main" val="3477706931"/>
                  </a:ext>
                </a:extLst>
              </a:tr>
              <a:tr h="168820">
                <a:tc>
                  <a:txBody>
                    <a:bodyPr/>
                    <a:lstStyle/>
                    <a:p>
                      <a:r>
                        <a:rPr lang="en-IN" sz="1600" dirty="0"/>
                        <a:t>Performance</a:t>
                      </a:r>
                    </a:p>
                  </a:txBody>
                  <a:tcPr/>
                </a:tc>
                <a:tc>
                  <a:txBody>
                    <a:bodyPr/>
                    <a:lstStyle/>
                    <a:p>
                      <a:r>
                        <a:rPr lang="en-IN" sz="1600" dirty="0"/>
                        <a:t>Low latency (suitable for OS, databases, transactional apps)</a:t>
                      </a:r>
                    </a:p>
                  </a:txBody>
                  <a:tcPr/>
                </a:tc>
                <a:tc>
                  <a:txBody>
                    <a:bodyPr/>
                    <a:lstStyle/>
                    <a:p>
                      <a:r>
                        <a:rPr lang="en-IN" sz="1600" dirty="0"/>
                        <a:t>High throughput, optimized for durability and availability</a:t>
                      </a:r>
                    </a:p>
                  </a:txBody>
                  <a:tcPr/>
                </a:tc>
                <a:extLst>
                  <a:ext uri="{0D108BD9-81ED-4DB2-BD59-A6C34878D82A}">
                    <a16:rowId xmlns:a16="http://schemas.microsoft.com/office/drawing/2014/main" val="1670510111"/>
                  </a:ext>
                </a:extLst>
              </a:tr>
              <a:tr h="168820">
                <a:tc>
                  <a:txBody>
                    <a:bodyPr/>
                    <a:lstStyle/>
                    <a:p>
                      <a:r>
                        <a:rPr lang="en-IN" sz="1600" dirty="0"/>
                        <a:t>Cost Model</a:t>
                      </a:r>
                    </a:p>
                  </a:txBody>
                  <a:tcPr/>
                </a:tc>
                <a:tc>
                  <a:txBody>
                    <a:bodyPr/>
                    <a:lstStyle/>
                    <a:p>
                      <a:r>
                        <a:rPr lang="en-IN" sz="1600" dirty="0"/>
                        <a:t>Pay for allocated GB per month, even if unused</a:t>
                      </a:r>
                    </a:p>
                  </a:txBody>
                  <a:tcPr/>
                </a:tc>
                <a:tc>
                  <a:txBody>
                    <a:bodyPr/>
                    <a:lstStyle/>
                    <a:p>
                      <a:r>
                        <a:rPr lang="en-IN" sz="1600" dirty="0"/>
                        <a:t>Pay for actual storage used, plus requests and data transfers</a:t>
                      </a:r>
                    </a:p>
                  </a:txBody>
                  <a:tcPr/>
                </a:tc>
                <a:extLst>
                  <a:ext uri="{0D108BD9-81ED-4DB2-BD59-A6C34878D82A}">
                    <a16:rowId xmlns:a16="http://schemas.microsoft.com/office/drawing/2014/main" val="3380363976"/>
                  </a:ext>
                </a:extLst>
              </a:tr>
            </a:tbl>
          </a:graphicData>
        </a:graphic>
      </p:graphicFrame>
      <p:sp>
        <p:nvSpPr>
          <p:cNvPr id="6" name="Rectangle 5">
            <a:extLst>
              <a:ext uri="{FF2B5EF4-FFF2-40B4-BE49-F238E27FC236}">
                <a16:creationId xmlns:a16="http://schemas.microsoft.com/office/drawing/2014/main" id="{D59566AE-6548-D0D7-CA8A-5D166D883795}"/>
              </a:ext>
            </a:extLst>
          </p:cNvPr>
          <p:cNvSpPr/>
          <p:nvPr/>
        </p:nvSpPr>
        <p:spPr>
          <a:xfrm>
            <a:off x="190500" y="1247129"/>
            <a:ext cx="11835246" cy="332509"/>
          </a:xfrm>
          <a:prstGeom prst="rect">
            <a:avLst/>
          </a:prstGeom>
          <a:ln>
            <a:solidFill>
              <a:schemeClr val="tx1"/>
            </a:solidFill>
          </a:ln>
        </p:spPr>
        <p:style>
          <a:lnRef idx="0">
            <a:schemeClr val="dk1"/>
          </a:lnRef>
          <a:fillRef idx="3">
            <a:schemeClr val="dk1"/>
          </a:fillRef>
          <a:effectRef idx="3">
            <a:schemeClr val="dk1"/>
          </a:effectRef>
          <a:fontRef idx="minor">
            <a:schemeClr val="lt1"/>
          </a:fontRef>
        </p:style>
        <p:txBody>
          <a:bodyPr rtlCol="0" anchor="ctr"/>
          <a:lstStyle/>
          <a:p>
            <a:r>
              <a:rPr lang="en-IN" sz="1600" b="1" dirty="0"/>
              <a:t>EBS vs S3</a:t>
            </a:r>
          </a:p>
        </p:txBody>
      </p:sp>
    </p:spTree>
    <p:extLst>
      <p:ext uri="{BB962C8B-B14F-4D97-AF65-F5344CB8AC3E}">
        <p14:creationId xmlns:p14="http://schemas.microsoft.com/office/powerpoint/2010/main" val="30089417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D997E-F316-0A04-967C-3B39BF0605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4EFAA5-F3A8-3764-CF7F-78168B1125FE}"/>
              </a:ext>
            </a:extLst>
          </p:cNvPr>
          <p:cNvSpPr txBox="1"/>
          <p:nvPr/>
        </p:nvSpPr>
        <p:spPr>
          <a:xfrm>
            <a:off x="166255" y="145473"/>
            <a:ext cx="11835245" cy="400110"/>
          </a:xfrm>
          <a:prstGeom prst="rect">
            <a:avLst/>
          </a:prstGeom>
          <a:noFill/>
        </p:spPr>
        <p:txBody>
          <a:bodyPr wrap="square" rtlCol="0">
            <a:spAutoFit/>
          </a:bodyPr>
          <a:lstStyle/>
          <a:p>
            <a:r>
              <a:rPr lang="en-IN" sz="2000" b="1" dirty="0"/>
              <a:t>AWS Services</a:t>
            </a:r>
          </a:p>
        </p:txBody>
      </p:sp>
      <p:sp>
        <p:nvSpPr>
          <p:cNvPr id="3" name="TextBox 2">
            <a:extLst>
              <a:ext uri="{FF2B5EF4-FFF2-40B4-BE49-F238E27FC236}">
                <a16:creationId xmlns:a16="http://schemas.microsoft.com/office/drawing/2014/main" id="{A5DE4E48-29A6-79E8-C621-2B0F0E73E9EA}"/>
              </a:ext>
            </a:extLst>
          </p:cNvPr>
          <p:cNvSpPr txBox="1"/>
          <p:nvPr/>
        </p:nvSpPr>
        <p:spPr>
          <a:xfrm>
            <a:off x="190500" y="545583"/>
            <a:ext cx="11835245" cy="1569660"/>
          </a:xfrm>
          <a:prstGeom prst="rect">
            <a:avLst/>
          </a:prstGeom>
          <a:noFill/>
          <a:ln>
            <a:solidFill>
              <a:schemeClr val="tx1"/>
            </a:solidFill>
            <a:prstDash val="sysDash"/>
          </a:ln>
        </p:spPr>
        <p:txBody>
          <a:bodyPr wrap="square" rtlCol="0">
            <a:spAutoFit/>
          </a:bodyPr>
          <a:lstStyle/>
          <a:p>
            <a:r>
              <a:rPr lang="en-IN" sz="1600" b="1" dirty="0"/>
              <a:t>AWS ECR</a:t>
            </a:r>
            <a:endParaRPr lang="en-IN" sz="1600" dirty="0"/>
          </a:p>
          <a:p>
            <a:pPr marL="285750" indent="-285750">
              <a:buFont typeface="Arial" panose="020B0604020202020204" pitchFamily="34" charset="0"/>
              <a:buChar char="•"/>
            </a:pPr>
            <a:r>
              <a:rPr lang="en-IN" sz="1600" dirty="0"/>
              <a:t>AWS ECR (Elastic Container Registry) is a fully-managed Docker image registry in AWS.</a:t>
            </a:r>
          </a:p>
          <a:p>
            <a:pPr marL="285750" indent="-285750">
              <a:buFont typeface="Arial" panose="020B0604020202020204" pitchFamily="34" charset="0"/>
              <a:buChar char="•"/>
            </a:pPr>
            <a:r>
              <a:rPr lang="en-IN" sz="1600" dirty="0"/>
              <a:t>It is useful for storing, versioning, scanning, and sharing container images</a:t>
            </a:r>
          </a:p>
          <a:p>
            <a:pPr marL="285750" indent="-285750">
              <a:buFont typeface="Arial" panose="020B0604020202020204" pitchFamily="34" charset="0"/>
              <a:buChar char="•"/>
            </a:pPr>
            <a:r>
              <a:rPr lang="en-IN" sz="1600" dirty="0"/>
              <a:t>By default, AWS ECR is private for each account but it can be made public</a:t>
            </a:r>
          </a:p>
          <a:p>
            <a:pPr marL="285750" indent="-285750">
              <a:buFont typeface="Arial" panose="020B0604020202020204" pitchFamily="34" charset="0"/>
              <a:buChar char="•"/>
            </a:pPr>
            <a:r>
              <a:rPr lang="en-IN" sz="1600" dirty="0"/>
              <a:t>AWS ECR is a paid service for private repositories (per GB-month). You also pay for data transferred out of ECR. Data transferred within the same region is free.</a:t>
            </a:r>
          </a:p>
        </p:txBody>
      </p:sp>
      <p:sp>
        <p:nvSpPr>
          <p:cNvPr id="5" name="TextBox 4">
            <a:extLst>
              <a:ext uri="{FF2B5EF4-FFF2-40B4-BE49-F238E27FC236}">
                <a16:creationId xmlns:a16="http://schemas.microsoft.com/office/drawing/2014/main" id="{F3F8222A-22D5-56F6-7918-9CEB54929440}"/>
              </a:ext>
            </a:extLst>
          </p:cNvPr>
          <p:cNvSpPr txBox="1"/>
          <p:nvPr/>
        </p:nvSpPr>
        <p:spPr>
          <a:xfrm>
            <a:off x="190500" y="2222965"/>
            <a:ext cx="11835245" cy="1077218"/>
          </a:xfrm>
          <a:prstGeom prst="rect">
            <a:avLst/>
          </a:prstGeom>
          <a:noFill/>
          <a:ln>
            <a:solidFill>
              <a:schemeClr val="tx1"/>
            </a:solidFill>
            <a:prstDash val="sysDash"/>
          </a:ln>
        </p:spPr>
        <p:txBody>
          <a:bodyPr wrap="square" rtlCol="0">
            <a:spAutoFit/>
          </a:bodyPr>
          <a:lstStyle/>
          <a:p>
            <a:r>
              <a:rPr lang="en-IN" sz="1600" b="1" dirty="0"/>
              <a:t>AWS ECS</a:t>
            </a:r>
            <a:endParaRPr lang="en-IN" sz="1600" dirty="0"/>
          </a:p>
          <a:p>
            <a:pPr marL="285750" indent="-285750">
              <a:buFont typeface="Arial" panose="020B0604020202020204" pitchFamily="34" charset="0"/>
              <a:buChar char="•"/>
            </a:pPr>
            <a:r>
              <a:rPr lang="en-IN" sz="1600" dirty="0"/>
              <a:t>AWS ECS (Elastic Container Service) is a managed container orchestration service on AWS.</a:t>
            </a:r>
          </a:p>
          <a:p>
            <a:pPr marL="285750" indent="-285750">
              <a:buFont typeface="Arial" panose="020B0604020202020204" pitchFamily="34" charset="0"/>
              <a:buChar char="•"/>
            </a:pPr>
            <a:r>
              <a:rPr lang="en-IN" sz="1600" dirty="0"/>
              <a:t>You give it Docker images (from ECR), and ECS will run, scale, and manage container for you on AWS infrastructure.</a:t>
            </a:r>
          </a:p>
          <a:p>
            <a:pPr marL="285750" indent="-285750">
              <a:buFont typeface="Arial" panose="020B0604020202020204" pitchFamily="34" charset="0"/>
              <a:buChar char="•"/>
            </a:pPr>
            <a:r>
              <a:rPr lang="en-IN" sz="1600" dirty="0"/>
              <a:t>It is like Kubernetes, but AWS-native and simpler.</a:t>
            </a:r>
          </a:p>
        </p:txBody>
      </p:sp>
      <p:sp>
        <p:nvSpPr>
          <p:cNvPr id="4" name="TextBox 3">
            <a:extLst>
              <a:ext uri="{FF2B5EF4-FFF2-40B4-BE49-F238E27FC236}">
                <a16:creationId xmlns:a16="http://schemas.microsoft.com/office/drawing/2014/main" id="{654C61AF-CBB4-A1C6-79BB-7068A4E140E3}"/>
              </a:ext>
            </a:extLst>
          </p:cNvPr>
          <p:cNvSpPr txBox="1"/>
          <p:nvPr/>
        </p:nvSpPr>
        <p:spPr>
          <a:xfrm>
            <a:off x="190500" y="3407905"/>
            <a:ext cx="11835245" cy="830997"/>
          </a:xfrm>
          <a:prstGeom prst="rect">
            <a:avLst/>
          </a:prstGeom>
          <a:noFill/>
          <a:ln>
            <a:solidFill>
              <a:schemeClr val="tx1"/>
            </a:solidFill>
            <a:prstDash val="sysDash"/>
          </a:ln>
        </p:spPr>
        <p:txBody>
          <a:bodyPr wrap="square" rtlCol="0">
            <a:spAutoFit/>
          </a:bodyPr>
          <a:lstStyle/>
          <a:p>
            <a:r>
              <a:rPr lang="en-IN" sz="1600" b="1" dirty="0"/>
              <a:t>AWS EKS</a:t>
            </a:r>
            <a:endParaRPr lang="en-IN" sz="1600" dirty="0"/>
          </a:p>
          <a:p>
            <a:pPr marL="285750" indent="-285750">
              <a:buFont typeface="Arial" panose="020B0604020202020204" pitchFamily="34" charset="0"/>
              <a:buChar char="•"/>
            </a:pPr>
            <a:r>
              <a:rPr lang="en-IN" sz="1600" dirty="0"/>
              <a:t>AWS EKS (Elastic Kubernetes Service) is a managed that runs the open-source Kubernetes orchestration system.</a:t>
            </a:r>
          </a:p>
          <a:p>
            <a:pPr marL="285750" indent="-285750">
              <a:buFont typeface="Arial" panose="020B0604020202020204" pitchFamily="34" charset="0"/>
              <a:buChar char="•"/>
            </a:pPr>
            <a:r>
              <a:rPr lang="en-IN" sz="1600" dirty="0"/>
              <a:t>It provides the full power and flexibility of the Kubernetes API</a:t>
            </a:r>
          </a:p>
        </p:txBody>
      </p:sp>
      <p:graphicFrame>
        <p:nvGraphicFramePr>
          <p:cNvPr id="6" name="Table 5">
            <a:extLst>
              <a:ext uri="{FF2B5EF4-FFF2-40B4-BE49-F238E27FC236}">
                <a16:creationId xmlns:a16="http://schemas.microsoft.com/office/drawing/2014/main" id="{1ECDA66E-5284-D48A-0BBE-26BA4ECBFA2C}"/>
              </a:ext>
            </a:extLst>
          </p:cNvPr>
          <p:cNvGraphicFramePr>
            <a:graphicFrameLocks noGrp="1"/>
          </p:cNvGraphicFramePr>
          <p:nvPr>
            <p:extLst>
              <p:ext uri="{D42A27DB-BD31-4B8C-83A1-F6EECF244321}">
                <p14:modId xmlns:p14="http://schemas.microsoft.com/office/powerpoint/2010/main" val="4184191052"/>
              </p:ext>
            </p:extLst>
          </p:nvPr>
        </p:nvGraphicFramePr>
        <p:xfrm>
          <a:off x="190499" y="4659283"/>
          <a:ext cx="11835244" cy="2011680"/>
        </p:xfrm>
        <a:graphic>
          <a:graphicData uri="http://schemas.openxmlformats.org/drawingml/2006/table">
            <a:tbl>
              <a:tblPr firstRow="1" bandRow="1">
                <a:tableStyleId>{073A0DAA-6AF3-43AB-8588-CEC1D06C72B9}</a:tableStyleId>
              </a:tblPr>
              <a:tblGrid>
                <a:gridCol w="3099376">
                  <a:extLst>
                    <a:ext uri="{9D8B030D-6E8A-4147-A177-3AD203B41FA5}">
                      <a16:colId xmlns:a16="http://schemas.microsoft.com/office/drawing/2014/main" val="2593877327"/>
                    </a:ext>
                  </a:extLst>
                </a:gridCol>
                <a:gridCol w="4612622">
                  <a:extLst>
                    <a:ext uri="{9D8B030D-6E8A-4147-A177-3AD203B41FA5}">
                      <a16:colId xmlns:a16="http://schemas.microsoft.com/office/drawing/2014/main" val="4240171362"/>
                    </a:ext>
                  </a:extLst>
                </a:gridCol>
                <a:gridCol w="4123246">
                  <a:extLst>
                    <a:ext uri="{9D8B030D-6E8A-4147-A177-3AD203B41FA5}">
                      <a16:colId xmlns:a16="http://schemas.microsoft.com/office/drawing/2014/main" val="3997998874"/>
                    </a:ext>
                  </a:extLst>
                </a:gridCol>
              </a:tblGrid>
              <a:tr h="231166">
                <a:tc>
                  <a:txBody>
                    <a:bodyPr/>
                    <a:lstStyle/>
                    <a:p>
                      <a:pPr algn="ctr"/>
                      <a:r>
                        <a:rPr lang="en-IN" sz="1600" dirty="0"/>
                        <a:t>Feature</a:t>
                      </a:r>
                    </a:p>
                  </a:txBody>
                  <a:tcPr/>
                </a:tc>
                <a:tc>
                  <a:txBody>
                    <a:bodyPr/>
                    <a:lstStyle/>
                    <a:p>
                      <a:pPr algn="ctr"/>
                      <a:r>
                        <a:rPr lang="en-IN" sz="1600" dirty="0"/>
                        <a:t>AWS ECS</a:t>
                      </a:r>
                    </a:p>
                  </a:txBody>
                  <a:tcPr/>
                </a:tc>
                <a:tc>
                  <a:txBody>
                    <a:bodyPr/>
                    <a:lstStyle/>
                    <a:p>
                      <a:pPr algn="ctr"/>
                      <a:r>
                        <a:rPr lang="en-IN" sz="1600" dirty="0"/>
                        <a:t>AWS EKS</a:t>
                      </a:r>
                    </a:p>
                  </a:txBody>
                  <a:tcPr/>
                </a:tc>
                <a:extLst>
                  <a:ext uri="{0D108BD9-81ED-4DB2-BD59-A6C34878D82A}">
                    <a16:rowId xmlns:a16="http://schemas.microsoft.com/office/drawing/2014/main" val="1938133891"/>
                  </a:ext>
                </a:extLst>
              </a:tr>
              <a:tr h="231166">
                <a:tc>
                  <a:txBody>
                    <a:bodyPr/>
                    <a:lstStyle/>
                    <a:p>
                      <a:r>
                        <a:rPr lang="en-IN" sz="1600" dirty="0"/>
                        <a:t>Orchestration Engine</a:t>
                      </a:r>
                    </a:p>
                  </a:txBody>
                  <a:tcPr/>
                </a:tc>
                <a:tc>
                  <a:txBody>
                    <a:bodyPr/>
                    <a:lstStyle/>
                    <a:p>
                      <a:r>
                        <a:rPr lang="en-IN" sz="1600" dirty="0"/>
                        <a:t>AWS native</a:t>
                      </a:r>
                    </a:p>
                  </a:txBody>
                  <a:tcPr/>
                </a:tc>
                <a:tc>
                  <a:txBody>
                    <a:bodyPr/>
                    <a:lstStyle/>
                    <a:p>
                      <a:r>
                        <a:rPr lang="en-IN" sz="1600" dirty="0"/>
                        <a:t>Open-source Kubernetes</a:t>
                      </a:r>
                    </a:p>
                  </a:txBody>
                  <a:tcPr/>
                </a:tc>
                <a:extLst>
                  <a:ext uri="{0D108BD9-81ED-4DB2-BD59-A6C34878D82A}">
                    <a16:rowId xmlns:a16="http://schemas.microsoft.com/office/drawing/2014/main" val="2450139068"/>
                  </a:ext>
                </a:extLst>
              </a:tr>
              <a:tr h="231166">
                <a:tc>
                  <a:txBody>
                    <a:bodyPr/>
                    <a:lstStyle/>
                    <a:p>
                      <a:r>
                        <a:rPr lang="en-IN" sz="1600" dirty="0"/>
                        <a:t>Expertise Needed</a:t>
                      </a:r>
                    </a:p>
                  </a:txBody>
                  <a:tcPr/>
                </a:tc>
                <a:tc>
                  <a:txBody>
                    <a:bodyPr/>
                    <a:lstStyle/>
                    <a:p>
                      <a:r>
                        <a:rPr lang="en-IN" sz="1600" dirty="0"/>
                        <a:t>Less, easier for AWS familiar teams</a:t>
                      </a:r>
                    </a:p>
                  </a:txBody>
                  <a:tcPr/>
                </a:tc>
                <a:tc>
                  <a:txBody>
                    <a:bodyPr/>
                    <a:lstStyle/>
                    <a:p>
                      <a:r>
                        <a:rPr lang="en-IN" sz="1600" dirty="0"/>
                        <a:t>More, requires Kubernetes knowledge</a:t>
                      </a:r>
                    </a:p>
                  </a:txBody>
                  <a:tcPr/>
                </a:tc>
                <a:extLst>
                  <a:ext uri="{0D108BD9-81ED-4DB2-BD59-A6C34878D82A}">
                    <a16:rowId xmlns:a16="http://schemas.microsoft.com/office/drawing/2014/main" val="2337115770"/>
                  </a:ext>
                </a:extLst>
              </a:tr>
              <a:tr h="231166">
                <a:tc>
                  <a:txBody>
                    <a:bodyPr/>
                    <a:lstStyle/>
                    <a:p>
                      <a:r>
                        <a:rPr lang="en-IN" sz="1600" dirty="0"/>
                        <a:t>AWS Integration</a:t>
                      </a:r>
                    </a:p>
                  </a:txBody>
                  <a:tcPr/>
                </a:tc>
                <a:tc>
                  <a:txBody>
                    <a:bodyPr/>
                    <a:lstStyle/>
                    <a:p>
                      <a:r>
                        <a:rPr lang="en-IN" sz="1600" dirty="0"/>
                        <a:t>Native and seamless</a:t>
                      </a:r>
                    </a:p>
                  </a:txBody>
                  <a:tcPr/>
                </a:tc>
                <a:tc>
                  <a:txBody>
                    <a:bodyPr/>
                    <a:lstStyle/>
                    <a:p>
                      <a:r>
                        <a:rPr lang="en-IN" sz="1600" dirty="0"/>
                        <a:t>Good but needs extra configurations</a:t>
                      </a:r>
                    </a:p>
                  </a:txBody>
                  <a:tcPr/>
                </a:tc>
                <a:extLst>
                  <a:ext uri="{0D108BD9-81ED-4DB2-BD59-A6C34878D82A}">
                    <a16:rowId xmlns:a16="http://schemas.microsoft.com/office/drawing/2014/main" val="642030723"/>
                  </a:ext>
                </a:extLst>
              </a:tr>
              <a:tr h="231166">
                <a:tc>
                  <a:txBody>
                    <a:bodyPr/>
                    <a:lstStyle/>
                    <a:p>
                      <a:r>
                        <a:rPr lang="en-IN" sz="1600" dirty="0"/>
                        <a:t>Portability</a:t>
                      </a:r>
                    </a:p>
                  </a:txBody>
                  <a:tcPr/>
                </a:tc>
                <a:tc>
                  <a:txBody>
                    <a:bodyPr/>
                    <a:lstStyle/>
                    <a:p>
                      <a:r>
                        <a:rPr lang="en-IN" sz="1600" dirty="0"/>
                        <a:t>AWS (vendor lock-in)</a:t>
                      </a:r>
                    </a:p>
                  </a:txBody>
                  <a:tcPr/>
                </a:tc>
                <a:tc>
                  <a:txBody>
                    <a:bodyPr/>
                    <a:lstStyle/>
                    <a:p>
                      <a:r>
                        <a:rPr lang="en-IN" sz="1600" dirty="0"/>
                        <a:t>High (Cloud agnostic)</a:t>
                      </a:r>
                    </a:p>
                  </a:txBody>
                  <a:tcPr/>
                </a:tc>
                <a:extLst>
                  <a:ext uri="{0D108BD9-81ED-4DB2-BD59-A6C34878D82A}">
                    <a16:rowId xmlns:a16="http://schemas.microsoft.com/office/drawing/2014/main" val="2692461245"/>
                  </a:ext>
                </a:extLst>
              </a:tr>
              <a:tr h="231166">
                <a:tc>
                  <a:txBody>
                    <a:bodyPr/>
                    <a:lstStyle/>
                    <a:p>
                      <a:r>
                        <a:rPr lang="en-IN" sz="1600" dirty="0"/>
                        <a:t>Control</a:t>
                      </a:r>
                    </a:p>
                  </a:txBody>
                  <a:tcPr/>
                </a:tc>
                <a:tc>
                  <a:txBody>
                    <a:bodyPr/>
                    <a:lstStyle/>
                    <a:p>
                      <a:r>
                        <a:rPr lang="en-IN" sz="1600" dirty="0"/>
                        <a:t>Less flexibility, abstracts details</a:t>
                      </a:r>
                    </a:p>
                  </a:txBody>
                  <a:tcPr/>
                </a:tc>
                <a:tc>
                  <a:txBody>
                    <a:bodyPr/>
                    <a:lstStyle/>
                    <a:p>
                      <a:r>
                        <a:rPr lang="en-IN" sz="1600" dirty="0"/>
                        <a:t>More control, highly customizable</a:t>
                      </a:r>
                    </a:p>
                  </a:txBody>
                  <a:tcPr/>
                </a:tc>
                <a:extLst>
                  <a:ext uri="{0D108BD9-81ED-4DB2-BD59-A6C34878D82A}">
                    <a16:rowId xmlns:a16="http://schemas.microsoft.com/office/drawing/2014/main" val="4085476486"/>
                  </a:ext>
                </a:extLst>
              </a:tr>
            </a:tbl>
          </a:graphicData>
        </a:graphic>
      </p:graphicFrame>
      <p:sp>
        <p:nvSpPr>
          <p:cNvPr id="7" name="Rectangle 6">
            <a:extLst>
              <a:ext uri="{FF2B5EF4-FFF2-40B4-BE49-F238E27FC236}">
                <a16:creationId xmlns:a16="http://schemas.microsoft.com/office/drawing/2014/main" id="{455E1007-EB47-8FAE-8D96-6B999FE6608E}"/>
              </a:ext>
            </a:extLst>
          </p:cNvPr>
          <p:cNvSpPr/>
          <p:nvPr/>
        </p:nvSpPr>
        <p:spPr>
          <a:xfrm>
            <a:off x="190499" y="4326774"/>
            <a:ext cx="11835246" cy="332509"/>
          </a:xfrm>
          <a:prstGeom prst="rect">
            <a:avLst/>
          </a:prstGeom>
          <a:ln>
            <a:solidFill>
              <a:schemeClr val="tx1"/>
            </a:solidFill>
          </a:ln>
        </p:spPr>
        <p:style>
          <a:lnRef idx="0">
            <a:schemeClr val="dk1"/>
          </a:lnRef>
          <a:fillRef idx="3">
            <a:schemeClr val="dk1"/>
          </a:fillRef>
          <a:effectRef idx="3">
            <a:schemeClr val="dk1"/>
          </a:effectRef>
          <a:fontRef idx="minor">
            <a:schemeClr val="lt1"/>
          </a:fontRef>
        </p:style>
        <p:txBody>
          <a:bodyPr rtlCol="0" anchor="ctr"/>
          <a:lstStyle/>
          <a:p>
            <a:r>
              <a:rPr lang="en-IN" sz="1600" b="1" dirty="0"/>
              <a:t>AWS ECS vs AWS EKS</a:t>
            </a:r>
          </a:p>
        </p:txBody>
      </p:sp>
    </p:spTree>
    <p:extLst>
      <p:ext uri="{BB962C8B-B14F-4D97-AF65-F5344CB8AC3E}">
        <p14:creationId xmlns:p14="http://schemas.microsoft.com/office/powerpoint/2010/main" val="4251681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6853B-ED7E-EEE3-6EC8-6CE7B431A7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F9FF8E3-C703-5126-921E-96FB5244A412}"/>
              </a:ext>
            </a:extLst>
          </p:cNvPr>
          <p:cNvSpPr txBox="1"/>
          <p:nvPr/>
        </p:nvSpPr>
        <p:spPr>
          <a:xfrm>
            <a:off x="166255" y="145473"/>
            <a:ext cx="11835245" cy="400110"/>
          </a:xfrm>
          <a:prstGeom prst="rect">
            <a:avLst/>
          </a:prstGeom>
          <a:noFill/>
        </p:spPr>
        <p:txBody>
          <a:bodyPr wrap="square" rtlCol="0">
            <a:spAutoFit/>
          </a:bodyPr>
          <a:lstStyle/>
          <a:p>
            <a:r>
              <a:rPr lang="en-IN" sz="2000" b="1" dirty="0"/>
              <a:t>Amazon SageMaker vs Amazon Bedrock</a:t>
            </a:r>
          </a:p>
        </p:txBody>
      </p:sp>
      <p:pic>
        <p:nvPicPr>
          <p:cNvPr id="1026" name="Picture 2" descr="Amazon SageMaker">
            <a:extLst>
              <a:ext uri="{FF2B5EF4-FFF2-40B4-BE49-F238E27FC236}">
                <a16:creationId xmlns:a16="http://schemas.microsoft.com/office/drawing/2014/main" id="{F6A377CB-D4E7-B417-270C-C3D304188C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0392" y="545583"/>
            <a:ext cx="2294558" cy="13767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lore Active Security for Your Data in Amazon Bedrock | DS">
            <a:extLst>
              <a:ext uri="{FF2B5EF4-FFF2-40B4-BE49-F238E27FC236}">
                <a16:creationId xmlns:a16="http://schemas.microsoft.com/office/drawing/2014/main" id="{EE72A72B-8AD4-2139-9A98-3836AB121D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90701" y="543003"/>
            <a:ext cx="1864302" cy="138189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255EBA82-56B5-AC84-F873-420DFA1DAEB8}"/>
              </a:ext>
            </a:extLst>
          </p:cNvPr>
          <p:cNvSpPr/>
          <p:nvPr/>
        </p:nvSpPr>
        <p:spPr>
          <a:xfrm>
            <a:off x="535946" y="1922317"/>
            <a:ext cx="4743450" cy="1506683"/>
          </a:xfrm>
          <a:prstGeom prst="rect">
            <a:avLst/>
          </a:prstGeom>
        </p:spPr>
        <p:style>
          <a:lnRef idx="2">
            <a:schemeClr val="accent1"/>
          </a:lnRef>
          <a:fillRef idx="1">
            <a:schemeClr val="lt1"/>
          </a:fillRef>
          <a:effectRef idx="0">
            <a:schemeClr val="accent1"/>
          </a:effectRef>
          <a:fontRef idx="minor">
            <a:schemeClr val="dk1"/>
          </a:fontRef>
        </p:style>
        <p:txBody>
          <a:bodyPr rtlCol="0" anchor="t"/>
          <a:lstStyle/>
          <a:p>
            <a:pPr marL="285750" indent="-285750">
              <a:buFont typeface="Arial" panose="020B0604020202020204" pitchFamily="34" charset="0"/>
              <a:buChar char="•"/>
            </a:pPr>
            <a:r>
              <a:rPr lang="en-US" dirty="0"/>
              <a:t>For building, training, and deploying your own ML models. You control the data, the code, and the model training. More flexible, but more technical.</a:t>
            </a:r>
          </a:p>
          <a:p>
            <a:pPr marL="285750" indent="-285750">
              <a:buFont typeface="Arial" panose="020B0604020202020204" pitchFamily="34" charset="0"/>
              <a:buChar char="•"/>
            </a:pPr>
            <a:r>
              <a:rPr lang="en-IN" dirty="0"/>
              <a:t>DIY ML lab</a:t>
            </a:r>
          </a:p>
        </p:txBody>
      </p:sp>
      <p:sp>
        <p:nvSpPr>
          <p:cNvPr id="6" name="Rectangle 5">
            <a:extLst>
              <a:ext uri="{FF2B5EF4-FFF2-40B4-BE49-F238E27FC236}">
                <a16:creationId xmlns:a16="http://schemas.microsoft.com/office/drawing/2014/main" id="{A5E437EE-7CCE-D9BD-A67A-3158794DAE68}"/>
              </a:ext>
            </a:extLst>
          </p:cNvPr>
          <p:cNvSpPr/>
          <p:nvPr/>
        </p:nvSpPr>
        <p:spPr>
          <a:xfrm>
            <a:off x="6451127" y="1922316"/>
            <a:ext cx="4743450" cy="1506683"/>
          </a:xfrm>
          <a:prstGeom prst="rect">
            <a:avLst/>
          </a:prstGeom>
        </p:spPr>
        <p:style>
          <a:lnRef idx="2">
            <a:schemeClr val="accent1"/>
          </a:lnRef>
          <a:fillRef idx="1">
            <a:schemeClr val="lt1"/>
          </a:fillRef>
          <a:effectRef idx="0">
            <a:schemeClr val="accent1"/>
          </a:effectRef>
          <a:fontRef idx="minor">
            <a:schemeClr val="dk1"/>
          </a:fontRef>
        </p:style>
        <p:txBody>
          <a:bodyPr rtlCol="0" anchor="t"/>
          <a:lstStyle/>
          <a:p>
            <a:pPr marL="285750" indent="-285750">
              <a:buFont typeface="Arial" panose="020B0604020202020204" pitchFamily="34" charset="0"/>
              <a:buChar char="•"/>
            </a:pPr>
            <a:r>
              <a:rPr lang="en-US" dirty="0"/>
              <a:t>For using pre-built foundation models (like GPT, Claude, etc.) via API without worrying about training, infrastructure, or servers. Easier, but less customizable.</a:t>
            </a:r>
          </a:p>
          <a:p>
            <a:pPr marL="285750" indent="-285750">
              <a:buFont typeface="Arial" panose="020B0604020202020204" pitchFamily="34" charset="0"/>
              <a:buChar char="•"/>
            </a:pPr>
            <a:r>
              <a:rPr lang="en-IN" dirty="0"/>
              <a:t>Ready-made AI service</a:t>
            </a:r>
          </a:p>
        </p:txBody>
      </p:sp>
    </p:spTree>
    <p:extLst>
      <p:ext uri="{BB962C8B-B14F-4D97-AF65-F5344CB8AC3E}">
        <p14:creationId xmlns:p14="http://schemas.microsoft.com/office/powerpoint/2010/main" val="41234740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98B4E-9CE7-3C72-9D02-4DCD7785FC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09597B-1F3A-94DF-2922-D4FD7EE78660}"/>
              </a:ext>
            </a:extLst>
          </p:cNvPr>
          <p:cNvSpPr txBox="1"/>
          <p:nvPr/>
        </p:nvSpPr>
        <p:spPr>
          <a:xfrm>
            <a:off x="166255" y="145473"/>
            <a:ext cx="11835245" cy="400110"/>
          </a:xfrm>
          <a:prstGeom prst="rect">
            <a:avLst/>
          </a:prstGeom>
          <a:noFill/>
        </p:spPr>
        <p:txBody>
          <a:bodyPr wrap="square" rtlCol="0">
            <a:spAutoFit/>
          </a:bodyPr>
          <a:lstStyle/>
          <a:p>
            <a:r>
              <a:rPr lang="en-IN" sz="2000" b="1" dirty="0"/>
              <a:t>OpenAI LLMs on AWS</a:t>
            </a:r>
          </a:p>
        </p:txBody>
      </p:sp>
      <p:sp>
        <p:nvSpPr>
          <p:cNvPr id="3" name="TextBox 2">
            <a:extLst>
              <a:ext uri="{FF2B5EF4-FFF2-40B4-BE49-F238E27FC236}">
                <a16:creationId xmlns:a16="http://schemas.microsoft.com/office/drawing/2014/main" id="{C8248E0D-0D3D-2B3F-D0A6-501E71AF9460}"/>
              </a:ext>
            </a:extLst>
          </p:cNvPr>
          <p:cNvSpPr txBox="1"/>
          <p:nvPr/>
        </p:nvSpPr>
        <p:spPr>
          <a:xfrm>
            <a:off x="166254" y="545583"/>
            <a:ext cx="11835245" cy="79278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IN" sz="1600" dirty="0">
                <a:latin typeface="Calibri" panose="020F0502020204030204" pitchFamily="34" charset="0"/>
                <a:ea typeface="Calibri" panose="020F0502020204030204" pitchFamily="34" charset="0"/>
                <a:cs typeface="Calibri" panose="020F0502020204030204" pitchFamily="34" charset="0"/>
              </a:rPr>
              <a:t>GPT-4.1 and GPT-4o are not available in AWS (via Bedrock or SageMaker).</a:t>
            </a:r>
          </a:p>
          <a:p>
            <a:pPr marL="285750" indent="-285750">
              <a:lnSpc>
                <a:spcPct val="150000"/>
              </a:lnSpc>
              <a:buFont typeface="Arial" panose="020B0604020202020204" pitchFamily="34" charset="0"/>
              <a:buChar char="•"/>
            </a:pPr>
            <a:r>
              <a:rPr lang="en-IN" sz="1600" dirty="0">
                <a:latin typeface="Calibri" panose="020F0502020204030204" pitchFamily="34" charset="0"/>
                <a:ea typeface="Calibri" panose="020F0502020204030204" pitchFamily="34" charset="0"/>
                <a:cs typeface="Calibri" panose="020F0502020204030204" pitchFamily="34" charset="0"/>
              </a:rPr>
              <a:t>AWS does provide OpenAI’s new open-weight models (gpt-oss-120B, gpt-oss-20B) via Bedrock &amp; SageMaker.</a:t>
            </a:r>
          </a:p>
        </p:txBody>
      </p:sp>
    </p:spTree>
    <p:extLst>
      <p:ext uri="{BB962C8B-B14F-4D97-AF65-F5344CB8AC3E}">
        <p14:creationId xmlns:p14="http://schemas.microsoft.com/office/powerpoint/2010/main" val="28203714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D7067-7ECF-F78F-35EA-2D95E742958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C8B74C4-7F62-BE90-FFFE-AC84293157A4}"/>
              </a:ext>
            </a:extLst>
          </p:cNvPr>
          <p:cNvSpPr txBox="1"/>
          <p:nvPr/>
        </p:nvSpPr>
        <p:spPr>
          <a:xfrm>
            <a:off x="166255" y="145473"/>
            <a:ext cx="11835245" cy="400110"/>
          </a:xfrm>
          <a:prstGeom prst="rect">
            <a:avLst/>
          </a:prstGeom>
          <a:noFill/>
        </p:spPr>
        <p:txBody>
          <a:bodyPr wrap="square" rtlCol="0">
            <a:spAutoFit/>
          </a:bodyPr>
          <a:lstStyle/>
          <a:p>
            <a:r>
              <a:rPr lang="en-IN" sz="2000" b="1" dirty="0"/>
              <a:t>&lt;Template&gt;</a:t>
            </a:r>
          </a:p>
        </p:txBody>
      </p:sp>
    </p:spTree>
    <p:extLst>
      <p:ext uri="{BB962C8B-B14F-4D97-AF65-F5344CB8AC3E}">
        <p14:creationId xmlns:p14="http://schemas.microsoft.com/office/powerpoint/2010/main" val="4243873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2390</TotalTime>
  <Words>3876</Words>
  <Application>Microsoft Office PowerPoint</Application>
  <PresentationFormat>Widescreen</PresentationFormat>
  <Paragraphs>381</Paragraphs>
  <Slides>21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Aptos</vt:lpstr>
      <vt:lpstr>Aptos Display</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Sanjay Singh</dc:creator>
  <cp:lastModifiedBy>Sanjay Singh</cp:lastModifiedBy>
  <cp:revision>151</cp:revision>
  <dcterms:created xsi:type="dcterms:W3CDTF">2025-09-18T13:50:01Z</dcterms:created>
  <dcterms:modified xsi:type="dcterms:W3CDTF">2025-11-10T11:26:10Z</dcterms:modified>
</cp:coreProperties>
</file>