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75" r:id="rId3"/>
    <p:sldId id="276" r:id="rId4"/>
    <p:sldId id="277" r:id="rId5"/>
    <p:sldId id="278" r:id="rId6"/>
    <p:sldId id="279" r:id="rId7"/>
    <p:sldId id="280" r:id="rId8"/>
    <p:sldId id="281" r:id="rId9"/>
    <p:sldId id="283" r:id="rId10"/>
    <p:sldId id="282" r:id="rId11"/>
    <p:sldId id="284" r:id="rId12"/>
    <p:sldId id="285" r:id="rId13"/>
    <p:sldId id="287" r:id="rId14"/>
    <p:sldId id="286" r:id="rId15"/>
    <p:sldId id="289" r:id="rId16"/>
    <p:sldId id="28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9" autoAdjust="0"/>
  </p:normalViewPr>
  <p:slideViewPr>
    <p:cSldViewPr snapToGrid="0">
      <p:cViewPr varScale="1">
        <p:scale>
          <a:sx n="74" d="100"/>
          <a:sy n="74" d="100"/>
        </p:scale>
        <p:origin x="1042"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E9543B-7564-4DA9-8EF6-9FD92DD5739E}" type="datetimeFigureOut">
              <a:rPr lang="en-IN" smtClean="0"/>
              <a:t>11-11-2025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C43D9-95D2-4328-A29C-2881E5FD42EC}" type="slidenum">
              <a:rPr lang="en-IN" smtClean="0"/>
              <a:t>‹#›</a:t>
            </a:fld>
            <a:endParaRPr lang="en-IN"/>
          </a:p>
        </p:txBody>
      </p:sp>
    </p:spTree>
    <p:extLst>
      <p:ext uri="{BB962C8B-B14F-4D97-AF65-F5344CB8AC3E}">
        <p14:creationId xmlns:p14="http://schemas.microsoft.com/office/powerpoint/2010/main" val="2302787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96C43D9-95D2-4328-A29C-2881E5FD42EC}" type="slidenum">
              <a:rPr lang="en-IN" smtClean="0"/>
              <a:t>1</a:t>
            </a:fld>
            <a:endParaRPr lang="en-IN"/>
          </a:p>
        </p:txBody>
      </p:sp>
    </p:spTree>
    <p:extLst>
      <p:ext uri="{BB962C8B-B14F-4D97-AF65-F5344CB8AC3E}">
        <p14:creationId xmlns:p14="http://schemas.microsoft.com/office/powerpoint/2010/main" val="2466016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5E656-54B0-E9B8-ECAF-8C1403E143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B3A627B-4737-514D-D44B-51E49ADF0D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61D43E-C76C-9295-7A30-308AF978B223}"/>
              </a:ext>
            </a:extLst>
          </p:cNvPr>
          <p:cNvSpPr>
            <a:spLocks noGrp="1"/>
          </p:cNvSpPr>
          <p:nvPr>
            <p:ph type="dt" sz="half" idx="10"/>
          </p:nvPr>
        </p:nvSpPr>
        <p:spPr/>
        <p:txBody>
          <a:bodyPr/>
          <a:lstStyle/>
          <a:p>
            <a:fld id="{15312975-030B-4EEB-9A3C-4B0486C3777D}" type="datetimeFigureOut">
              <a:rPr lang="en-IN" smtClean="0"/>
              <a:t>11-11-2025</a:t>
            </a:fld>
            <a:endParaRPr lang="en-IN"/>
          </a:p>
        </p:txBody>
      </p:sp>
      <p:sp>
        <p:nvSpPr>
          <p:cNvPr id="5" name="Footer Placeholder 4">
            <a:extLst>
              <a:ext uri="{FF2B5EF4-FFF2-40B4-BE49-F238E27FC236}">
                <a16:creationId xmlns:a16="http://schemas.microsoft.com/office/drawing/2014/main" id="{EA63914E-E67C-2A81-554C-086FCE7FC7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7884E8-B01D-5AC1-4EA6-9D05617FD31F}"/>
              </a:ext>
            </a:extLst>
          </p:cNvPr>
          <p:cNvSpPr>
            <a:spLocks noGrp="1"/>
          </p:cNvSpPr>
          <p:nvPr>
            <p:ph type="sldNum" sz="quarter" idx="12"/>
          </p:nvPr>
        </p:nvSpPr>
        <p:spPr/>
        <p:txBody>
          <a:bodyPr/>
          <a:lstStyle/>
          <a:p>
            <a:fld id="{9F093F95-E5D5-4351-B5DC-4F97E25D1714}" type="slidenum">
              <a:rPr lang="en-IN" smtClean="0"/>
              <a:t>‹#›</a:t>
            </a:fld>
            <a:endParaRPr lang="en-IN"/>
          </a:p>
        </p:txBody>
      </p:sp>
    </p:spTree>
    <p:extLst>
      <p:ext uri="{BB962C8B-B14F-4D97-AF65-F5344CB8AC3E}">
        <p14:creationId xmlns:p14="http://schemas.microsoft.com/office/powerpoint/2010/main" val="920664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4C3DE-A1D2-0409-4DE2-9AE426C6CF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92898F-3D3E-39B3-8252-4E189491C6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E6A7D6-DF67-3414-6726-66E3B6A3E5BE}"/>
              </a:ext>
            </a:extLst>
          </p:cNvPr>
          <p:cNvSpPr>
            <a:spLocks noGrp="1"/>
          </p:cNvSpPr>
          <p:nvPr>
            <p:ph type="dt" sz="half" idx="10"/>
          </p:nvPr>
        </p:nvSpPr>
        <p:spPr/>
        <p:txBody>
          <a:bodyPr/>
          <a:lstStyle/>
          <a:p>
            <a:fld id="{15312975-030B-4EEB-9A3C-4B0486C3777D}" type="datetimeFigureOut">
              <a:rPr lang="en-IN" smtClean="0"/>
              <a:t>11-11-2025</a:t>
            </a:fld>
            <a:endParaRPr lang="en-IN"/>
          </a:p>
        </p:txBody>
      </p:sp>
      <p:sp>
        <p:nvSpPr>
          <p:cNvPr id="5" name="Footer Placeholder 4">
            <a:extLst>
              <a:ext uri="{FF2B5EF4-FFF2-40B4-BE49-F238E27FC236}">
                <a16:creationId xmlns:a16="http://schemas.microsoft.com/office/drawing/2014/main" id="{804C4D48-FB0A-8192-ED6F-B4B492E45A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35895A-F273-12D2-0FBE-80C6D7A77E0B}"/>
              </a:ext>
            </a:extLst>
          </p:cNvPr>
          <p:cNvSpPr>
            <a:spLocks noGrp="1"/>
          </p:cNvSpPr>
          <p:nvPr>
            <p:ph type="sldNum" sz="quarter" idx="12"/>
          </p:nvPr>
        </p:nvSpPr>
        <p:spPr/>
        <p:txBody>
          <a:bodyPr/>
          <a:lstStyle/>
          <a:p>
            <a:fld id="{9F093F95-E5D5-4351-B5DC-4F97E25D1714}" type="slidenum">
              <a:rPr lang="en-IN" smtClean="0"/>
              <a:t>‹#›</a:t>
            </a:fld>
            <a:endParaRPr lang="en-IN"/>
          </a:p>
        </p:txBody>
      </p:sp>
    </p:spTree>
    <p:extLst>
      <p:ext uri="{BB962C8B-B14F-4D97-AF65-F5344CB8AC3E}">
        <p14:creationId xmlns:p14="http://schemas.microsoft.com/office/powerpoint/2010/main" val="3216573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04C56-F5D2-94B2-D41C-9E3A176016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E9A88CC-661F-FF2F-DCA2-6672654B3A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2BB80F-E2DA-8AB2-1F1B-BC2F001AD036}"/>
              </a:ext>
            </a:extLst>
          </p:cNvPr>
          <p:cNvSpPr>
            <a:spLocks noGrp="1"/>
          </p:cNvSpPr>
          <p:nvPr>
            <p:ph type="dt" sz="half" idx="10"/>
          </p:nvPr>
        </p:nvSpPr>
        <p:spPr/>
        <p:txBody>
          <a:bodyPr/>
          <a:lstStyle/>
          <a:p>
            <a:fld id="{15312975-030B-4EEB-9A3C-4B0486C3777D}" type="datetimeFigureOut">
              <a:rPr lang="en-IN" smtClean="0"/>
              <a:t>11-11-2025</a:t>
            </a:fld>
            <a:endParaRPr lang="en-IN"/>
          </a:p>
        </p:txBody>
      </p:sp>
      <p:sp>
        <p:nvSpPr>
          <p:cNvPr id="5" name="Footer Placeholder 4">
            <a:extLst>
              <a:ext uri="{FF2B5EF4-FFF2-40B4-BE49-F238E27FC236}">
                <a16:creationId xmlns:a16="http://schemas.microsoft.com/office/drawing/2014/main" id="{687B0295-E6E7-EDC5-77AE-B03FF5DD4C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E64136-698D-F41C-6C75-7B0DDFEBFA39}"/>
              </a:ext>
            </a:extLst>
          </p:cNvPr>
          <p:cNvSpPr>
            <a:spLocks noGrp="1"/>
          </p:cNvSpPr>
          <p:nvPr>
            <p:ph type="sldNum" sz="quarter" idx="12"/>
          </p:nvPr>
        </p:nvSpPr>
        <p:spPr/>
        <p:txBody>
          <a:bodyPr/>
          <a:lstStyle/>
          <a:p>
            <a:fld id="{9F093F95-E5D5-4351-B5DC-4F97E25D1714}" type="slidenum">
              <a:rPr lang="en-IN" smtClean="0"/>
              <a:t>‹#›</a:t>
            </a:fld>
            <a:endParaRPr lang="en-IN"/>
          </a:p>
        </p:txBody>
      </p:sp>
    </p:spTree>
    <p:extLst>
      <p:ext uri="{BB962C8B-B14F-4D97-AF65-F5344CB8AC3E}">
        <p14:creationId xmlns:p14="http://schemas.microsoft.com/office/powerpoint/2010/main" val="3182964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4AC6A-9423-65E7-DD73-3B2C3E8FBD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3134C0-C4B2-988D-C11D-A8300ECEEE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B7B9AE9-D531-B6F7-796C-A194FC67C0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53489F1-CF5F-E283-93C8-8CB18BB7802B}"/>
              </a:ext>
            </a:extLst>
          </p:cNvPr>
          <p:cNvSpPr>
            <a:spLocks noGrp="1"/>
          </p:cNvSpPr>
          <p:nvPr>
            <p:ph type="dt" sz="half" idx="10"/>
          </p:nvPr>
        </p:nvSpPr>
        <p:spPr/>
        <p:txBody>
          <a:bodyPr/>
          <a:lstStyle/>
          <a:p>
            <a:fld id="{15312975-030B-4EEB-9A3C-4B0486C3777D}" type="datetimeFigureOut">
              <a:rPr lang="en-IN" smtClean="0"/>
              <a:t>11-11-2025</a:t>
            </a:fld>
            <a:endParaRPr lang="en-IN"/>
          </a:p>
        </p:txBody>
      </p:sp>
      <p:sp>
        <p:nvSpPr>
          <p:cNvPr id="6" name="Footer Placeholder 5">
            <a:extLst>
              <a:ext uri="{FF2B5EF4-FFF2-40B4-BE49-F238E27FC236}">
                <a16:creationId xmlns:a16="http://schemas.microsoft.com/office/drawing/2014/main" id="{81646023-9834-C75D-9F13-500B3CAD992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E314AA-12F5-C02F-6CAD-CA1DA81624E2}"/>
              </a:ext>
            </a:extLst>
          </p:cNvPr>
          <p:cNvSpPr>
            <a:spLocks noGrp="1"/>
          </p:cNvSpPr>
          <p:nvPr>
            <p:ph type="sldNum" sz="quarter" idx="12"/>
          </p:nvPr>
        </p:nvSpPr>
        <p:spPr/>
        <p:txBody>
          <a:bodyPr/>
          <a:lstStyle/>
          <a:p>
            <a:fld id="{9F093F95-E5D5-4351-B5DC-4F97E25D1714}" type="slidenum">
              <a:rPr lang="en-IN" smtClean="0"/>
              <a:t>‹#›</a:t>
            </a:fld>
            <a:endParaRPr lang="en-IN"/>
          </a:p>
        </p:txBody>
      </p:sp>
    </p:spTree>
    <p:extLst>
      <p:ext uri="{BB962C8B-B14F-4D97-AF65-F5344CB8AC3E}">
        <p14:creationId xmlns:p14="http://schemas.microsoft.com/office/powerpoint/2010/main" val="410664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57EFE-624A-0B8D-B230-88FAA8271AD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51453E-242B-6DBA-276B-6ECAA832F5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5FBE5C-3C48-9B58-4BA6-7AA58F2010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D23F5B8-28B3-57EE-FF7B-B058392014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DEF8C3-CE3F-A022-3442-0554FAE82F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55D64E5-2C2E-DCFD-9BAE-B20C572ACBD5}"/>
              </a:ext>
            </a:extLst>
          </p:cNvPr>
          <p:cNvSpPr>
            <a:spLocks noGrp="1"/>
          </p:cNvSpPr>
          <p:nvPr>
            <p:ph type="dt" sz="half" idx="10"/>
          </p:nvPr>
        </p:nvSpPr>
        <p:spPr/>
        <p:txBody>
          <a:bodyPr/>
          <a:lstStyle/>
          <a:p>
            <a:fld id="{15312975-030B-4EEB-9A3C-4B0486C3777D}" type="datetimeFigureOut">
              <a:rPr lang="en-IN" smtClean="0"/>
              <a:t>11-11-2025</a:t>
            </a:fld>
            <a:endParaRPr lang="en-IN"/>
          </a:p>
        </p:txBody>
      </p:sp>
      <p:sp>
        <p:nvSpPr>
          <p:cNvPr id="8" name="Footer Placeholder 7">
            <a:extLst>
              <a:ext uri="{FF2B5EF4-FFF2-40B4-BE49-F238E27FC236}">
                <a16:creationId xmlns:a16="http://schemas.microsoft.com/office/drawing/2014/main" id="{B886892A-E08E-F23C-AD32-58BA4A17C9A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948FB6A-D5F3-A09A-32A1-3C9AB3AB4F40}"/>
              </a:ext>
            </a:extLst>
          </p:cNvPr>
          <p:cNvSpPr>
            <a:spLocks noGrp="1"/>
          </p:cNvSpPr>
          <p:nvPr>
            <p:ph type="sldNum" sz="quarter" idx="12"/>
          </p:nvPr>
        </p:nvSpPr>
        <p:spPr/>
        <p:txBody>
          <a:bodyPr/>
          <a:lstStyle/>
          <a:p>
            <a:fld id="{9F093F95-E5D5-4351-B5DC-4F97E25D1714}" type="slidenum">
              <a:rPr lang="en-IN" smtClean="0"/>
              <a:t>‹#›</a:t>
            </a:fld>
            <a:endParaRPr lang="en-IN"/>
          </a:p>
        </p:txBody>
      </p:sp>
    </p:spTree>
    <p:extLst>
      <p:ext uri="{BB962C8B-B14F-4D97-AF65-F5344CB8AC3E}">
        <p14:creationId xmlns:p14="http://schemas.microsoft.com/office/powerpoint/2010/main" val="3211477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B6422-176B-536A-CAD8-B524AB7665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26142AE-A600-7818-0CED-B9D1C781D1D2}"/>
              </a:ext>
            </a:extLst>
          </p:cNvPr>
          <p:cNvSpPr>
            <a:spLocks noGrp="1"/>
          </p:cNvSpPr>
          <p:nvPr>
            <p:ph type="dt" sz="half" idx="10"/>
          </p:nvPr>
        </p:nvSpPr>
        <p:spPr/>
        <p:txBody>
          <a:bodyPr/>
          <a:lstStyle/>
          <a:p>
            <a:fld id="{15312975-030B-4EEB-9A3C-4B0486C3777D}" type="datetimeFigureOut">
              <a:rPr lang="en-IN" smtClean="0"/>
              <a:t>11-11-2025</a:t>
            </a:fld>
            <a:endParaRPr lang="en-IN"/>
          </a:p>
        </p:txBody>
      </p:sp>
      <p:sp>
        <p:nvSpPr>
          <p:cNvPr id="4" name="Footer Placeholder 3">
            <a:extLst>
              <a:ext uri="{FF2B5EF4-FFF2-40B4-BE49-F238E27FC236}">
                <a16:creationId xmlns:a16="http://schemas.microsoft.com/office/drawing/2014/main" id="{979C2728-B5A0-B508-E21A-67B91D036D5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BFE8986-37C4-83E2-5C48-E435B88C7852}"/>
              </a:ext>
            </a:extLst>
          </p:cNvPr>
          <p:cNvSpPr>
            <a:spLocks noGrp="1"/>
          </p:cNvSpPr>
          <p:nvPr>
            <p:ph type="sldNum" sz="quarter" idx="12"/>
          </p:nvPr>
        </p:nvSpPr>
        <p:spPr/>
        <p:txBody>
          <a:bodyPr/>
          <a:lstStyle/>
          <a:p>
            <a:fld id="{9F093F95-E5D5-4351-B5DC-4F97E25D1714}" type="slidenum">
              <a:rPr lang="en-IN" smtClean="0"/>
              <a:t>‹#›</a:t>
            </a:fld>
            <a:endParaRPr lang="en-IN"/>
          </a:p>
        </p:txBody>
      </p:sp>
    </p:spTree>
    <p:extLst>
      <p:ext uri="{BB962C8B-B14F-4D97-AF65-F5344CB8AC3E}">
        <p14:creationId xmlns:p14="http://schemas.microsoft.com/office/powerpoint/2010/main" val="2850146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7D69BE-7781-F623-217D-D7C003E6424F}"/>
              </a:ext>
            </a:extLst>
          </p:cNvPr>
          <p:cNvSpPr>
            <a:spLocks noGrp="1"/>
          </p:cNvSpPr>
          <p:nvPr>
            <p:ph type="dt" sz="half" idx="10"/>
          </p:nvPr>
        </p:nvSpPr>
        <p:spPr/>
        <p:txBody>
          <a:bodyPr/>
          <a:lstStyle/>
          <a:p>
            <a:fld id="{15312975-030B-4EEB-9A3C-4B0486C3777D}" type="datetimeFigureOut">
              <a:rPr lang="en-IN" smtClean="0"/>
              <a:t>11-11-2025</a:t>
            </a:fld>
            <a:endParaRPr lang="en-IN"/>
          </a:p>
        </p:txBody>
      </p:sp>
      <p:sp>
        <p:nvSpPr>
          <p:cNvPr id="3" name="Footer Placeholder 2">
            <a:extLst>
              <a:ext uri="{FF2B5EF4-FFF2-40B4-BE49-F238E27FC236}">
                <a16:creationId xmlns:a16="http://schemas.microsoft.com/office/drawing/2014/main" id="{2DCEE189-89C0-1FAE-2F8B-0EDF0B45C3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E5D863B-F65F-58E1-D1D5-628FD527F9CB}"/>
              </a:ext>
            </a:extLst>
          </p:cNvPr>
          <p:cNvSpPr>
            <a:spLocks noGrp="1"/>
          </p:cNvSpPr>
          <p:nvPr>
            <p:ph type="sldNum" sz="quarter" idx="12"/>
          </p:nvPr>
        </p:nvSpPr>
        <p:spPr/>
        <p:txBody>
          <a:bodyPr/>
          <a:lstStyle/>
          <a:p>
            <a:fld id="{9F093F95-E5D5-4351-B5DC-4F97E25D1714}" type="slidenum">
              <a:rPr lang="en-IN" smtClean="0"/>
              <a:t>‹#›</a:t>
            </a:fld>
            <a:endParaRPr lang="en-IN"/>
          </a:p>
        </p:txBody>
      </p:sp>
    </p:spTree>
    <p:extLst>
      <p:ext uri="{BB962C8B-B14F-4D97-AF65-F5344CB8AC3E}">
        <p14:creationId xmlns:p14="http://schemas.microsoft.com/office/powerpoint/2010/main" val="3084248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1D17C-B0F9-F891-D3D3-DC8092D939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2ECF97F-C431-2840-1EBF-AE89C1C1CD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FD4B658-B2CA-F8C0-2E7F-9F2B4D851C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0C5F24-647F-AC86-7E87-5AE30EF9F3C3}"/>
              </a:ext>
            </a:extLst>
          </p:cNvPr>
          <p:cNvSpPr>
            <a:spLocks noGrp="1"/>
          </p:cNvSpPr>
          <p:nvPr>
            <p:ph type="dt" sz="half" idx="10"/>
          </p:nvPr>
        </p:nvSpPr>
        <p:spPr/>
        <p:txBody>
          <a:bodyPr/>
          <a:lstStyle/>
          <a:p>
            <a:fld id="{15312975-030B-4EEB-9A3C-4B0486C3777D}" type="datetimeFigureOut">
              <a:rPr lang="en-IN" smtClean="0"/>
              <a:t>11-11-2025</a:t>
            </a:fld>
            <a:endParaRPr lang="en-IN"/>
          </a:p>
        </p:txBody>
      </p:sp>
      <p:sp>
        <p:nvSpPr>
          <p:cNvPr id="6" name="Footer Placeholder 5">
            <a:extLst>
              <a:ext uri="{FF2B5EF4-FFF2-40B4-BE49-F238E27FC236}">
                <a16:creationId xmlns:a16="http://schemas.microsoft.com/office/drawing/2014/main" id="{7CB49C64-EFCD-0A78-F59A-104B5F5739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674897-B4CC-FF1D-A3EB-DCE728B36DD6}"/>
              </a:ext>
            </a:extLst>
          </p:cNvPr>
          <p:cNvSpPr>
            <a:spLocks noGrp="1"/>
          </p:cNvSpPr>
          <p:nvPr>
            <p:ph type="sldNum" sz="quarter" idx="12"/>
          </p:nvPr>
        </p:nvSpPr>
        <p:spPr/>
        <p:txBody>
          <a:bodyPr/>
          <a:lstStyle/>
          <a:p>
            <a:fld id="{9F093F95-E5D5-4351-B5DC-4F97E25D1714}" type="slidenum">
              <a:rPr lang="en-IN" smtClean="0"/>
              <a:t>‹#›</a:t>
            </a:fld>
            <a:endParaRPr lang="en-IN"/>
          </a:p>
        </p:txBody>
      </p:sp>
    </p:spTree>
    <p:extLst>
      <p:ext uri="{BB962C8B-B14F-4D97-AF65-F5344CB8AC3E}">
        <p14:creationId xmlns:p14="http://schemas.microsoft.com/office/powerpoint/2010/main" val="2160173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72303-CA8E-2155-B189-25AA92422B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045B2AE-A794-A3A0-A5D7-8F33333158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13DDCB4-E47F-27A0-ADFC-92730E24FA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3E86FC-525C-0780-C862-1CF15F7ADCAA}"/>
              </a:ext>
            </a:extLst>
          </p:cNvPr>
          <p:cNvSpPr>
            <a:spLocks noGrp="1"/>
          </p:cNvSpPr>
          <p:nvPr>
            <p:ph type="dt" sz="half" idx="10"/>
          </p:nvPr>
        </p:nvSpPr>
        <p:spPr/>
        <p:txBody>
          <a:bodyPr/>
          <a:lstStyle/>
          <a:p>
            <a:fld id="{15312975-030B-4EEB-9A3C-4B0486C3777D}" type="datetimeFigureOut">
              <a:rPr lang="en-IN" smtClean="0"/>
              <a:t>11-11-2025</a:t>
            </a:fld>
            <a:endParaRPr lang="en-IN"/>
          </a:p>
        </p:txBody>
      </p:sp>
      <p:sp>
        <p:nvSpPr>
          <p:cNvPr id="6" name="Footer Placeholder 5">
            <a:extLst>
              <a:ext uri="{FF2B5EF4-FFF2-40B4-BE49-F238E27FC236}">
                <a16:creationId xmlns:a16="http://schemas.microsoft.com/office/drawing/2014/main" id="{AE619803-C640-B44A-849B-DFBE27FFF9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EC2143-33D9-AC64-3F32-BC916069288F}"/>
              </a:ext>
            </a:extLst>
          </p:cNvPr>
          <p:cNvSpPr>
            <a:spLocks noGrp="1"/>
          </p:cNvSpPr>
          <p:nvPr>
            <p:ph type="sldNum" sz="quarter" idx="12"/>
          </p:nvPr>
        </p:nvSpPr>
        <p:spPr/>
        <p:txBody>
          <a:bodyPr/>
          <a:lstStyle/>
          <a:p>
            <a:fld id="{9F093F95-E5D5-4351-B5DC-4F97E25D1714}" type="slidenum">
              <a:rPr lang="en-IN" smtClean="0"/>
              <a:t>‹#›</a:t>
            </a:fld>
            <a:endParaRPr lang="en-IN"/>
          </a:p>
        </p:txBody>
      </p:sp>
    </p:spTree>
    <p:extLst>
      <p:ext uri="{BB962C8B-B14F-4D97-AF65-F5344CB8AC3E}">
        <p14:creationId xmlns:p14="http://schemas.microsoft.com/office/powerpoint/2010/main" val="2735626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0AA36-3A18-E507-FAC1-B6C542FC72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4E5DB6-91C0-3AE2-5A83-A9ECF7CF6B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BC1FBD-CAAA-09CD-336F-2B64C1200069}"/>
              </a:ext>
            </a:extLst>
          </p:cNvPr>
          <p:cNvSpPr>
            <a:spLocks noGrp="1"/>
          </p:cNvSpPr>
          <p:nvPr>
            <p:ph type="dt" sz="half" idx="10"/>
          </p:nvPr>
        </p:nvSpPr>
        <p:spPr/>
        <p:txBody>
          <a:bodyPr/>
          <a:lstStyle/>
          <a:p>
            <a:fld id="{15312975-030B-4EEB-9A3C-4B0486C3777D}" type="datetimeFigureOut">
              <a:rPr lang="en-IN" smtClean="0"/>
              <a:t>11-11-2025</a:t>
            </a:fld>
            <a:endParaRPr lang="en-IN"/>
          </a:p>
        </p:txBody>
      </p:sp>
      <p:sp>
        <p:nvSpPr>
          <p:cNvPr id="5" name="Footer Placeholder 4">
            <a:extLst>
              <a:ext uri="{FF2B5EF4-FFF2-40B4-BE49-F238E27FC236}">
                <a16:creationId xmlns:a16="http://schemas.microsoft.com/office/drawing/2014/main" id="{9BD1FB2B-E4F8-C7FA-6EA0-2B9B202241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D3C38A-4FF7-5CCF-11D7-997DF7526901}"/>
              </a:ext>
            </a:extLst>
          </p:cNvPr>
          <p:cNvSpPr>
            <a:spLocks noGrp="1"/>
          </p:cNvSpPr>
          <p:nvPr>
            <p:ph type="sldNum" sz="quarter" idx="12"/>
          </p:nvPr>
        </p:nvSpPr>
        <p:spPr/>
        <p:txBody>
          <a:bodyPr/>
          <a:lstStyle/>
          <a:p>
            <a:fld id="{9F093F95-E5D5-4351-B5DC-4F97E25D1714}" type="slidenum">
              <a:rPr lang="en-IN" smtClean="0"/>
              <a:t>‹#›</a:t>
            </a:fld>
            <a:endParaRPr lang="en-IN"/>
          </a:p>
        </p:txBody>
      </p:sp>
    </p:spTree>
    <p:extLst>
      <p:ext uri="{BB962C8B-B14F-4D97-AF65-F5344CB8AC3E}">
        <p14:creationId xmlns:p14="http://schemas.microsoft.com/office/powerpoint/2010/main" val="2038482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873E68-E98C-F909-7EC3-E73555DAB2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7735B9-3AA2-0B02-911F-439031E480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1FAE77-9650-5FD7-244D-2C8C09CC49FB}"/>
              </a:ext>
            </a:extLst>
          </p:cNvPr>
          <p:cNvSpPr>
            <a:spLocks noGrp="1"/>
          </p:cNvSpPr>
          <p:nvPr>
            <p:ph type="dt" sz="half" idx="10"/>
          </p:nvPr>
        </p:nvSpPr>
        <p:spPr/>
        <p:txBody>
          <a:bodyPr/>
          <a:lstStyle/>
          <a:p>
            <a:fld id="{15312975-030B-4EEB-9A3C-4B0486C3777D}" type="datetimeFigureOut">
              <a:rPr lang="en-IN" smtClean="0"/>
              <a:t>11-11-2025</a:t>
            </a:fld>
            <a:endParaRPr lang="en-IN"/>
          </a:p>
        </p:txBody>
      </p:sp>
      <p:sp>
        <p:nvSpPr>
          <p:cNvPr id="5" name="Footer Placeholder 4">
            <a:extLst>
              <a:ext uri="{FF2B5EF4-FFF2-40B4-BE49-F238E27FC236}">
                <a16:creationId xmlns:a16="http://schemas.microsoft.com/office/drawing/2014/main" id="{61C58936-841A-C431-DF6D-75F99DCBBC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DC7D3A-32FC-AD95-03E8-4A197ADCD120}"/>
              </a:ext>
            </a:extLst>
          </p:cNvPr>
          <p:cNvSpPr>
            <a:spLocks noGrp="1"/>
          </p:cNvSpPr>
          <p:nvPr>
            <p:ph type="sldNum" sz="quarter" idx="12"/>
          </p:nvPr>
        </p:nvSpPr>
        <p:spPr/>
        <p:txBody>
          <a:bodyPr/>
          <a:lstStyle/>
          <a:p>
            <a:fld id="{9F093F95-E5D5-4351-B5DC-4F97E25D1714}" type="slidenum">
              <a:rPr lang="en-IN" smtClean="0"/>
              <a:t>‹#›</a:t>
            </a:fld>
            <a:endParaRPr lang="en-IN"/>
          </a:p>
        </p:txBody>
      </p:sp>
    </p:spTree>
    <p:extLst>
      <p:ext uri="{BB962C8B-B14F-4D97-AF65-F5344CB8AC3E}">
        <p14:creationId xmlns:p14="http://schemas.microsoft.com/office/powerpoint/2010/main" val="160219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19CF05-8A74-7887-AD00-F18495C10B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CC7AE6E-8F03-D4C6-1469-814B344A5B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F773C5-B14C-3823-EEB0-F820A8191A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312975-030B-4EEB-9A3C-4B0486C3777D}" type="datetimeFigureOut">
              <a:rPr lang="en-IN" smtClean="0"/>
              <a:t>11-11-2025</a:t>
            </a:fld>
            <a:endParaRPr lang="en-IN"/>
          </a:p>
        </p:txBody>
      </p:sp>
      <p:sp>
        <p:nvSpPr>
          <p:cNvPr id="5" name="Footer Placeholder 4">
            <a:extLst>
              <a:ext uri="{FF2B5EF4-FFF2-40B4-BE49-F238E27FC236}">
                <a16:creationId xmlns:a16="http://schemas.microsoft.com/office/drawing/2014/main" id="{27EDD11F-F80E-8155-5263-DCDD1DDB3F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6DC4166-4D6E-FC28-EC71-7C2B39F79D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093F95-E5D5-4351-B5DC-4F97E25D1714}" type="slidenum">
              <a:rPr lang="en-IN" smtClean="0"/>
              <a:t>‹#›</a:t>
            </a:fld>
            <a:endParaRPr lang="en-IN"/>
          </a:p>
        </p:txBody>
      </p:sp>
    </p:spTree>
    <p:extLst>
      <p:ext uri="{BB962C8B-B14F-4D97-AF65-F5344CB8AC3E}">
        <p14:creationId xmlns:p14="http://schemas.microsoft.com/office/powerpoint/2010/main" val="1062238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an.singhsanjay@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api.github.com/meta"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download.docker.com/linux/ubuntu/gpg" TargetMode="External"/><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download.docker.com/linux/ubuntu"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checkip.amazonaws.com/"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myapp.afraid.org/" TargetMode="External"/><Relationship Id="rId2" Type="http://schemas.openxmlformats.org/officeDocument/2006/relationships/hyperlink" Target="http://myapp.afraid.org:8501/"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DFF29D-658E-951D-49F1-377A81F6AF32}"/>
              </a:ext>
            </a:extLst>
          </p:cNvPr>
          <p:cNvSpPr txBox="1"/>
          <p:nvPr/>
        </p:nvSpPr>
        <p:spPr>
          <a:xfrm>
            <a:off x="4371109" y="1998353"/>
            <a:ext cx="3449781" cy="1323439"/>
          </a:xfrm>
          <a:prstGeom prst="rect">
            <a:avLst/>
          </a:prstGeom>
          <a:noFill/>
        </p:spPr>
        <p:txBody>
          <a:bodyPr wrap="square" rtlCol="0" anchor="ctr">
            <a:spAutoFit/>
          </a:bodyPr>
          <a:lstStyle/>
          <a:p>
            <a:pPr algn="ctr"/>
            <a:r>
              <a:rPr lang="en-IN" sz="3200" dirty="0"/>
              <a:t>Sanjay’s App</a:t>
            </a:r>
          </a:p>
          <a:p>
            <a:pPr algn="ctr"/>
            <a:endParaRPr lang="en-IN" sz="2400" dirty="0"/>
          </a:p>
          <a:p>
            <a:pPr algn="ctr"/>
            <a:r>
              <a:rPr lang="en-IN" sz="2400" dirty="0"/>
              <a:t>Project Plan Document</a:t>
            </a:r>
          </a:p>
        </p:txBody>
      </p:sp>
      <p:sp>
        <p:nvSpPr>
          <p:cNvPr id="3" name="TextBox 2">
            <a:extLst>
              <a:ext uri="{FF2B5EF4-FFF2-40B4-BE49-F238E27FC236}">
                <a16:creationId xmlns:a16="http://schemas.microsoft.com/office/drawing/2014/main" id="{D21EF930-9BFE-5EEF-D568-E0D3735E14FC}"/>
              </a:ext>
            </a:extLst>
          </p:cNvPr>
          <p:cNvSpPr txBox="1"/>
          <p:nvPr/>
        </p:nvSpPr>
        <p:spPr>
          <a:xfrm>
            <a:off x="4578926" y="4800599"/>
            <a:ext cx="3034145" cy="923330"/>
          </a:xfrm>
          <a:prstGeom prst="rect">
            <a:avLst/>
          </a:prstGeom>
          <a:noFill/>
        </p:spPr>
        <p:txBody>
          <a:bodyPr wrap="square" rtlCol="0">
            <a:spAutoFit/>
          </a:bodyPr>
          <a:lstStyle/>
          <a:p>
            <a:pPr algn="ctr"/>
            <a:r>
              <a:rPr lang="en-IN" dirty="0"/>
              <a:t>Sanjay Singh</a:t>
            </a:r>
          </a:p>
          <a:p>
            <a:pPr algn="ctr"/>
            <a:r>
              <a:rPr lang="en-IN" dirty="0">
                <a:hlinkClick r:id="rId3"/>
              </a:rPr>
              <a:t>san.singhsanjay@gmail.com</a:t>
            </a:r>
            <a:endParaRPr lang="en-IN" dirty="0"/>
          </a:p>
          <a:p>
            <a:pPr algn="ctr"/>
            <a:r>
              <a:rPr lang="en-IN" dirty="0"/>
              <a:t>+91-7772881269</a:t>
            </a:r>
          </a:p>
        </p:txBody>
      </p:sp>
    </p:spTree>
    <p:extLst>
      <p:ext uri="{BB962C8B-B14F-4D97-AF65-F5344CB8AC3E}">
        <p14:creationId xmlns:p14="http://schemas.microsoft.com/office/powerpoint/2010/main" val="2107021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1C2CD-85D5-97AB-32DB-E2B21E21F9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29128D2-ADE0-8946-4945-692252E42297}"/>
              </a:ext>
            </a:extLst>
          </p:cNvPr>
          <p:cNvSpPr txBox="1"/>
          <p:nvPr/>
        </p:nvSpPr>
        <p:spPr>
          <a:xfrm>
            <a:off x="166255" y="145473"/>
            <a:ext cx="11835245" cy="400110"/>
          </a:xfrm>
          <a:prstGeom prst="rect">
            <a:avLst/>
          </a:prstGeom>
          <a:noFill/>
        </p:spPr>
        <p:txBody>
          <a:bodyPr wrap="square" rtlCol="0">
            <a:spAutoFit/>
          </a:bodyPr>
          <a:lstStyle/>
          <a:p>
            <a:r>
              <a:rPr lang="en-IN" sz="2000" b="1" dirty="0"/>
              <a:t>[1/2] CI / CD Pipeline: Creating AWS EC2 Instance</a:t>
            </a:r>
          </a:p>
        </p:txBody>
      </p:sp>
      <p:sp>
        <p:nvSpPr>
          <p:cNvPr id="3" name="TextBox 2">
            <a:extLst>
              <a:ext uri="{FF2B5EF4-FFF2-40B4-BE49-F238E27FC236}">
                <a16:creationId xmlns:a16="http://schemas.microsoft.com/office/drawing/2014/main" id="{CC8A3E47-3C89-BD6A-72A9-AB0BD82A414F}"/>
              </a:ext>
            </a:extLst>
          </p:cNvPr>
          <p:cNvSpPr txBox="1"/>
          <p:nvPr/>
        </p:nvSpPr>
        <p:spPr>
          <a:xfrm>
            <a:off x="166255" y="545583"/>
            <a:ext cx="10380518" cy="1815882"/>
          </a:xfrm>
          <a:prstGeom prst="rect">
            <a:avLst/>
          </a:prstGeom>
          <a:noFill/>
        </p:spPr>
        <p:txBody>
          <a:bodyPr wrap="square" rtlCol="0">
            <a:spAutoFit/>
          </a:bodyPr>
          <a:lstStyle/>
          <a:p>
            <a:pPr marL="342900" indent="-342900">
              <a:buFont typeface="+mj-lt"/>
              <a:buAutoNum type="arabicPeriod"/>
            </a:pPr>
            <a:r>
              <a:rPr lang="en-IN" sz="1600" dirty="0"/>
              <a:t>Login to your AWS account</a:t>
            </a:r>
          </a:p>
          <a:p>
            <a:pPr marL="342900" indent="-342900">
              <a:buFont typeface="+mj-lt"/>
              <a:buAutoNum type="arabicPeriod"/>
            </a:pPr>
            <a:r>
              <a:rPr lang="en-IN" sz="1600" dirty="0"/>
              <a:t>Click on EC2</a:t>
            </a:r>
          </a:p>
          <a:p>
            <a:pPr marL="342900" indent="-342900">
              <a:buFont typeface="+mj-lt"/>
              <a:buAutoNum type="arabicPeriod"/>
            </a:pPr>
            <a:r>
              <a:rPr lang="en-IN" sz="1600" dirty="0"/>
              <a:t>Now, click on “Launch instance” button</a:t>
            </a:r>
          </a:p>
          <a:p>
            <a:pPr marL="342900" indent="-342900">
              <a:buFont typeface="+mj-lt"/>
              <a:buAutoNum type="arabicPeriod"/>
            </a:pPr>
            <a:r>
              <a:rPr lang="en-IN" sz="1600" dirty="0"/>
              <a:t>Enter name of your EC2 instance, for now let’s call it “my_ec2_instance”</a:t>
            </a:r>
          </a:p>
          <a:p>
            <a:pPr marL="342900" indent="-342900">
              <a:buFont typeface="+mj-lt"/>
              <a:buAutoNum type="arabicPeriod"/>
            </a:pPr>
            <a:r>
              <a:rPr lang="en-IN" sz="1600" dirty="0"/>
              <a:t>Under “Application and OS Images”, select “Ubuntu” (recommended)</a:t>
            </a:r>
          </a:p>
          <a:p>
            <a:pPr marL="342900" indent="-342900">
              <a:buFont typeface="+mj-lt"/>
              <a:buAutoNum type="arabicPeriod"/>
            </a:pPr>
            <a:r>
              <a:rPr lang="en-IN" sz="1600" dirty="0"/>
              <a:t>In “Amazon Machine Image (AMI)” dropdown list, select “Ubuntu Server 22.04 LTS” (recommended)</a:t>
            </a:r>
          </a:p>
          <a:p>
            <a:pPr marL="342900" indent="-342900">
              <a:buFont typeface="+mj-lt"/>
              <a:buAutoNum type="arabicPeriod"/>
            </a:pPr>
            <a:r>
              <a:rPr lang="en-IN" sz="1600" dirty="0"/>
              <a:t>Under “Instance type”, select instance type matching your requirements and budget</a:t>
            </a:r>
          </a:p>
        </p:txBody>
      </p:sp>
      <p:grpSp>
        <p:nvGrpSpPr>
          <p:cNvPr id="8" name="Group 7">
            <a:extLst>
              <a:ext uri="{FF2B5EF4-FFF2-40B4-BE49-F238E27FC236}">
                <a16:creationId xmlns:a16="http://schemas.microsoft.com/office/drawing/2014/main" id="{E475DC95-58DE-C1EB-610A-DABA7973A046}"/>
              </a:ext>
            </a:extLst>
          </p:cNvPr>
          <p:cNvGrpSpPr/>
          <p:nvPr/>
        </p:nvGrpSpPr>
        <p:grpSpPr>
          <a:xfrm>
            <a:off x="10546773" y="545583"/>
            <a:ext cx="1454727" cy="1727472"/>
            <a:chOff x="8248650" y="837970"/>
            <a:chExt cx="1454727" cy="1727472"/>
          </a:xfrm>
        </p:grpSpPr>
        <p:sp>
          <p:nvSpPr>
            <p:cNvPr id="6" name="TextBox 5">
              <a:extLst>
                <a:ext uri="{FF2B5EF4-FFF2-40B4-BE49-F238E27FC236}">
                  <a16:creationId xmlns:a16="http://schemas.microsoft.com/office/drawing/2014/main" id="{BA246747-8035-3821-6BEB-E7083C2EB189}"/>
                </a:ext>
              </a:extLst>
            </p:cNvPr>
            <p:cNvSpPr txBox="1"/>
            <p:nvPr/>
          </p:nvSpPr>
          <p:spPr>
            <a:xfrm>
              <a:off x="8248650" y="2226888"/>
              <a:ext cx="1454727" cy="338554"/>
            </a:xfrm>
            <a:prstGeom prst="rect">
              <a:avLst/>
            </a:prstGeom>
            <a:noFill/>
          </p:spPr>
          <p:txBody>
            <a:bodyPr wrap="square" rtlCol="0">
              <a:spAutoFit/>
            </a:bodyPr>
            <a:lstStyle/>
            <a:p>
              <a:pPr algn="ctr"/>
              <a:r>
                <a:rPr lang="en-IN" sz="1600" b="1" dirty="0"/>
                <a:t>Amazon EC2</a:t>
              </a:r>
            </a:p>
          </p:txBody>
        </p:sp>
        <p:pic>
          <p:nvPicPr>
            <p:cNvPr id="1036" name="Picture 12" descr="Aws Ec2 icon as SVG, PNG, JSX, and Base64">
              <a:extLst>
                <a:ext uri="{FF2B5EF4-FFF2-40B4-BE49-F238E27FC236}">
                  <a16:creationId xmlns:a16="http://schemas.microsoft.com/office/drawing/2014/main" id="{7CC0667F-B6CE-648E-0874-4CC735DF4C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1555" y="837970"/>
              <a:ext cx="1388918" cy="1388918"/>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TextBox 8">
            <a:extLst>
              <a:ext uri="{FF2B5EF4-FFF2-40B4-BE49-F238E27FC236}">
                <a16:creationId xmlns:a16="http://schemas.microsoft.com/office/drawing/2014/main" id="{6431AEEE-E034-F205-5D77-DF6B266E120A}"/>
              </a:ext>
            </a:extLst>
          </p:cNvPr>
          <p:cNvSpPr txBox="1"/>
          <p:nvPr/>
        </p:nvSpPr>
        <p:spPr>
          <a:xfrm>
            <a:off x="166255" y="2361465"/>
            <a:ext cx="11802341" cy="3785652"/>
          </a:xfrm>
          <a:prstGeom prst="rect">
            <a:avLst/>
          </a:prstGeom>
          <a:noFill/>
        </p:spPr>
        <p:txBody>
          <a:bodyPr wrap="square" rtlCol="0">
            <a:spAutoFit/>
          </a:bodyPr>
          <a:lstStyle/>
          <a:p>
            <a:pPr marL="342900" indent="-342900">
              <a:buFont typeface="+mj-lt"/>
              <a:buAutoNum type="arabicPeriod" startAt="8"/>
            </a:pPr>
            <a:r>
              <a:rPr lang="en-IN" sz="1600" dirty="0"/>
              <a:t>Under “Key pair (login)”, select a key-pair if exists; otherwise click on “Create new key pair”, enter name of your choice for “Key pair name”, select “Key paid type” as “RSA” and “Private key file format” as “.</a:t>
            </a:r>
            <a:r>
              <a:rPr lang="en-IN" sz="1600" dirty="0" err="1"/>
              <a:t>pem</a:t>
            </a:r>
            <a:r>
              <a:rPr lang="en-IN" sz="1600" dirty="0"/>
              <a:t>”, and finally click on the button “Create key pair”. This will download a “.</a:t>
            </a:r>
            <a:r>
              <a:rPr lang="en-IN" sz="1600" dirty="0" err="1"/>
              <a:t>pem</a:t>
            </a:r>
            <a:r>
              <a:rPr lang="en-IN" sz="1600" dirty="0"/>
              <a:t>” file which is the private key of your key-pair. Keep it safely on your machine for later use. This will help you to access your EC2 instance by SSH commands.</a:t>
            </a:r>
          </a:p>
          <a:p>
            <a:pPr marL="342900" indent="-342900">
              <a:buFont typeface="+mj-lt"/>
              <a:buAutoNum type="arabicPeriod" startAt="8"/>
            </a:pPr>
            <a:r>
              <a:rPr lang="en-IN" sz="1600" dirty="0"/>
              <a:t>Now under “Network settings”, create a security group (or edit an existing security group) for the following changes:</a:t>
            </a:r>
          </a:p>
          <a:p>
            <a:pPr marL="857250" lvl="1" indent="-400050">
              <a:buFont typeface="+mj-lt"/>
              <a:buAutoNum type="romanLcPeriod"/>
            </a:pPr>
            <a:r>
              <a:rPr lang="en-IN" sz="1600" dirty="0"/>
              <a:t>Add inbound rule SSH (TCP 22); source: your laptop IP; DO NOT open port 22 for all, i.e., 0.0.0.0/0. This will help you to SSH into your EC2 instance from your machine’s terminal.</a:t>
            </a:r>
          </a:p>
          <a:p>
            <a:pPr marL="857250" lvl="1" indent="-400050">
              <a:buFont typeface="+mj-lt"/>
              <a:buAutoNum type="romanLcPeriod"/>
            </a:pPr>
            <a:r>
              <a:rPr lang="en-IN" sz="1600" dirty="0"/>
              <a:t>Add inbound rule Custom TCP 8080; source: 0.0.0.0/0 (to access Jenkins dashboard on your laptop’s browser + GitHub push notification to Jenkin that a push happened so that Jenkins can pull and deploy the latest code). 0.0.0.0/0 is not recommended </a:t>
            </a:r>
            <a:r>
              <a:rPr lang="en-IN" sz="1600" b="1" u="sng" dirty="0">
                <a:solidFill>
                  <a:srgbClr val="FF0000"/>
                </a:solidFill>
              </a:rPr>
              <a:t>(⮾SECURITY ALERT)</a:t>
            </a:r>
            <a:r>
              <a:rPr lang="en-IN" sz="1600" dirty="0"/>
              <a:t>.</a:t>
            </a:r>
          </a:p>
          <a:p>
            <a:pPr lvl="2"/>
            <a:r>
              <a:rPr lang="en-IN" sz="1600" dirty="0"/>
              <a:t>	Visit </a:t>
            </a:r>
            <a:r>
              <a:rPr lang="en-IN" sz="1600" dirty="0">
                <a:hlinkClick r:id="rId3"/>
              </a:rPr>
              <a:t>https://api.github.com/meta</a:t>
            </a:r>
            <a:r>
              <a:rPr lang="en-IN" sz="1600" dirty="0"/>
              <a:t> and copy the IP address ranges for “hooks”. Add only these IP4 address in your EC2 instance’s inbound rule.</a:t>
            </a:r>
          </a:p>
          <a:p>
            <a:pPr marL="857250" lvl="1" indent="-400050">
              <a:buFont typeface="+mj-lt"/>
              <a:buAutoNum type="romanLcPeriod"/>
            </a:pPr>
            <a:r>
              <a:rPr lang="en-IN" sz="1600" dirty="0"/>
              <a:t>Add outbound rules as “All traffic” (default security group usually does this). This will allow your EC2 instance to access the Internet and install all the required Linux and Python packages.</a:t>
            </a:r>
          </a:p>
          <a:p>
            <a:pPr marL="400050" indent="-400050">
              <a:buFont typeface="+mj-lt"/>
              <a:buAutoNum type="arabicPeriod" startAt="8"/>
            </a:pPr>
            <a:r>
              <a:rPr lang="en-IN" sz="1600" dirty="0"/>
              <a:t>Now, create on “Launch instance” button and ensure that the instance has started.</a:t>
            </a:r>
          </a:p>
        </p:txBody>
      </p:sp>
    </p:spTree>
    <p:extLst>
      <p:ext uri="{BB962C8B-B14F-4D97-AF65-F5344CB8AC3E}">
        <p14:creationId xmlns:p14="http://schemas.microsoft.com/office/powerpoint/2010/main" val="2674203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4350A-B09B-ABE4-DE2C-6566C179184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C2D6DEB-71F0-71F7-C01E-5C623BB5AF88}"/>
              </a:ext>
            </a:extLst>
          </p:cNvPr>
          <p:cNvSpPr txBox="1"/>
          <p:nvPr/>
        </p:nvSpPr>
        <p:spPr>
          <a:xfrm>
            <a:off x="166255" y="145473"/>
            <a:ext cx="11835245" cy="400110"/>
          </a:xfrm>
          <a:prstGeom prst="rect">
            <a:avLst/>
          </a:prstGeom>
          <a:noFill/>
        </p:spPr>
        <p:txBody>
          <a:bodyPr wrap="square" rtlCol="0">
            <a:spAutoFit/>
          </a:bodyPr>
          <a:lstStyle/>
          <a:p>
            <a:r>
              <a:rPr lang="en-IN" sz="2000" b="1" dirty="0"/>
              <a:t>[2/2] CI / CD Pipeline: Creating AWS EC2 Instance</a:t>
            </a:r>
          </a:p>
        </p:txBody>
      </p:sp>
      <p:grpSp>
        <p:nvGrpSpPr>
          <p:cNvPr id="8" name="Group 7">
            <a:extLst>
              <a:ext uri="{FF2B5EF4-FFF2-40B4-BE49-F238E27FC236}">
                <a16:creationId xmlns:a16="http://schemas.microsoft.com/office/drawing/2014/main" id="{A35DB07D-75D6-10A8-AE17-E1D421BA52B3}"/>
              </a:ext>
            </a:extLst>
          </p:cNvPr>
          <p:cNvGrpSpPr/>
          <p:nvPr/>
        </p:nvGrpSpPr>
        <p:grpSpPr>
          <a:xfrm>
            <a:off x="10546773" y="545583"/>
            <a:ext cx="1454727" cy="1727472"/>
            <a:chOff x="8248650" y="837970"/>
            <a:chExt cx="1454727" cy="1727472"/>
          </a:xfrm>
        </p:grpSpPr>
        <p:sp>
          <p:nvSpPr>
            <p:cNvPr id="6" name="TextBox 5">
              <a:extLst>
                <a:ext uri="{FF2B5EF4-FFF2-40B4-BE49-F238E27FC236}">
                  <a16:creationId xmlns:a16="http://schemas.microsoft.com/office/drawing/2014/main" id="{95B0DE18-24C3-7981-2248-DC96776A683D}"/>
                </a:ext>
              </a:extLst>
            </p:cNvPr>
            <p:cNvSpPr txBox="1"/>
            <p:nvPr/>
          </p:nvSpPr>
          <p:spPr>
            <a:xfrm>
              <a:off x="8248650" y="2226888"/>
              <a:ext cx="1454727" cy="338554"/>
            </a:xfrm>
            <a:prstGeom prst="rect">
              <a:avLst/>
            </a:prstGeom>
            <a:noFill/>
          </p:spPr>
          <p:txBody>
            <a:bodyPr wrap="square" rtlCol="0">
              <a:spAutoFit/>
            </a:bodyPr>
            <a:lstStyle/>
            <a:p>
              <a:pPr algn="ctr"/>
              <a:r>
                <a:rPr lang="en-IN" sz="1600" b="1" dirty="0"/>
                <a:t>Amazon EC2</a:t>
              </a:r>
            </a:p>
          </p:txBody>
        </p:sp>
        <p:pic>
          <p:nvPicPr>
            <p:cNvPr id="1036" name="Picture 12" descr="Aws Ec2 icon as SVG, PNG, JSX, and Base64">
              <a:extLst>
                <a:ext uri="{FF2B5EF4-FFF2-40B4-BE49-F238E27FC236}">
                  <a16:creationId xmlns:a16="http://schemas.microsoft.com/office/drawing/2014/main" id="{74B95143-84F5-4BF0-116B-A1C018BEE5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1555" y="837970"/>
              <a:ext cx="1388918" cy="1388918"/>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TextBox 3">
            <a:extLst>
              <a:ext uri="{FF2B5EF4-FFF2-40B4-BE49-F238E27FC236}">
                <a16:creationId xmlns:a16="http://schemas.microsoft.com/office/drawing/2014/main" id="{39134B79-8A84-5432-B145-DCBB5A0C531A}"/>
              </a:ext>
            </a:extLst>
          </p:cNvPr>
          <p:cNvSpPr txBox="1"/>
          <p:nvPr/>
        </p:nvSpPr>
        <p:spPr>
          <a:xfrm>
            <a:off x="166255" y="545583"/>
            <a:ext cx="10380518" cy="1815882"/>
          </a:xfrm>
          <a:prstGeom prst="rect">
            <a:avLst/>
          </a:prstGeom>
          <a:noFill/>
        </p:spPr>
        <p:txBody>
          <a:bodyPr wrap="square" rtlCol="0">
            <a:spAutoFit/>
          </a:bodyPr>
          <a:lstStyle/>
          <a:p>
            <a:pPr marL="342900" indent="-342900">
              <a:buFont typeface="+mj-lt"/>
              <a:buAutoNum type="arabicPeriod" startAt="11"/>
            </a:pPr>
            <a:r>
              <a:rPr lang="en-US" sz="1600" dirty="0"/>
              <a:t>The downloaded “.</a:t>
            </a:r>
            <a:r>
              <a:rPr lang="en-US" sz="1600" dirty="0" err="1"/>
              <a:t>pem</a:t>
            </a:r>
            <a:r>
              <a:rPr lang="en-US" sz="1600" dirty="0"/>
              <a:t>” private key file might be too open (i.e., with no access permissions). Due to this, when you try using this “.</a:t>
            </a:r>
            <a:r>
              <a:rPr lang="en-US" sz="1600" dirty="0" err="1"/>
              <a:t>pem</a:t>
            </a:r>
            <a:r>
              <a:rPr lang="en-US" sz="1600" dirty="0"/>
              <a:t>” file to SSH your EC2 instance, you may get the error: “Permissions for &lt;.</a:t>
            </a:r>
            <a:r>
              <a:rPr lang="en-US" sz="1600" dirty="0" err="1"/>
              <a:t>pem</a:t>
            </a:r>
            <a:r>
              <a:rPr lang="en-US" sz="1600" dirty="0"/>
              <a:t> filename&gt; are too open”. To fix this error, run “</a:t>
            </a:r>
            <a:r>
              <a:rPr lang="en-US" sz="1600" dirty="0" err="1"/>
              <a:t>chmod</a:t>
            </a:r>
            <a:r>
              <a:rPr lang="en-US" sz="1600" dirty="0"/>
              <a:t>” commands on Ubuntu and if you are on Windows then run the below commands:</a:t>
            </a:r>
          </a:p>
          <a:p>
            <a:pPr lvl="1"/>
            <a:r>
              <a:rPr lang="en-US" sz="1600" i="1" dirty="0"/>
              <a:t>$ </a:t>
            </a:r>
            <a:r>
              <a:rPr lang="en-US" sz="1600" i="1" dirty="0" err="1"/>
              <a:t>icacls</a:t>
            </a:r>
            <a:r>
              <a:rPr lang="en-US" sz="1600" i="1" dirty="0"/>
              <a:t> "C:\path\to\project_key.pem" /reset</a:t>
            </a:r>
          </a:p>
          <a:p>
            <a:pPr lvl="1"/>
            <a:r>
              <a:rPr lang="en-US" sz="1600" i="1" dirty="0"/>
              <a:t>$ </a:t>
            </a:r>
            <a:r>
              <a:rPr lang="en-US" sz="1600" i="1" dirty="0" err="1"/>
              <a:t>icacls</a:t>
            </a:r>
            <a:r>
              <a:rPr lang="en-US" sz="1600" i="1" dirty="0"/>
              <a:t> "C:\path\to\project_key.pem" /</a:t>
            </a:r>
            <a:r>
              <a:rPr lang="en-US" sz="1600" i="1" dirty="0" err="1"/>
              <a:t>grant:r</a:t>
            </a:r>
            <a:r>
              <a:rPr lang="en-US" sz="1600" i="1" dirty="0"/>
              <a:t> "$($</a:t>
            </a:r>
            <a:r>
              <a:rPr lang="en-US" sz="1600" i="1" dirty="0" err="1"/>
              <a:t>env:USERNAME</a:t>
            </a:r>
            <a:r>
              <a:rPr lang="en-US" sz="1600" i="1" dirty="0"/>
              <a:t>):(R)“</a:t>
            </a:r>
          </a:p>
          <a:p>
            <a:pPr lvl="1"/>
            <a:r>
              <a:rPr lang="en-US" sz="1600" i="1" dirty="0"/>
              <a:t>$ </a:t>
            </a:r>
            <a:r>
              <a:rPr lang="en-US" sz="1600" i="1" dirty="0" err="1"/>
              <a:t>icacls</a:t>
            </a:r>
            <a:r>
              <a:rPr lang="en-US" sz="1600" i="1" dirty="0"/>
              <a:t> "C:\path\to\project_key.pem" /</a:t>
            </a:r>
            <a:r>
              <a:rPr lang="en-US" sz="1600" i="1" dirty="0" err="1"/>
              <a:t>inheritance:r</a:t>
            </a:r>
            <a:endParaRPr lang="en-IN" sz="1600" i="1" dirty="0"/>
          </a:p>
        </p:txBody>
      </p:sp>
      <p:sp>
        <p:nvSpPr>
          <p:cNvPr id="5" name="TextBox 4">
            <a:extLst>
              <a:ext uri="{FF2B5EF4-FFF2-40B4-BE49-F238E27FC236}">
                <a16:creationId xmlns:a16="http://schemas.microsoft.com/office/drawing/2014/main" id="{F5B5BFB7-7070-3B40-5785-B8340C9B1061}"/>
              </a:ext>
            </a:extLst>
          </p:cNvPr>
          <p:cNvSpPr txBox="1"/>
          <p:nvPr/>
        </p:nvSpPr>
        <p:spPr>
          <a:xfrm>
            <a:off x="166255" y="2361465"/>
            <a:ext cx="11835244" cy="861774"/>
          </a:xfrm>
          <a:prstGeom prst="rect">
            <a:avLst/>
          </a:prstGeom>
          <a:noFill/>
        </p:spPr>
        <p:txBody>
          <a:bodyPr wrap="square" rtlCol="0">
            <a:spAutoFit/>
          </a:bodyPr>
          <a:lstStyle/>
          <a:p>
            <a:pPr marL="342900" indent="-342900">
              <a:buFont typeface="+mj-lt"/>
              <a:buAutoNum type="arabicPeriod" startAt="12"/>
            </a:pPr>
            <a:r>
              <a:rPr lang="en-US" sz="1600" dirty="0"/>
              <a:t>After the EC2 instance started running and got a public IP address, try accessing the EC2 instance from your laptop’s terminal by running the below command:</a:t>
            </a:r>
          </a:p>
          <a:p>
            <a:pPr lvl="2"/>
            <a:r>
              <a:rPr lang="en-IN" i="1" dirty="0"/>
              <a:t>$ ssh -</a:t>
            </a:r>
            <a:r>
              <a:rPr lang="en-IN" i="1" dirty="0" err="1"/>
              <a:t>i</a:t>
            </a:r>
            <a:r>
              <a:rPr lang="en-IN" i="1" dirty="0"/>
              <a:t> ~/&lt;path-to-</a:t>
            </a:r>
            <a:r>
              <a:rPr lang="en-IN" i="1" dirty="0" err="1"/>
              <a:t>pem</a:t>
            </a:r>
            <a:r>
              <a:rPr lang="en-IN" i="1" dirty="0"/>
              <a:t>-file&gt;/&lt;</a:t>
            </a:r>
            <a:r>
              <a:rPr lang="en-IN" i="1" dirty="0" err="1"/>
              <a:t>pem</a:t>
            </a:r>
            <a:r>
              <a:rPr lang="en-IN" i="1" dirty="0"/>
              <a:t>-filename&gt;.</a:t>
            </a:r>
            <a:r>
              <a:rPr lang="en-IN" i="1" dirty="0" err="1"/>
              <a:t>pem</a:t>
            </a:r>
            <a:r>
              <a:rPr lang="en-IN" i="1" dirty="0"/>
              <a:t> ubuntu@&lt;EC2_PUBLIC_IP&gt;</a:t>
            </a:r>
            <a:endParaRPr lang="en-IN" sz="1600" i="1" dirty="0"/>
          </a:p>
        </p:txBody>
      </p:sp>
    </p:spTree>
    <p:extLst>
      <p:ext uri="{BB962C8B-B14F-4D97-AF65-F5344CB8AC3E}">
        <p14:creationId xmlns:p14="http://schemas.microsoft.com/office/powerpoint/2010/main" val="1481421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l="29000" t="17000" r="29000" b="17000"/>
          </a:stretch>
        </a:blipFill>
        <a:effectLst/>
      </p:bgPr>
    </p:bg>
    <p:spTree>
      <p:nvGrpSpPr>
        <p:cNvPr id="1" name="">
          <a:extLst>
            <a:ext uri="{FF2B5EF4-FFF2-40B4-BE49-F238E27FC236}">
              <a16:creationId xmlns:a16="http://schemas.microsoft.com/office/drawing/2014/main" id="{F9611411-6153-60A8-64AD-B27BBEEC6A8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DC3A29F-B25B-D97F-527E-F62871A3A727}"/>
              </a:ext>
            </a:extLst>
          </p:cNvPr>
          <p:cNvSpPr txBox="1"/>
          <p:nvPr/>
        </p:nvSpPr>
        <p:spPr>
          <a:xfrm>
            <a:off x="166254" y="545583"/>
            <a:ext cx="11835245" cy="5262979"/>
          </a:xfrm>
          <a:prstGeom prst="rect">
            <a:avLst/>
          </a:prstGeom>
          <a:noFill/>
        </p:spPr>
        <p:txBody>
          <a:bodyPr wrap="square" rtlCol="0">
            <a:spAutoFit/>
          </a:bodyPr>
          <a:lstStyle/>
          <a:p>
            <a:pPr marL="342900" indent="-342900">
              <a:buFont typeface="+mj-lt"/>
              <a:buAutoNum type="arabicPeriod"/>
            </a:pPr>
            <a:r>
              <a:rPr lang="en-IN" sz="1600" dirty="0"/>
              <a:t>Once your EC2 instance is set up and running, SSH into your EC2 instance from the terminal of your laptop by running the below command:</a:t>
            </a:r>
          </a:p>
          <a:p>
            <a:pPr lvl="1"/>
            <a:r>
              <a:rPr lang="en-IN" sz="1600" i="1" dirty="0"/>
              <a:t>$ ssh -</a:t>
            </a:r>
            <a:r>
              <a:rPr lang="en-IN" sz="1600" i="1" dirty="0" err="1"/>
              <a:t>i</a:t>
            </a:r>
            <a:r>
              <a:rPr lang="en-IN" sz="1600" i="1" dirty="0"/>
              <a:t> ~/&lt;path-to-</a:t>
            </a:r>
            <a:r>
              <a:rPr lang="en-IN" sz="1600" i="1" dirty="0" err="1"/>
              <a:t>pem</a:t>
            </a:r>
            <a:r>
              <a:rPr lang="en-IN" sz="1600" i="1" dirty="0"/>
              <a:t>-file&gt;/&lt;</a:t>
            </a:r>
            <a:r>
              <a:rPr lang="en-IN" sz="1600" i="1" dirty="0" err="1"/>
              <a:t>pem</a:t>
            </a:r>
            <a:r>
              <a:rPr lang="en-IN" sz="1600" i="1" dirty="0"/>
              <a:t>-filename&gt;.</a:t>
            </a:r>
            <a:r>
              <a:rPr lang="en-IN" sz="1600" i="1" dirty="0" err="1"/>
              <a:t>pem</a:t>
            </a:r>
            <a:r>
              <a:rPr lang="en-IN" sz="1600" i="1" dirty="0"/>
              <a:t> ubuntu@&lt;EC2_PUBLIC_IP&gt;</a:t>
            </a:r>
          </a:p>
          <a:p>
            <a:pPr marL="342900" indent="-342900">
              <a:buFont typeface="+mj-lt"/>
              <a:buAutoNum type="arabicPeriod"/>
            </a:pPr>
            <a:r>
              <a:rPr lang="en-IN" sz="1600" dirty="0"/>
              <a:t>In your EC2 instance, install Java (OpenJDK 17 – a requirement of Jenkins)</a:t>
            </a:r>
          </a:p>
          <a:p>
            <a:pPr lvl="1"/>
            <a:r>
              <a:rPr lang="en-IN" sz="1600" i="1" dirty="0"/>
              <a:t>$ </a:t>
            </a:r>
            <a:r>
              <a:rPr lang="en-IN" sz="1600" i="1" dirty="0" err="1"/>
              <a:t>sudo</a:t>
            </a:r>
            <a:r>
              <a:rPr lang="en-IN" sz="1600" i="1" dirty="0"/>
              <a:t> apt update –y</a:t>
            </a:r>
          </a:p>
          <a:p>
            <a:pPr lvl="1"/>
            <a:r>
              <a:rPr lang="en-IN" sz="1600" i="1" dirty="0"/>
              <a:t>$ </a:t>
            </a:r>
            <a:r>
              <a:rPr lang="en-IN" sz="1600" i="1" dirty="0" err="1"/>
              <a:t>sudo</a:t>
            </a:r>
            <a:r>
              <a:rPr lang="en-IN" sz="1600" i="1" dirty="0"/>
              <a:t> apt install -y </a:t>
            </a:r>
            <a:r>
              <a:rPr lang="en-IN" sz="1600" i="1" dirty="0" err="1"/>
              <a:t>fontconfig</a:t>
            </a:r>
            <a:r>
              <a:rPr lang="en-IN" sz="1600" i="1" dirty="0"/>
              <a:t> openjdk-17-jdk</a:t>
            </a:r>
          </a:p>
          <a:p>
            <a:pPr marL="342900" indent="-342900">
              <a:buFont typeface="+mj-lt"/>
              <a:buAutoNum type="arabicPeriod"/>
            </a:pPr>
            <a:r>
              <a:rPr lang="en-IN" sz="1600" dirty="0"/>
              <a:t>In your EC2 instance, install Jenkins:</a:t>
            </a:r>
          </a:p>
          <a:p>
            <a:pPr lvl="1"/>
            <a:r>
              <a:rPr lang="en-IN" sz="1600" i="1" dirty="0"/>
              <a:t>$ curl -</a:t>
            </a:r>
            <a:r>
              <a:rPr lang="en-IN" sz="1600" i="1" dirty="0" err="1"/>
              <a:t>fsSL</a:t>
            </a:r>
            <a:r>
              <a:rPr lang="en-IN" sz="1600" i="1" dirty="0"/>
              <a:t> https://pkg.jenkins.io/debian-stable/jenkins.io-2023.key | </a:t>
            </a:r>
            <a:r>
              <a:rPr lang="en-IN" sz="1600" i="1" dirty="0" err="1"/>
              <a:t>sudo</a:t>
            </a:r>
            <a:r>
              <a:rPr lang="en-IN" sz="1600" i="1" dirty="0"/>
              <a:t> tee \</a:t>
            </a:r>
          </a:p>
          <a:p>
            <a:pPr lvl="1"/>
            <a:r>
              <a:rPr lang="en-IN" sz="1600" i="1" dirty="0"/>
              <a:t>  /</a:t>
            </a:r>
            <a:r>
              <a:rPr lang="en-IN" sz="1600" i="1" dirty="0" err="1"/>
              <a:t>usr</a:t>
            </a:r>
            <a:r>
              <a:rPr lang="en-IN" sz="1600" i="1" dirty="0"/>
              <a:t>/share/keyrings/</a:t>
            </a:r>
            <a:r>
              <a:rPr lang="en-IN" sz="1600" i="1" dirty="0" err="1"/>
              <a:t>jenkins-keyring.asc</a:t>
            </a:r>
            <a:r>
              <a:rPr lang="en-IN" sz="1600" i="1" dirty="0"/>
              <a:t> &gt; /dev/null</a:t>
            </a:r>
          </a:p>
          <a:p>
            <a:pPr lvl="1"/>
            <a:r>
              <a:rPr lang="en-IN" sz="1600" i="1" dirty="0"/>
              <a:t>$ echo deb [signed-by=/</a:t>
            </a:r>
            <a:r>
              <a:rPr lang="en-IN" sz="1600" i="1" dirty="0" err="1"/>
              <a:t>usr</a:t>
            </a:r>
            <a:r>
              <a:rPr lang="en-IN" sz="1600" i="1" dirty="0"/>
              <a:t>/share/keyrings/</a:t>
            </a:r>
            <a:r>
              <a:rPr lang="en-IN" sz="1600" i="1" dirty="0" err="1"/>
              <a:t>jenkins-keyring.asc</a:t>
            </a:r>
            <a:r>
              <a:rPr lang="en-IN" sz="1600" i="1" dirty="0"/>
              <a:t>] \</a:t>
            </a:r>
          </a:p>
          <a:p>
            <a:pPr lvl="1"/>
            <a:r>
              <a:rPr lang="en-IN" sz="1600" i="1" dirty="0"/>
              <a:t>  https://pkg.jenkins.io/debian-stable binary/ | </a:t>
            </a:r>
            <a:r>
              <a:rPr lang="en-IN" sz="1600" i="1" dirty="0" err="1"/>
              <a:t>sudo</a:t>
            </a:r>
            <a:r>
              <a:rPr lang="en-IN" sz="1600" i="1" dirty="0"/>
              <a:t> tee \</a:t>
            </a:r>
          </a:p>
          <a:p>
            <a:pPr lvl="1"/>
            <a:r>
              <a:rPr lang="en-IN" sz="1600" i="1" dirty="0"/>
              <a:t>  /etc/apt/</a:t>
            </a:r>
            <a:r>
              <a:rPr lang="en-IN" sz="1600" i="1" dirty="0" err="1"/>
              <a:t>sources.list.d</a:t>
            </a:r>
            <a:r>
              <a:rPr lang="en-IN" sz="1600" i="1" dirty="0"/>
              <a:t>/</a:t>
            </a:r>
            <a:r>
              <a:rPr lang="en-IN" sz="1600" i="1" dirty="0" err="1"/>
              <a:t>jenkins.list</a:t>
            </a:r>
            <a:r>
              <a:rPr lang="en-IN" sz="1600" i="1" dirty="0"/>
              <a:t> &gt; /dev/null</a:t>
            </a:r>
          </a:p>
          <a:p>
            <a:pPr lvl="1"/>
            <a:r>
              <a:rPr lang="en-IN" sz="1600" i="1" dirty="0"/>
              <a:t>$ </a:t>
            </a:r>
            <a:r>
              <a:rPr lang="en-IN" sz="1600" i="1" dirty="0" err="1"/>
              <a:t>sudo</a:t>
            </a:r>
            <a:r>
              <a:rPr lang="en-IN" sz="1600" i="1" dirty="0"/>
              <a:t> apt update –y</a:t>
            </a:r>
          </a:p>
          <a:p>
            <a:pPr lvl="1"/>
            <a:r>
              <a:rPr lang="en-IN" sz="1600" i="1" dirty="0"/>
              <a:t>$ </a:t>
            </a:r>
            <a:r>
              <a:rPr lang="es-ES" sz="1600" i="1" dirty="0"/>
              <a:t>sudo </a:t>
            </a:r>
            <a:r>
              <a:rPr lang="es-ES" sz="1600" i="1" dirty="0" err="1"/>
              <a:t>apt</a:t>
            </a:r>
            <a:r>
              <a:rPr lang="es-ES" sz="1600" i="1" dirty="0"/>
              <a:t> </a:t>
            </a:r>
            <a:r>
              <a:rPr lang="es-ES" sz="1600" i="1" dirty="0" err="1"/>
              <a:t>install</a:t>
            </a:r>
            <a:r>
              <a:rPr lang="es-ES" sz="1600" i="1" dirty="0"/>
              <a:t> -y Jenkins</a:t>
            </a:r>
          </a:p>
          <a:p>
            <a:pPr marL="342900" indent="-342900">
              <a:buFont typeface="+mj-lt"/>
              <a:buAutoNum type="arabicPeriod" startAt="4"/>
            </a:pPr>
            <a:r>
              <a:rPr lang="en-IN" sz="1600" dirty="0"/>
              <a:t>Enable and start Jenkins:</a:t>
            </a:r>
          </a:p>
          <a:p>
            <a:pPr lvl="1"/>
            <a:r>
              <a:rPr lang="en-IN" sz="1600" i="1" dirty="0"/>
              <a:t>$ </a:t>
            </a:r>
            <a:r>
              <a:rPr lang="en-IN" sz="1600" i="1" dirty="0" err="1"/>
              <a:t>sudo</a:t>
            </a:r>
            <a:r>
              <a:rPr lang="en-IN" sz="1600" i="1" dirty="0"/>
              <a:t> </a:t>
            </a:r>
            <a:r>
              <a:rPr lang="en-IN" sz="1600" i="1" dirty="0" err="1"/>
              <a:t>systemctl</a:t>
            </a:r>
            <a:r>
              <a:rPr lang="en-IN" sz="1600" i="1" dirty="0"/>
              <a:t> enable </a:t>
            </a:r>
            <a:r>
              <a:rPr lang="en-IN" sz="1600" i="1" dirty="0" err="1"/>
              <a:t>jenkins</a:t>
            </a:r>
            <a:endParaRPr lang="en-IN" sz="1600" i="1" dirty="0"/>
          </a:p>
          <a:p>
            <a:pPr lvl="1"/>
            <a:r>
              <a:rPr lang="en-IN" sz="1600" i="1" dirty="0"/>
              <a:t>$ </a:t>
            </a:r>
            <a:r>
              <a:rPr lang="en-IN" sz="1600" i="1" dirty="0" err="1"/>
              <a:t>sudo</a:t>
            </a:r>
            <a:r>
              <a:rPr lang="en-IN" sz="1600" i="1" dirty="0"/>
              <a:t> </a:t>
            </a:r>
            <a:r>
              <a:rPr lang="en-IN" sz="1600" i="1" dirty="0" err="1"/>
              <a:t>systemctl</a:t>
            </a:r>
            <a:r>
              <a:rPr lang="en-IN" sz="1600" i="1" dirty="0"/>
              <a:t> start Jenkins</a:t>
            </a:r>
          </a:p>
          <a:p>
            <a:pPr lvl="1"/>
            <a:r>
              <a:rPr lang="en-IN" sz="1600" i="1" dirty="0"/>
              <a:t>$ </a:t>
            </a:r>
            <a:r>
              <a:rPr lang="en-IN" sz="1600" i="1" dirty="0" err="1"/>
              <a:t>systemctl</a:t>
            </a:r>
            <a:r>
              <a:rPr lang="en-IN" sz="1600" i="1" dirty="0"/>
              <a:t> status Jenkins</a:t>
            </a:r>
          </a:p>
          <a:p>
            <a:pPr marL="342900" indent="-342900">
              <a:buFont typeface="+mj-lt"/>
              <a:buAutoNum type="arabicPeriod" startAt="5"/>
            </a:pPr>
            <a:r>
              <a:rPr lang="en-US" sz="1600" dirty="0"/>
              <a:t>The initial admin password is stored in:</a:t>
            </a:r>
          </a:p>
          <a:p>
            <a:pPr lvl="1"/>
            <a:r>
              <a:rPr lang="en-US" sz="1600" i="1" dirty="0"/>
              <a:t>$ </a:t>
            </a:r>
            <a:r>
              <a:rPr lang="en-US" sz="1600" i="1" dirty="0" err="1"/>
              <a:t>sudo</a:t>
            </a:r>
            <a:r>
              <a:rPr lang="en-US" sz="1600" i="1" dirty="0"/>
              <a:t> cat /var/lib/</a:t>
            </a:r>
            <a:r>
              <a:rPr lang="en-US" sz="1600" i="1" dirty="0" err="1"/>
              <a:t>jenkins</a:t>
            </a:r>
            <a:r>
              <a:rPr lang="en-US" sz="1600" i="1" dirty="0"/>
              <a:t>/secrets/</a:t>
            </a:r>
            <a:r>
              <a:rPr lang="en-US" sz="1600" i="1" dirty="0" err="1"/>
              <a:t>initialAdminPassword</a:t>
            </a:r>
            <a:endParaRPr lang="en-US" sz="1600" i="1" dirty="0"/>
          </a:p>
          <a:p>
            <a:pPr lvl="1"/>
            <a:r>
              <a:rPr lang="en-US" sz="1600" dirty="0"/>
              <a:t>Copy this password. This will be required when you access the Jenkins for the first time.</a:t>
            </a:r>
            <a:endParaRPr lang="es-ES" sz="1600" dirty="0"/>
          </a:p>
        </p:txBody>
      </p:sp>
      <p:sp>
        <p:nvSpPr>
          <p:cNvPr id="2" name="TextBox 1">
            <a:extLst>
              <a:ext uri="{FF2B5EF4-FFF2-40B4-BE49-F238E27FC236}">
                <a16:creationId xmlns:a16="http://schemas.microsoft.com/office/drawing/2014/main" id="{4CF72501-BA29-F300-703E-FB8E9315E10C}"/>
              </a:ext>
            </a:extLst>
          </p:cNvPr>
          <p:cNvSpPr txBox="1"/>
          <p:nvPr/>
        </p:nvSpPr>
        <p:spPr>
          <a:xfrm>
            <a:off x="166255" y="145473"/>
            <a:ext cx="11835245" cy="400110"/>
          </a:xfrm>
          <a:prstGeom prst="rect">
            <a:avLst/>
          </a:prstGeom>
          <a:noFill/>
        </p:spPr>
        <p:txBody>
          <a:bodyPr wrap="square" rtlCol="0">
            <a:spAutoFit/>
          </a:bodyPr>
          <a:lstStyle/>
          <a:p>
            <a:r>
              <a:rPr lang="en-IN" sz="2000" b="1" dirty="0"/>
              <a:t>[1/4] CI / CD Pipeline: EC2 / Jenkins / GitHub</a:t>
            </a:r>
          </a:p>
        </p:txBody>
      </p:sp>
    </p:spTree>
    <p:extLst>
      <p:ext uri="{BB962C8B-B14F-4D97-AF65-F5344CB8AC3E}">
        <p14:creationId xmlns:p14="http://schemas.microsoft.com/office/powerpoint/2010/main" val="3820527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l="29000" t="17000" r="29000" b="17000"/>
          </a:stretch>
        </a:blipFill>
        <a:effectLst/>
      </p:bgPr>
    </p:bg>
    <p:spTree>
      <p:nvGrpSpPr>
        <p:cNvPr id="1" name="">
          <a:extLst>
            <a:ext uri="{FF2B5EF4-FFF2-40B4-BE49-F238E27FC236}">
              <a16:creationId xmlns:a16="http://schemas.microsoft.com/office/drawing/2014/main" id="{259B14E2-61E3-D232-958E-1EE97EAA329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A2BB313-6747-E8D3-AC4A-FB7A24DE2511}"/>
              </a:ext>
            </a:extLst>
          </p:cNvPr>
          <p:cNvSpPr txBox="1"/>
          <p:nvPr/>
        </p:nvSpPr>
        <p:spPr>
          <a:xfrm>
            <a:off x="166254" y="545583"/>
            <a:ext cx="11835245" cy="5509200"/>
          </a:xfrm>
          <a:prstGeom prst="rect">
            <a:avLst/>
          </a:prstGeom>
          <a:noFill/>
        </p:spPr>
        <p:txBody>
          <a:bodyPr wrap="square" rtlCol="0">
            <a:spAutoFit/>
          </a:bodyPr>
          <a:lstStyle/>
          <a:p>
            <a:pPr marL="342900" indent="-342900">
              <a:buFont typeface="+mj-lt"/>
              <a:buAutoNum type="arabicPeriod" startAt="6"/>
            </a:pPr>
            <a:r>
              <a:rPr lang="en-US" sz="1600" dirty="0"/>
              <a:t>After installation, Jenkins runs on port 8080 by default. You can access it in your laptop’s browser at:</a:t>
            </a:r>
          </a:p>
          <a:p>
            <a:pPr lvl="1"/>
            <a:r>
              <a:rPr lang="en-IN" sz="1600" i="1" dirty="0"/>
              <a:t>http://&lt;your-ec2-instance-public-ip&gt;:8080</a:t>
            </a:r>
          </a:p>
          <a:p>
            <a:pPr lvl="1"/>
            <a:r>
              <a:rPr lang="en-IN" sz="1600" dirty="0"/>
              <a:t>When you hit the above URL in your laptop’s browser, the first page will ask you admin password that you got in the last step. Since this connection is not secure, running on HTTP (not on HTTPS), thus create dummy user ID, password, and submit a dummy Email ID in the Jenkins registration form. Since the EC2 instance’s port 8080 (on which Jenkins is running) is open to the whole internet (as GitHub will notify Jenkins whenever there is a push), thus anyone on the internet can access your port 8080 </a:t>
            </a:r>
            <a:r>
              <a:rPr lang="en-IN" sz="1600" b="1" u="sng" dirty="0">
                <a:solidFill>
                  <a:srgbClr val="FF0000"/>
                </a:solidFill>
              </a:rPr>
              <a:t>(⮾SECURITY ALERT)</a:t>
            </a:r>
            <a:r>
              <a:rPr lang="en-IN" sz="1600" dirty="0"/>
              <a:t>.</a:t>
            </a:r>
          </a:p>
          <a:p>
            <a:pPr marL="342900" indent="-342900">
              <a:buFont typeface="+mj-lt"/>
              <a:buAutoNum type="arabicPeriod" startAt="6"/>
            </a:pPr>
            <a:r>
              <a:rPr lang="en-IN" sz="1600" dirty="0"/>
              <a:t>Install Docker on your EC2 instance. Run the below command in the SSH terminal of your laptop:</a:t>
            </a:r>
          </a:p>
          <a:p>
            <a:pPr lvl="1"/>
            <a:r>
              <a:rPr lang="en-IN" sz="1600" i="1" dirty="0"/>
              <a:t>$ </a:t>
            </a:r>
            <a:r>
              <a:rPr lang="en-IN" sz="1600" i="1" dirty="0" err="1"/>
              <a:t>sudo</a:t>
            </a:r>
            <a:r>
              <a:rPr lang="en-IN" sz="1600" i="1" dirty="0"/>
              <a:t> apt update</a:t>
            </a:r>
          </a:p>
          <a:p>
            <a:pPr lvl="1"/>
            <a:r>
              <a:rPr lang="en-IN" sz="1600" i="1" dirty="0"/>
              <a:t>$ </a:t>
            </a:r>
            <a:r>
              <a:rPr lang="en-IN" sz="1600" i="1" dirty="0" err="1"/>
              <a:t>sudo</a:t>
            </a:r>
            <a:r>
              <a:rPr lang="en-IN" sz="1600" i="1" dirty="0"/>
              <a:t> apt install -y ca-certificates curl </a:t>
            </a:r>
            <a:r>
              <a:rPr lang="en-IN" sz="1600" i="1" dirty="0" err="1"/>
              <a:t>gnupg</a:t>
            </a:r>
            <a:endParaRPr lang="en-IN" sz="1600" i="1" dirty="0"/>
          </a:p>
          <a:p>
            <a:pPr lvl="1"/>
            <a:r>
              <a:rPr lang="en-IN" sz="1600" i="1" dirty="0"/>
              <a:t>$ </a:t>
            </a:r>
            <a:r>
              <a:rPr lang="en-IN" sz="1600" i="1" dirty="0" err="1"/>
              <a:t>sudo</a:t>
            </a:r>
            <a:r>
              <a:rPr lang="en-IN" sz="1600" i="1" dirty="0"/>
              <a:t> install -m 0755 -d /etc/apt/keyrings</a:t>
            </a:r>
          </a:p>
          <a:p>
            <a:pPr lvl="1"/>
            <a:r>
              <a:rPr lang="en-IN" sz="1600" i="1" dirty="0"/>
              <a:t>$ curl -</a:t>
            </a:r>
            <a:r>
              <a:rPr lang="en-IN" sz="1600" i="1" dirty="0" err="1"/>
              <a:t>fsSL</a:t>
            </a:r>
            <a:r>
              <a:rPr lang="en-IN" sz="1600" i="1" dirty="0"/>
              <a:t> </a:t>
            </a:r>
            <a:r>
              <a:rPr lang="en-IN" sz="1600" i="1" dirty="0">
                <a:hlinkClick r:id="rId3"/>
              </a:rPr>
              <a:t>https://download.docker.com/linux/ubuntu/gpg</a:t>
            </a:r>
            <a:r>
              <a:rPr lang="en-IN" sz="1600" i="1" dirty="0"/>
              <a:t> | </a:t>
            </a:r>
            <a:r>
              <a:rPr lang="en-IN" sz="1600" i="1" dirty="0" err="1"/>
              <a:t>sudo</a:t>
            </a:r>
            <a:r>
              <a:rPr lang="en-IN" sz="1600" i="1" dirty="0"/>
              <a:t> </a:t>
            </a:r>
            <a:r>
              <a:rPr lang="en-IN" sz="1600" i="1" dirty="0" err="1"/>
              <a:t>gpg</a:t>
            </a:r>
            <a:r>
              <a:rPr lang="en-IN" sz="1600" i="1" dirty="0"/>
              <a:t> --</a:t>
            </a:r>
            <a:r>
              <a:rPr lang="en-IN" sz="1600" i="1" dirty="0" err="1"/>
              <a:t>dearmor</a:t>
            </a:r>
            <a:r>
              <a:rPr lang="en-IN" sz="1600" i="1" dirty="0"/>
              <a:t> -o /etc/apt/keyrings/</a:t>
            </a:r>
            <a:r>
              <a:rPr lang="en-IN" sz="1600" i="1" dirty="0" err="1"/>
              <a:t>docker.gpg</a:t>
            </a:r>
            <a:endParaRPr lang="en-IN" sz="1600" i="1" dirty="0"/>
          </a:p>
          <a:p>
            <a:pPr lvl="1"/>
            <a:r>
              <a:rPr lang="en-IN" sz="1600" i="1" dirty="0"/>
              <a:t>$ echo "deb [arch=$(</a:t>
            </a:r>
            <a:r>
              <a:rPr lang="en-IN" sz="1600" i="1" dirty="0" err="1"/>
              <a:t>dpkg</a:t>
            </a:r>
            <a:r>
              <a:rPr lang="en-IN" sz="1600" i="1" dirty="0"/>
              <a:t> --print-architecture) signed-by=/etc/apt/keyrings/</a:t>
            </a:r>
            <a:r>
              <a:rPr lang="en-IN" sz="1600" i="1" dirty="0" err="1"/>
              <a:t>docker.gpg</a:t>
            </a:r>
            <a:r>
              <a:rPr lang="en-IN" sz="1600" i="1" dirty="0"/>
              <a:t>] \</a:t>
            </a:r>
          </a:p>
          <a:p>
            <a:pPr lvl="1"/>
            <a:r>
              <a:rPr lang="en-IN" sz="1600" i="1" dirty="0"/>
              <a:t>  </a:t>
            </a:r>
            <a:r>
              <a:rPr lang="en-IN" sz="1600" i="1" dirty="0">
                <a:hlinkClick r:id="rId4"/>
              </a:rPr>
              <a:t>https://download.docker.com/linux/ubuntu</a:t>
            </a:r>
            <a:r>
              <a:rPr lang="en-IN" sz="1600" i="1" dirty="0"/>
              <a:t> $(</a:t>
            </a:r>
            <a:r>
              <a:rPr lang="en-IN" sz="1600" i="1" dirty="0" err="1"/>
              <a:t>lsb_release</a:t>
            </a:r>
            <a:r>
              <a:rPr lang="en-IN" sz="1600" i="1" dirty="0"/>
              <a:t> -cs) stable" | \</a:t>
            </a:r>
          </a:p>
          <a:p>
            <a:pPr lvl="1"/>
            <a:r>
              <a:rPr lang="en-IN" sz="1600" i="1" dirty="0"/>
              <a:t>  </a:t>
            </a:r>
            <a:r>
              <a:rPr lang="en-IN" sz="1600" i="1" dirty="0" err="1"/>
              <a:t>sudo</a:t>
            </a:r>
            <a:r>
              <a:rPr lang="en-IN" sz="1600" i="1" dirty="0"/>
              <a:t> tee /etc/apt/</a:t>
            </a:r>
            <a:r>
              <a:rPr lang="en-IN" sz="1600" i="1" dirty="0" err="1"/>
              <a:t>sources.list.d</a:t>
            </a:r>
            <a:r>
              <a:rPr lang="en-IN" sz="1600" i="1" dirty="0"/>
              <a:t>/</a:t>
            </a:r>
            <a:r>
              <a:rPr lang="en-IN" sz="1600" i="1" dirty="0" err="1"/>
              <a:t>docker.list</a:t>
            </a:r>
            <a:r>
              <a:rPr lang="en-IN" sz="1600" i="1" dirty="0"/>
              <a:t> &gt; /dev/null</a:t>
            </a:r>
          </a:p>
          <a:p>
            <a:pPr lvl="1"/>
            <a:r>
              <a:rPr lang="en-IN" sz="1600" i="1" dirty="0"/>
              <a:t>$ </a:t>
            </a:r>
            <a:r>
              <a:rPr lang="en-IN" sz="1600" i="1" dirty="0" err="1"/>
              <a:t>sudo</a:t>
            </a:r>
            <a:r>
              <a:rPr lang="en-IN" sz="1600" i="1" dirty="0"/>
              <a:t> apt update</a:t>
            </a:r>
          </a:p>
          <a:p>
            <a:pPr lvl="1"/>
            <a:r>
              <a:rPr lang="en-IN" sz="1600" i="1" dirty="0"/>
              <a:t>$ </a:t>
            </a:r>
            <a:r>
              <a:rPr lang="en-IN" sz="1600" i="1" dirty="0" err="1"/>
              <a:t>sudo</a:t>
            </a:r>
            <a:r>
              <a:rPr lang="en-IN" sz="1600" i="1" dirty="0"/>
              <a:t> apt install -y docker-</a:t>
            </a:r>
            <a:r>
              <a:rPr lang="en-IN" sz="1600" i="1" dirty="0" err="1"/>
              <a:t>ce</a:t>
            </a:r>
            <a:r>
              <a:rPr lang="en-IN" sz="1600" i="1" dirty="0"/>
              <a:t> docker-</a:t>
            </a:r>
            <a:r>
              <a:rPr lang="en-IN" sz="1600" i="1" dirty="0" err="1"/>
              <a:t>ce</a:t>
            </a:r>
            <a:r>
              <a:rPr lang="en-IN" sz="1600" i="1" dirty="0"/>
              <a:t>-cli containerd.io</a:t>
            </a:r>
          </a:p>
          <a:p>
            <a:pPr marL="342900" indent="-342900">
              <a:buFont typeface="+mj-lt"/>
              <a:buAutoNum type="arabicPeriod" startAt="8"/>
            </a:pPr>
            <a:r>
              <a:rPr lang="en-IN" sz="1600" dirty="0"/>
              <a:t>Allow </a:t>
            </a:r>
            <a:r>
              <a:rPr lang="en-IN" sz="1600" dirty="0" err="1"/>
              <a:t>jenkins</a:t>
            </a:r>
            <a:r>
              <a:rPr lang="en-IN" sz="1600" dirty="0"/>
              <a:t> user to run docker, then restart Jenkins:</a:t>
            </a:r>
          </a:p>
          <a:p>
            <a:pPr lvl="1"/>
            <a:r>
              <a:rPr lang="en-IN" sz="1600" i="1" dirty="0"/>
              <a:t>$ </a:t>
            </a:r>
            <a:r>
              <a:rPr lang="en-IN" sz="1600" i="1" dirty="0" err="1"/>
              <a:t>sudo</a:t>
            </a:r>
            <a:r>
              <a:rPr lang="en-IN" sz="1600" i="1" dirty="0"/>
              <a:t> </a:t>
            </a:r>
            <a:r>
              <a:rPr lang="en-IN" sz="1600" i="1" dirty="0" err="1"/>
              <a:t>usermod</a:t>
            </a:r>
            <a:r>
              <a:rPr lang="en-IN" sz="1600" i="1" dirty="0"/>
              <a:t> -</a:t>
            </a:r>
            <a:r>
              <a:rPr lang="en-IN" sz="1600" i="1" dirty="0" err="1"/>
              <a:t>aG</a:t>
            </a:r>
            <a:r>
              <a:rPr lang="en-IN" sz="1600" i="1" dirty="0"/>
              <a:t> docker </a:t>
            </a:r>
            <a:r>
              <a:rPr lang="en-IN" sz="1600" i="1" dirty="0" err="1"/>
              <a:t>jenkins</a:t>
            </a:r>
            <a:endParaRPr lang="en-IN" sz="1600" i="1" dirty="0"/>
          </a:p>
          <a:p>
            <a:pPr lvl="1"/>
            <a:r>
              <a:rPr lang="en-IN" sz="1600" i="1" dirty="0"/>
              <a:t>$ </a:t>
            </a:r>
            <a:r>
              <a:rPr lang="en-IN" sz="1600" i="1" dirty="0" err="1"/>
              <a:t>sudo</a:t>
            </a:r>
            <a:r>
              <a:rPr lang="en-IN" sz="1600" i="1" dirty="0"/>
              <a:t> </a:t>
            </a:r>
            <a:r>
              <a:rPr lang="en-IN" sz="1600" i="1" dirty="0" err="1"/>
              <a:t>systemctl</a:t>
            </a:r>
            <a:r>
              <a:rPr lang="en-IN" sz="1600" i="1" dirty="0"/>
              <a:t> restart </a:t>
            </a:r>
            <a:r>
              <a:rPr lang="en-IN" sz="1600" i="1" dirty="0" err="1"/>
              <a:t>jenkins</a:t>
            </a:r>
            <a:endParaRPr lang="en-IN" sz="1600" i="1" dirty="0"/>
          </a:p>
          <a:p>
            <a:pPr marL="342900" indent="-342900">
              <a:buFont typeface="+mj-lt"/>
              <a:buAutoNum type="arabicPeriod" startAt="8"/>
            </a:pPr>
            <a:r>
              <a:rPr lang="en-IN" sz="1600" dirty="0"/>
              <a:t>In the Jenkins dashboard running in the browser of your laptop, ensure that the following Jenkins plugins are installed:</a:t>
            </a:r>
          </a:p>
          <a:p>
            <a:pPr lvl="1"/>
            <a:r>
              <a:rPr lang="en-IN" sz="1600" dirty="0"/>
              <a:t>(1) Pipeline    (2) GitHub Integration    (3) Docker pipeline    (4) Git    (5) GitHub</a:t>
            </a:r>
          </a:p>
        </p:txBody>
      </p:sp>
      <p:sp>
        <p:nvSpPr>
          <p:cNvPr id="2" name="TextBox 1">
            <a:extLst>
              <a:ext uri="{FF2B5EF4-FFF2-40B4-BE49-F238E27FC236}">
                <a16:creationId xmlns:a16="http://schemas.microsoft.com/office/drawing/2014/main" id="{07B50B24-98E6-5EBC-10BB-C6B46D40ABB6}"/>
              </a:ext>
            </a:extLst>
          </p:cNvPr>
          <p:cNvSpPr txBox="1"/>
          <p:nvPr/>
        </p:nvSpPr>
        <p:spPr>
          <a:xfrm>
            <a:off x="166255" y="145473"/>
            <a:ext cx="11835245" cy="400110"/>
          </a:xfrm>
          <a:prstGeom prst="rect">
            <a:avLst/>
          </a:prstGeom>
          <a:noFill/>
        </p:spPr>
        <p:txBody>
          <a:bodyPr wrap="square" rtlCol="0">
            <a:spAutoFit/>
          </a:bodyPr>
          <a:lstStyle/>
          <a:p>
            <a:r>
              <a:rPr lang="en-IN" sz="2000" b="1" dirty="0"/>
              <a:t>[2/4] CI / CD Pipeline: EC2 / Jenkins / GitHub</a:t>
            </a:r>
          </a:p>
        </p:txBody>
      </p:sp>
    </p:spTree>
    <p:extLst>
      <p:ext uri="{BB962C8B-B14F-4D97-AF65-F5344CB8AC3E}">
        <p14:creationId xmlns:p14="http://schemas.microsoft.com/office/powerpoint/2010/main" val="1551434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l="29000" t="17000" r="29000" b="17000"/>
          </a:stretch>
        </a:blipFill>
        <a:effectLst/>
      </p:bgPr>
    </p:bg>
    <p:spTree>
      <p:nvGrpSpPr>
        <p:cNvPr id="1" name="">
          <a:extLst>
            <a:ext uri="{FF2B5EF4-FFF2-40B4-BE49-F238E27FC236}">
              <a16:creationId xmlns:a16="http://schemas.microsoft.com/office/drawing/2014/main" id="{8F109D91-CD8B-9E60-B2FA-0C1FC2DD76E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A4ACBDF-67CF-D506-2FAA-268E88E91EF6}"/>
              </a:ext>
            </a:extLst>
          </p:cNvPr>
          <p:cNvSpPr txBox="1"/>
          <p:nvPr/>
        </p:nvSpPr>
        <p:spPr>
          <a:xfrm>
            <a:off x="166254" y="545583"/>
            <a:ext cx="5237019" cy="6247864"/>
          </a:xfrm>
          <a:prstGeom prst="rect">
            <a:avLst/>
          </a:prstGeom>
          <a:noFill/>
        </p:spPr>
        <p:txBody>
          <a:bodyPr wrap="square" rtlCol="0">
            <a:spAutoFit/>
          </a:bodyPr>
          <a:lstStyle/>
          <a:p>
            <a:pPr marL="342900" indent="-342900">
              <a:buFont typeface="+mj-lt"/>
              <a:buAutoNum type="arabicPeriod" startAt="10"/>
            </a:pPr>
            <a:r>
              <a:rPr lang="en-US" sz="1600" dirty="0"/>
              <a:t>Create a pipeline job:</a:t>
            </a:r>
          </a:p>
          <a:p>
            <a:pPr marL="800100" lvl="1" indent="-342900">
              <a:buFont typeface="Courier New" panose="02070309020205020404" pitchFamily="49" charset="0"/>
              <a:buChar char="o"/>
            </a:pPr>
            <a:r>
              <a:rPr lang="en-US" sz="1600" b="1" dirty="0"/>
              <a:t>New Item → Pipeline</a:t>
            </a:r>
          </a:p>
          <a:p>
            <a:pPr marL="800100" lvl="1" indent="-342900">
              <a:buFont typeface="Courier New" panose="02070309020205020404" pitchFamily="49" charset="0"/>
              <a:buChar char="o"/>
            </a:pPr>
            <a:r>
              <a:rPr lang="en-US" sz="1600" b="1" dirty="0"/>
              <a:t>General</a:t>
            </a:r>
            <a:r>
              <a:rPr lang="en-US" sz="1600" dirty="0"/>
              <a:t>: tick </a:t>
            </a:r>
            <a:r>
              <a:rPr lang="en-US" sz="1600" b="1" dirty="0"/>
              <a:t>GitHub Project</a:t>
            </a:r>
            <a:r>
              <a:rPr lang="en-US" sz="1600" dirty="0"/>
              <a:t> and paste repo URL</a:t>
            </a:r>
          </a:p>
          <a:p>
            <a:pPr marL="800100" lvl="1" indent="-342900">
              <a:buFont typeface="Courier New" panose="02070309020205020404" pitchFamily="49" charset="0"/>
              <a:buChar char="o"/>
            </a:pPr>
            <a:r>
              <a:rPr lang="en-US" sz="1600" b="1" dirty="0"/>
              <a:t>Build Trigger</a:t>
            </a:r>
            <a:r>
              <a:rPr lang="en-US" sz="1600" dirty="0"/>
              <a:t>: check </a:t>
            </a:r>
            <a:r>
              <a:rPr lang="en-US" sz="1600" b="1" dirty="0"/>
              <a:t>GitHub hook trigger for </a:t>
            </a:r>
            <a:r>
              <a:rPr lang="en-US" sz="1600" b="1" dirty="0" err="1"/>
              <a:t>GITScm</a:t>
            </a:r>
            <a:r>
              <a:rPr lang="en-US" sz="1600" b="1" dirty="0"/>
              <a:t> Polling</a:t>
            </a:r>
          </a:p>
          <a:p>
            <a:pPr marL="800100" lvl="1" indent="-342900">
              <a:buFont typeface="Courier New" panose="02070309020205020404" pitchFamily="49" charset="0"/>
              <a:buChar char="o"/>
            </a:pPr>
            <a:r>
              <a:rPr lang="en-US" sz="1600" b="1" dirty="0"/>
              <a:t>Pipeline</a:t>
            </a:r>
            <a:r>
              <a:rPr lang="en-US" sz="1600" dirty="0"/>
              <a:t>: Choose </a:t>
            </a:r>
            <a:r>
              <a:rPr lang="en-US" sz="1600" b="1" dirty="0"/>
              <a:t>Pipeline script from SCM</a:t>
            </a:r>
          </a:p>
          <a:p>
            <a:pPr marL="1257300" lvl="2" indent="-342900">
              <a:buFont typeface="Wingdings" panose="05000000000000000000" pitchFamily="2" charset="2"/>
              <a:buChar char="§"/>
            </a:pPr>
            <a:r>
              <a:rPr lang="en-US" sz="1600" dirty="0"/>
              <a:t>SCM: </a:t>
            </a:r>
            <a:r>
              <a:rPr lang="en-US" sz="1600" b="1" dirty="0"/>
              <a:t>Git</a:t>
            </a:r>
          </a:p>
          <a:p>
            <a:pPr marL="1257300" lvl="2" indent="-342900">
              <a:buFont typeface="Wingdings" panose="05000000000000000000" pitchFamily="2" charset="2"/>
              <a:buChar char="§"/>
            </a:pPr>
            <a:r>
              <a:rPr lang="en-US" sz="1600" dirty="0"/>
              <a:t>Repo URL: &lt;your GitHub repo URL&gt;</a:t>
            </a:r>
          </a:p>
          <a:p>
            <a:pPr marL="1257300" lvl="2" indent="-342900">
              <a:buFont typeface="Wingdings" panose="05000000000000000000" pitchFamily="2" charset="2"/>
              <a:buChar char="§"/>
            </a:pPr>
            <a:r>
              <a:rPr lang="en-US" sz="1600" dirty="0"/>
              <a:t>Credentials: Select if private</a:t>
            </a:r>
          </a:p>
          <a:p>
            <a:pPr marL="1257300" lvl="2" indent="-342900">
              <a:buFont typeface="Wingdings" panose="05000000000000000000" pitchFamily="2" charset="2"/>
              <a:buChar char="§"/>
            </a:pPr>
            <a:r>
              <a:rPr lang="en-US" sz="1600" dirty="0"/>
              <a:t>Branches: </a:t>
            </a:r>
            <a:r>
              <a:rPr lang="en-US" sz="1600" b="1" dirty="0"/>
              <a:t>*/main</a:t>
            </a:r>
            <a:endParaRPr lang="en-US" sz="1600" dirty="0"/>
          </a:p>
          <a:p>
            <a:pPr marL="1257300" lvl="2" indent="-342900">
              <a:buFont typeface="Wingdings" panose="05000000000000000000" pitchFamily="2" charset="2"/>
              <a:buChar char="§"/>
            </a:pPr>
            <a:r>
              <a:rPr lang="en-US" sz="1600" dirty="0"/>
              <a:t>Script path:</a:t>
            </a:r>
            <a:r>
              <a:rPr lang="en-US" sz="1600" b="1" dirty="0"/>
              <a:t> </a:t>
            </a:r>
            <a:r>
              <a:rPr lang="en-US" sz="1600" b="1" dirty="0" err="1"/>
              <a:t>Jenkinsfile</a:t>
            </a:r>
            <a:endParaRPr lang="en-US" sz="1600" b="1" dirty="0"/>
          </a:p>
          <a:p>
            <a:pPr marL="342900" indent="-342900">
              <a:buFont typeface="+mj-lt"/>
              <a:buAutoNum type="arabicPeriod" startAt="11"/>
            </a:pPr>
            <a:r>
              <a:rPr lang="en-US" sz="1600" dirty="0"/>
              <a:t>GitHub: add the Webhook</a:t>
            </a:r>
          </a:p>
          <a:p>
            <a:pPr lvl="1"/>
            <a:r>
              <a:rPr lang="en-US" sz="1600" dirty="0"/>
              <a:t>Repo → Settings → Webhooks → Add webhook</a:t>
            </a:r>
          </a:p>
          <a:p>
            <a:pPr marL="742950" lvl="1" indent="-285750">
              <a:buFont typeface="Courier New" panose="02070309020205020404" pitchFamily="49" charset="0"/>
              <a:buChar char="o"/>
            </a:pPr>
            <a:r>
              <a:rPr lang="en-US" sz="1600" dirty="0"/>
              <a:t>Payload URL: http://&lt;EC2_PUBLIC_IP&gt;:8080/github-webhook/</a:t>
            </a:r>
          </a:p>
          <a:p>
            <a:pPr marL="742950" lvl="1" indent="-285750">
              <a:buFont typeface="Courier New" panose="02070309020205020404" pitchFamily="49" charset="0"/>
              <a:buChar char="o"/>
            </a:pPr>
            <a:r>
              <a:rPr lang="en-US" sz="1600" dirty="0"/>
              <a:t>Content type: application/</a:t>
            </a:r>
            <a:r>
              <a:rPr lang="en-US" sz="1600" dirty="0" err="1"/>
              <a:t>json</a:t>
            </a:r>
            <a:endParaRPr lang="en-US" sz="1600" dirty="0"/>
          </a:p>
          <a:p>
            <a:pPr marL="742950" lvl="1" indent="-285750">
              <a:buFont typeface="Courier New" panose="02070309020205020404" pitchFamily="49" charset="0"/>
              <a:buChar char="o"/>
            </a:pPr>
            <a:r>
              <a:rPr lang="en-US" sz="1600" dirty="0"/>
              <a:t>Which events?: “Just the push event” (or “Let me select” → Push)</a:t>
            </a:r>
          </a:p>
          <a:p>
            <a:pPr marL="742950" lvl="1" indent="-285750">
              <a:buFont typeface="Courier New" panose="02070309020205020404" pitchFamily="49" charset="0"/>
              <a:buChar char="o"/>
            </a:pPr>
            <a:r>
              <a:rPr lang="en-US" sz="1600" dirty="0"/>
              <a:t>Active: checked → Add webhook</a:t>
            </a:r>
          </a:p>
          <a:p>
            <a:pPr marL="742950" lvl="1" indent="-285750">
              <a:buFont typeface="Courier New" panose="02070309020205020404" pitchFamily="49" charset="0"/>
              <a:buChar char="o"/>
            </a:pPr>
            <a:r>
              <a:rPr lang="en-US" sz="1600" dirty="0"/>
              <a:t>Back in Jenkins job (or system config), set the same secret:</a:t>
            </a:r>
          </a:p>
          <a:p>
            <a:pPr marL="742950" lvl="1" indent="-285750">
              <a:buFont typeface="Courier New" panose="02070309020205020404" pitchFamily="49" charset="0"/>
              <a:buChar char="o"/>
            </a:pPr>
            <a:r>
              <a:rPr lang="en-US" sz="1600" dirty="0"/>
              <a:t>Manage Jenkins → Configure System → GitHub → Add endpoint → set Secret; or in the job under Build Triggers if shown.</a:t>
            </a:r>
          </a:p>
        </p:txBody>
      </p:sp>
      <p:sp>
        <p:nvSpPr>
          <p:cNvPr id="2" name="TextBox 1">
            <a:extLst>
              <a:ext uri="{FF2B5EF4-FFF2-40B4-BE49-F238E27FC236}">
                <a16:creationId xmlns:a16="http://schemas.microsoft.com/office/drawing/2014/main" id="{50E40D87-73C0-8493-D06E-747B3F2ED165}"/>
              </a:ext>
            </a:extLst>
          </p:cNvPr>
          <p:cNvSpPr txBox="1"/>
          <p:nvPr/>
        </p:nvSpPr>
        <p:spPr>
          <a:xfrm>
            <a:off x="166255" y="145473"/>
            <a:ext cx="11835245" cy="400110"/>
          </a:xfrm>
          <a:prstGeom prst="rect">
            <a:avLst/>
          </a:prstGeom>
          <a:noFill/>
        </p:spPr>
        <p:txBody>
          <a:bodyPr wrap="square" rtlCol="0">
            <a:spAutoFit/>
          </a:bodyPr>
          <a:lstStyle/>
          <a:p>
            <a:r>
              <a:rPr lang="en-IN" sz="2000" b="1" dirty="0"/>
              <a:t>[3/4] CI / CD Pipeline: EC2 / Jenkins / GitHub</a:t>
            </a:r>
          </a:p>
        </p:txBody>
      </p:sp>
      <p:sp>
        <p:nvSpPr>
          <p:cNvPr id="3" name="Rectangle 2">
            <a:extLst>
              <a:ext uri="{FF2B5EF4-FFF2-40B4-BE49-F238E27FC236}">
                <a16:creationId xmlns:a16="http://schemas.microsoft.com/office/drawing/2014/main" id="{D85ED211-2F3B-BA9E-4C13-92BEE50A48ED}"/>
              </a:ext>
            </a:extLst>
          </p:cNvPr>
          <p:cNvSpPr/>
          <p:nvPr/>
        </p:nvSpPr>
        <p:spPr>
          <a:xfrm>
            <a:off x="5403274" y="545583"/>
            <a:ext cx="6598226" cy="6166944"/>
          </a:xfrm>
          <a:prstGeom prst="rect">
            <a:avLst/>
          </a:prstGeom>
          <a:solidFill>
            <a:schemeClr val="lt1">
              <a:alpha val="0"/>
            </a:schemeClr>
          </a:solidFill>
          <a:ln/>
        </p:spPr>
        <p:style>
          <a:lnRef idx="2">
            <a:schemeClr val="dk1"/>
          </a:lnRef>
          <a:fillRef idx="1">
            <a:schemeClr val="lt1"/>
          </a:fillRef>
          <a:effectRef idx="0">
            <a:schemeClr val="dk1"/>
          </a:effectRef>
          <a:fontRef idx="minor">
            <a:schemeClr val="dk1"/>
          </a:fontRef>
        </p:style>
        <p:txBody>
          <a:bodyPr rtlCol="0" anchor="t"/>
          <a:lstStyle/>
          <a:p>
            <a:pPr algn="ctr"/>
            <a:r>
              <a:rPr lang="en-IN" sz="1600" b="1" dirty="0" err="1">
                <a:solidFill>
                  <a:schemeClr val="tx1"/>
                </a:solidFill>
              </a:rPr>
              <a:t>Jenkinsfile</a:t>
            </a:r>
            <a:endParaRPr lang="en-IN" sz="1600" b="1" dirty="0">
              <a:solidFill>
                <a:schemeClr val="tx1"/>
              </a:solidFill>
            </a:endParaRPr>
          </a:p>
          <a:p>
            <a:r>
              <a:rPr lang="en-IN" sz="800" dirty="0">
                <a:solidFill>
                  <a:schemeClr val="tx1"/>
                </a:solidFill>
              </a:rPr>
              <a:t>pipeline {</a:t>
            </a:r>
          </a:p>
          <a:p>
            <a:r>
              <a:rPr lang="en-IN" sz="800" dirty="0">
                <a:solidFill>
                  <a:schemeClr val="tx1"/>
                </a:solidFill>
              </a:rPr>
              <a:t>  agent any</a:t>
            </a:r>
          </a:p>
          <a:p>
            <a:r>
              <a:rPr lang="en-IN" sz="800" dirty="0">
                <a:solidFill>
                  <a:schemeClr val="tx1"/>
                </a:solidFill>
              </a:rPr>
              <a:t>  environment {</a:t>
            </a:r>
          </a:p>
          <a:p>
            <a:r>
              <a:rPr lang="en-IN" sz="800" dirty="0">
                <a:solidFill>
                  <a:schemeClr val="tx1"/>
                </a:solidFill>
              </a:rPr>
              <a:t>    APP_NAME = '</a:t>
            </a:r>
            <a:r>
              <a:rPr lang="en-IN" sz="800" dirty="0" err="1">
                <a:solidFill>
                  <a:schemeClr val="tx1"/>
                </a:solidFill>
              </a:rPr>
              <a:t>myapp</a:t>
            </a:r>
            <a:r>
              <a:rPr lang="en-IN" sz="800" dirty="0">
                <a:solidFill>
                  <a:schemeClr val="tx1"/>
                </a:solidFill>
              </a:rPr>
              <a:t>'</a:t>
            </a:r>
          </a:p>
          <a:p>
            <a:r>
              <a:rPr lang="en-IN" sz="800" dirty="0">
                <a:solidFill>
                  <a:schemeClr val="tx1"/>
                </a:solidFill>
              </a:rPr>
              <a:t>    APP_PORT = '3000'            // change to your app port</a:t>
            </a:r>
          </a:p>
          <a:p>
            <a:r>
              <a:rPr lang="en-IN" sz="800" dirty="0">
                <a:solidFill>
                  <a:schemeClr val="tx1"/>
                </a:solidFill>
              </a:rPr>
              <a:t>    IMAGE = "</a:t>
            </a:r>
            <a:r>
              <a:rPr lang="en-IN" sz="800" dirty="0" err="1">
                <a:solidFill>
                  <a:schemeClr val="tx1"/>
                </a:solidFill>
              </a:rPr>
              <a:t>myapp</a:t>
            </a:r>
            <a:r>
              <a:rPr lang="en-IN" sz="800" dirty="0">
                <a:solidFill>
                  <a:schemeClr val="tx1"/>
                </a:solidFill>
              </a:rPr>
              <a:t>:${</a:t>
            </a:r>
            <a:r>
              <a:rPr lang="en-IN" sz="800" dirty="0" err="1">
                <a:solidFill>
                  <a:schemeClr val="tx1"/>
                </a:solidFill>
              </a:rPr>
              <a:t>env.GIT_COMMIT.take</a:t>
            </a:r>
            <a:r>
              <a:rPr lang="en-IN" sz="800" dirty="0">
                <a:solidFill>
                  <a:schemeClr val="tx1"/>
                </a:solidFill>
              </a:rPr>
              <a:t>(7)}"</a:t>
            </a:r>
          </a:p>
          <a:p>
            <a:r>
              <a:rPr lang="en-IN" sz="800" dirty="0">
                <a:solidFill>
                  <a:schemeClr val="tx1"/>
                </a:solidFill>
              </a:rPr>
              <a:t>  }</a:t>
            </a:r>
          </a:p>
          <a:p>
            <a:r>
              <a:rPr lang="en-IN" sz="800" dirty="0">
                <a:solidFill>
                  <a:schemeClr val="tx1"/>
                </a:solidFill>
              </a:rPr>
              <a:t>  triggers { </a:t>
            </a:r>
            <a:r>
              <a:rPr lang="en-IN" sz="800" dirty="0" err="1">
                <a:solidFill>
                  <a:schemeClr val="tx1"/>
                </a:solidFill>
              </a:rPr>
              <a:t>pollSCM</a:t>
            </a:r>
            <a:r>
              <a:rPr lang="en-IN" sz="800" dirty="0">
                <a:solidFill>
                  <a:schemeClr val="tx1"/>
                </a:solidFill>
              </a:rPr>
              <a:t>('') } // optional; GitHub hook is primary trigger</a:t>
            </a:r>
          </a:p>
          <a:p>
            <a:r>
              <a:rPr lang="en-IN" sz="800" dirty="0">
                <a:solidFill>
                  <a:schemeClr val="tx1"/>
                </a:solidFill>
              </a:rPr>
              <a:t>  stages {</a:t>
            </a:r>
          </a:p>
          <a:p>
            <a:r>
              <a:rPr lang="en-IN" sz="800" dirty="0">
                <a:solidFill>
                  <a:schemeClr val="tx1"/>
                </a:solidFill>
              </a:rPr>
              <a:t>    stage('Checkout') {</a:t>
            </a:r>
          </a:p>
          <a:p>
            <a:r>
              <a:rPr lang="en-IN" sz="800" dirty="0">
                <a:solidFill>
                  <a:schemeClr val="tx1"/>
                </a:solidFill>
              </a:rPr>
              <a:t>      steps { checkout </a:t>
            </a:r>
            <a:r>
              <a:rPr lang="en-IN" sz="800" dirty="0" err="1">
                <a:solidFill>
                  <a:schemeClr val="tx1"/>
                </a:solidFill>
              </a:rPr>
              <a:t>scm</a:t>
            </a:r>
            <a:r>
              <a:rPr lang="en-IN" sz="800" dirty="0">
                <a:solidFill>
                  <a:schemeClr val="tx1"/>
                </a:solidFill>
              </a:rPr>
              <a:t> }</a:t>
            </a:r>
          </a:p>
          <a:p>
            <a:r>
              <a:rPr lang="en-IN" sz="800" dirty="0">
                <a:solidFill>
                  <a:schemeClr val="tx1"/>
                </a:solidFill>
              </a:rPr>
              <a:t>    }</a:t>
            </a:r>
          </a:p>
          <a:p>
            <a:r>
              <a:rPr lang="en-IN" sz="800" dirty="0">
                <a:solidFill>
                  <a:schemeClr val="tx1"/>
                </a:solidFill>
              </a:rPr>
              <a:t>    stage('Build image') {</a:t>
            </a:r>
          </a:p>
          <a:p>
            <a:r>
              <a:rPr lang="en-IN" sz="800" dirty="0">
                <a:solidFill>
                  <a:schemeClr val="tx1"/>
                </a:solidFill>
              </a:rPr>
              <a:t>      steps {</a:t>
            </a:r>
          </a:p>
          <a:p>
            <a:r>
              <a:rPr lang="en-IN" sz="800" dirty="0">
                <a:solidFill>
                  <a:schemeClr val="tx1"/>
                </a:solidFill>
              </a:rPr>
              <a:t>        </a:t>
            </a:r>
            <a:r>
              <a:rPr lang="en-IN" sz="800" dirty="0" err="1">
                <a:solidFill>
                  <a:schemeClr val="tx1"/>
                </a:solidFill>
              </a:rPr>
              <a:t>sh</a:t>
            </a:r>
            <a:r>
              <a:rPr lang="en-IN" sz="800" dirty="0">
                <a:solidFill>
                  <a:schemeClr val="tx1"/>
                </a:solidFill>
              </a:rPr>
              <a:t> '''</a:t>
            </a:r>
          </a:p>
          <a:p>
            <a:r>
              <a:rPr lang="en-IN" sz="800" dirty="0">
                <a:solidFill>
                  <a:schemeClr val="tx1"/>
                </a:solidFill>
              </a:rPr>
              <a:t>          docker build -t $IMAGE .</a:t>
            </a:r>
          </a:p>
          <a:p>
            <a:r>
              <a:rPr lang="en-IN" sz="800" dirty="0">
                <a:solidFill>
                  <a:schemeClr val="tx1"/>
                </a:solidFill>
              </a:rPr>
              <a:t>        '''</a:t>
            </a:r>
          </a:p>
          <a:p>
            <a:r>
              <a:rPr lang="en-IN" sz="800" dirty="0">
                <a:solidFill>
                  <a:schemeClr val="tx1"/>
                </a:solidFill>
              </a:rPr>
              <a:t>      }</a:t>
            </a:r>
          </a:p>
          <a:p>
            <a:r>
              <a:rPr lang="en-IN" sz="800" dirty="0">
                <a:solidFill>
                  <a:schemeClr val="tx1"/>
                </a:solidFill>
              </a:rPr>
              <a:t>    }</a:t>
            </a:r>
          </a:p>
          <a:p>
            <a:r>
              <a:rPr lang="en-IN" sz="800" dirty="0">
                <a:solidFill>
                  <a:schemeClr val="tx1"/>
                </a:solidFill>
              </a:rPr>
              <a:t>    stage('Stop old container') {</a:t>
            </a:r>
          </a:p>
          <a:p>
            <a:r>
              <a:rPr lang="en-IN" sz="800" dirty="0">
                <a:solidFill>
                  <a:schemeClr val="tx1"/>
                </a:solidFill>
              </a:rPr>
              <a:t>      steps {</a:t>
            </a:r>
          </a:p>
          <a:p>
            <a:r>
              <a:rPr lang="en-IN" sz="800" dirty="0">
                <a:solidFill>
                  <a:schemeClr val="tx1"/>
                </a:solidFill>
              </a:rPr>
              <a:t>        </a:t>
            </a:r>
            <a:r>
              <a:rPr lang="en-IN" sz="800" dirty="0" err="1">
                <a:solidFill>
                  <a:schemeClr val="tx1"/>
                </a:solidFill>
              </a:rPr>
              <a:t>sh</a:t>
            </a:r>
            <a:r>
              <a:rPr lang="en-IN" sz="800" dirty="0">
                <a:solidFill>
                  <a:schemeClr val="tx1"/>
                </a:solidFill>
              </a:rPr>
              <a:t> '''</a:t>
            </a:r>
          </a:p>
          <a:p>
            <a:r>
              <a:rPr lang="en-IN" sz="800" dirty="0">
                <a:solidFill>
                  <a:schemeClr val="tx1"/>
                </a:solidFill>
              </a:rPr>
              <a:t>          if [ "$(docker </a:t>
            </a:r>
            <a:r>
              <a:rPr lang="en-IN" sz="800" dirty="0" err="1">
                <a:solidFill>
                  <a:schemeClr val="tx1"/>
                </a:solidFill>
              </a:rPr>
              <a:t>ps</a:t>
            </a:r>
            <a:r>
              <a:rPr lang="en-IN" sz="800" dirty="0">
                <a:solidFill>
                  <a:schemeClr val="tx1"/>
                </a:solidFill>
              </a:rPr>
              <a:t> -q -f name=$APP_NAME)" ]; then docker stop $APP_NAME; fi</a:t>
            </a:r>
          </a:p>
          <a:p>
            <a:r>
              <a:rPr lang="en-IN" sz="800" dirty="0">
                <a:solidFill>
                  <a:schemeClr val="tx1"/>
                </a:solidFill>
              </a:rPr>
              <a:t>          if [ "$(docker </a:t>
            </a:r>
            <a:r>
              <a:rPr lang="en-IN" sz="800" dirty="0" err="1">
                <a:solidFill>
                  <a:schemeClr val="tx1"/>
                </a:solidFill>
              </a:rPr>
              <a:t>ps</a:t>
            </a:r>
            <a:r>
              <a:rPr lang="en-IN" sz="800" dirty="0">
                <a:solidFill>
                  <a:schemeClr val="tx1"/>
                </a:solidFill>
              </a:rPr>
              <a:t> -</a:t>
            </a:r>
            <a:r>
              <a:rPr lang="en-IN" sz="800" dirty="0" err="1">
                <a:solidFill>
                  <a:schemeClr val="tx1"/>
                </a:solidFill>
              </a:rPr>
              <a:t>aq</a:t>
            </a:r>
            <a:r>
              <a:rPr lang="en-IN" sz="800" dirty="0">
                <a:solidFill>
                  <a:schemeClr val="tx1"/>
                </a:solidFill>
              </a:rPr>
              <a:t> -f name=$APP_NAME)" ]; then docker rm $APP_NAME; fi</a:t>
            </a:r>
          </a:p>
          <a:p>
            <a:r>
              <a:rPr lang="en-IN" sz="800" dirty="0">
                <a:solidFill>
                  <a:schemeClr val="tx1"/>
                </a:solidFill>
              </a:rPr>
              <a:t>        '''</a:t>
            </a:r>
          </a:p>
          <a:p>
            <a:r>
              <a:rPr lang="en-IN" sz="800" dirty="0">
                <a:solidFill>
                  <a:schemeClr val="tx1"/>
                </a:solidFill>
              </a:rPr>
              <a:t>      }</a:t>
            </a:r>
          </a:p>
          <a:p>
            <a:r>
              <a:rPr lang="en-IN" sz="800" dirty="0">
                <a:solidFill>
                  <a:schemeClr val="tx1"/>
                </a:solidFill>
              </a:rPr>
              <a:t>    }</a:t>
            </a:r>
          </a:p>
          <a:p>
            <a:r>
              <a:rPr lang="en-IN" sz="800" dirty="0">
                <a:solidFill>
                  <a:schemeClr val="tx1"/>
                </a:solidFill>
              </a:rPr>
              <a:t>    stage('Run new container') {</a:t>
            </a:r>
          </a:p>
          <a:p>
            <a:r>
              <a:rPr lang="en-IN" sz="800" dirty="0">
                <a:solidFill>
                  <a:schemeClr val="tx1"/>
                </a:solidFill>
              </a:rPr>
              <a:t>      steps {</a:t>
            </a:r>
          </a:p>
          <a:p>
            <a:r>
              <a:rPr lang="en-IN" sz="800" dirty="0">
                <a:solidFill>
                  <a:schemeClr val="tx1"/>
                </a:solidFill>
              </a:rPr>
              <a:t>        </a:t>
            </a:r>
            <a:r>
              <a:rPr lang="en-IN" sz="800" dirty="0" err="1">
                <a:solidFill>
                  <a:schemeClr val="tx1"/>
                </a:solidFill>
              </a:rPr>
              <a:t>sh</a:t>
            </a:r>
            <a:r>
              <a:rPr lang="en-IN" sz="800" dirty="0">
                <a:solidFill>
                  <a:schemeClr val="tx1"/>
                </a:solidFill>
              </a:rPr>
              <a:t> '''</a:t>
            </a:r>
          </a:p>
          <a:p>
            <a:r>
              <a:rPr lang="en-IN" sz="800" dirty="0">
                <a:solidFill>
                  <a:schemeClr val="tx1"/>
                </a:solidFill>
              </a:rPr>
              <a:t>          docker run -d --name $APP_NAME -p ${APP_PORT}:${APP_PORT} --restart=always $IMAGE</a:t>
            </a:r>
          </a:p>
          <a:p>
            <a:r>
              <a:rPr lang="en-IN" sz="800" dirty="0">
                <a:solidFill>
                  <a:schemeClr val="tx1"/>
                </a:solidFill>
              </a:rPr>
              <a:t>        '''</a:t>
            </a:r>
          </a:p>
          <a:p>
            <a:r>
              <a:rPr lang="en-IN" sz="800" dirty="0">
                <a:solidFill>
                  <a:schemeClr val="tx1"/>
                </a:solidFill>
              </a:rPr>
              <a:t>      }</a:t>
            </a:r>
          </a:p>
          <a:p>
            <a:r>
              <a:rPr lang="en-IN" sz="800" dirty="0">
                <a:solidFill>
                  <a:schemeClr val="tx1"/>
                </a:solidFill>
              </a:rPr>
              <a:t>    }</a:t>
            </a:r>
          </a:p>
          <a:p>
            <a:r>
              <a:rPr lang="en-IN" sz="800" dirty="0">
                <a:solidFill>
                  <a:schemeClr val="tx1"/>
                </a:solidFill>
              </a:rPr>
              <a:t>    stage('Cleanup old images') {</a:t>
            </a:r>
          </a:p>
          <a:p>
            <a:r>
              <a:rPr lang="en-IN" sz="800" dirty="0">
                <a:solidFill>
                  <a:schemeClr val="tx1"/>
                </a:solidFill>
              </a:rPr>
              <a:t>      steps {</a:t>
            </a:r>
          </a:p>
          <a:p>
            <a:r>
              <a:rPr lang="en-IN" sz="800" dirty="0">
                <a:solidFill>
                  <a:schemeClr val="tx1"/>
                </a:solidFill>
              </a:rPr>
              <a:t>        </a:t>
            </a:r>
            <a:r>
              <a:rPr lang="en-IN" sz="800" dirty="0" err="1">
                <a:solidFill>
                  <a:schemeClr val="tx1"/>
                </a:solidFill>
              </a:rPr>
              <a:t>sh</a:t>
            </a:r>
            <a:r>
              <a:rPr lang="en-IN" sz="800" dirty="0">
                <a:solidFill>
                  <a:schemeClr val="tx1"/>
                </a:solidFill>
              </a:rPr>
              <a:t> 'docker image prune -f || true'</a:t>
            </a:r>
          </a:p>
          <a:p>
            <a:r>
              <a:rPr lang="en-IN" sz="800" dirty="0">
                <a:solidFill>
                  <a:schemeClr val="tx1"/>
                </a:solidFill>
              </a:rPr>
              <a:t>      }</a:t>
            </a:r>
          </a:p>
          <a:p>
            <a:r>
              <a:rPr lang="en-IN" sz="800" dirty="0">
                <a:solidFill>
                  <a:schemeClr val="tx1"/>
                </a:solidFill>
              </a:rPr>
              <a:t>    }</a:t>
            </a:r>
          </a:p>
          <a:p>
            <a:r>
              <a:rPr lang="en-IN" sz="800" dirty="0">
                <a:solidFill>
                  <a:schemeClr val="tx1"/>
                </a:solidFill>
              </a:rPr>
              <a:t>  }</a:t>
            </a:r>
          </a:p>
          <a:p>
            <a:r>
              <a:rPr lang="en-IN" sz="800" dirty="0">
                <a:solidFill>
                  <a:schemeClr val="tx1"/>
                </a:solidFill>
              </a:rPr>
              <a:t>  post {</a:t>
            </a:r>
          </a:p>
          <a:p>
            <a:r>
              <a:rPr lang="en-IN" sz="800" dirty="0">
                <a:solidFill>
                  <a:schemeClr val="tx1"/>
                </a:solidFill>
              </a:rPr>
              <a:t>    failure { echo 'Build failed. Check console output.' }</a:t>
            </a:r>
          </a:p>
          <a:p>
            <a:r>
              <a:rPr lang="en-IN" sz="800" dirty="0">
                <a:solidFill>
                  <a:schemeClr val="tx1"/>
                </a:solidFill>
              </a:rPr>
              <a:t>  }</a:t>
            </a:r>
          </a:p>
          <a:p>
            <a:r>
              <a:rPr lang="en-IN" sz="800" dirty="0">
                <a:solidFill>
                  <a:schemeClr val="tx1"/>
                </a:solidFill>
              </a:rPr>
              <a:t>}</a:t>
            </a:r>
          </a:p>
        </p:txBody>
      </p:sp>
    </p:spTree>
    <p:extLst>
      <p:ext uri="{BB962C8B-B14F-4D97-AF65-F5344CB8AC3E}">
        <p14:creationId xmlns:p14="http://schemas.microsoft.com/office/powerpoint/2010/main" val="2253703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l="29000" t="17000" r="29000" b="17000"/>
          </a:stretch>
        </a:blipFill>
        <a:effectLst/>
      </p:bgPr>
    </p:bg>
    <p:spTree>
      <p:nvGrpSpPr>
        <p:cNvPr id="1" name="">
          <a:extLst>
            <a:ext uri="{FF2B5EF4-FFF2-40B4-BE49-F238E27FC236}">
              <a16:creationId xmlns:a16="http://schemas.microsoft.com/office/drawing/2014/main" id="{82197FB5-2E48-F309-D80C-EFAB39605E5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F406600-F6CA-F4DD-831C-46E5F2B0155A}"/>
              </a:ext>
            </a:extLst>
          </p:cNvPr>
          <p:cNvSpPr txBox="1"/>
          <p:nvPr/>
        </p:nvSpPr>
        <p:spPr>
          <a:xfrm>
            <a:off x="166254" y="545583"/>
            <a:ext cx="11835245" cy="4031873"/>
          </a:xfrm>
          <a:prstGeom prst="rect">
            <a:avLst/>
          </a:prstGeom>
          <a:noFill/>
        </p:spPr>
        <p:txBody>
          <a:bodyPr wrap="square" rtlCol="0">
            <a:spAutoFit/>
          </a:bodyPr>
          <a:lstStyle/>
          <a:p>
            <a:pPr marL="342900" indent="-342900">
              <a:buFont typeface="+mj-lt"/>
              <a:buAutoNum type="arabicPeriod" startAt="11"/>
            </a:pPr>
            <a:r>
              <a:rPr lang="en-US" sz="1600" dirty="0"/>
              <a:t>Configure a trigger in Jenkins dashboard (running on your laptop’s browser) which will be triggered by GitHub whenever there is a push on GitHub. This will help Jenkins to immediately take pull from GitHub and deploy the latest app. Following are the steps:</a:t>
            </a:r>
          </a:p>
          <a:p>
            <a:pPr marL="857250" lvl="1" indent="-400050">
              <a:buFont typeface="+mj-lt"/>
              <a:buAutoNum type="romanLcPeriod"/>
            </a:pPr>
            <a:r>
              <a:rPr lang="en-US" sz="1600" dirty="0"/>
              <a:t>In Jenkins dashboard (running on your laptop’s browser), click on “Configure”</a:t>
            </a:r>
          </a:p>
          <a:p>
            <a:pPr marL="857250" lvl="1" indent="-400050">
              <a:buFont typeface="+mj-lt"/>
              <a:buAutoNum type="romanLcPeriod"/>
            </a:pPr>
            <a:r>
              <a:rPr lang="en-US" sz="1600" dirty="0"/>
              <a:t>Then on “Triggers”, and select “GitHub hook trigger for </a:t>
            </a:r>
            <a:r>
              <a:rPr lang="en-US" sz="1600" dirty="0" err="1"/>
              <a:t>GitScm</a:t>
            </a:r>
            <a:r>
              <a:rPr lang="en-US" sz="1600" dirty="0"/>
              <a:t> polling”</a:t>
            </a:r>
          </a:p>
          <a:p>
            <a:pPr marL="342900" indent="-342900">
              <a:buFont typeface="+mj-lt"/>
              <a:buAutoNum type="arabicPeriod" startAt="11"/>
            </a:pPr>
            <a:r>
              <a:rPr lang="en-US" sz="1600" dirty="0"/>
              <a:t>Configure GitHub Webhook which will send a push notification to Jenkins trigger created in the above step to take pull whenever there is a push to the repository:</a:t>
            </a:r>
          </a:p>
          <a:p>
            <a:pPr marL="857250" lvl="1" indent="-400050">
              <a:buFont typeface="+mj-lt"/>
              <a:buAutoNum type="romanLcPeriod"/>
            </a:pPr>
            <a:r>
              <a:rPr lang="en-US" sz="1600" dirty="0"/>
              <a:t>In your GitHub repo, go to the “Settings”</a:t>
            </a:r>
          </a:p>
          <a:p>
            <a:pPr marL="857250" lvl="1" indent="-400050">
              <a:buFont typeface="+mj-lt"/>
              <a:buAutoNum type="romanLcPeriod"/>
            </a:pPr>
            <a:r>
              <a:rPr lang="en-US" sz="1600" dirty="0"/>
              <a:t>Click on “Webhooks”</a:t>
            </a:r>
          </a:p>
          <a:p>
            <a:pPr marL="857250" lvl="1" indent="-400050">
              <a:buFont typeface="+mj-lt"/>
              <a:buAutoNum type="romanLcPeriod"/>
            </a:pPr>
            <a:r>
              <a:rPr lang="en-US" sz="1600" dirty="0"/>
              <a:t>Now, click on “Add Webhook” and enter “http://&lt;EC2-public-ip&gt;:8080/</a:t>
            </a:r>
            <a:r>
              <a:rPr lang="en-US" sz="1600" dirty="0" err="1"/>
              <a:t>github</a:t>
            </a:r>
            <a:r>
              <a:rPr lang="en-US" sz="1600" dirty="0"/>
              <a:t>-webhook/” in the “Payload URL”</a:t>
            </a:r>
          </a:p>
          <a:p>
            <a:pPr marL="857250" lvl="1" indent="-400050">
              <a:buFont typeface="+mj-lt"/>
              <a:buAutoNum type="romanLcPeriod"/>
            </a:pPr>
            <a:r>
              <a:rPr lang="en-US" sz="1600" dirty="0"/>
              <a:t>Select “Content Type” as “application/</a:t>
            </a:r>
            <a:r>
              <a:rPr lang="en-US" sz="1600" dirty="0" err="1"/>
              <a:t>json</a:t>
            </a:r>
            <a:r>
              <a:rPr lang="en-US" sz="1600" dirty="0"/>
              <a:t>”</a:t>
            </a:r>
          </a:p>
          <a:p>
            <a:pPr marL="857250" lvl="1" indent="-400050">
              <a:buFont typeface="+mj-lt"/>
              <a:buAutoNum type="romanLcPeriod"/>
            </a:pPr>
            <a:r>
              <a:rPr lang="en-US" sz="1600" dirty="0"/>
              <a:t>Select “Events” as “Just the push event”</a:t>
            </a:r>
          </a:p>
          <a:p>
            <a:pPr marL="400050" indent="-400050">
              <a:buFont typeface="+mj-lt"/>
              <a:buAutoNum type="arabicPeriod" startAt="11"/>
            </a:pPr>
            <a:r>
              <a:rPr lang="en-US" sz="1600" dirty="0"/>
              <a:t>Manually create the first build:</a:t>
            </a:r>
          </a:p>
          <a:p>
            <a:pPr marL="857250" lvl="1" indent="-400050">
              <a:buFont typeface="+mj-lt"/>
              <a:buAutoNum type="romanLcPeriod"/>
            </a:pPr>
            <a:r>
              <a:rPr lang="en-US" sz="1600" dirty="0"/>
              <a:t>In the Jenkins dashboard (running in your laptop’s browser), just click on “Build Now”</a:t>
            </a:r>
          </a:p>
          <a:p>
            <a:pPr marL="857250" lvl="1" indent="-400050">
              <a:buFont typeface="+mj-lt"/>
              <a:buAutoNum type="romanLcPeriod"/>
            </a:pPr>
            <a:r>
              <a:rPr lang="en-US" sz="1600" dirty="0"/>
              <a:t>The first deployment should be done on your EC2 instance. Test it in your browser / terminal / postman app</a:t>
            </a:r>
          </a:p>
          <a:p>
            <a:pPr marL="857250" lvl="1" indent="-400050">
              <a:buFont typeface="+mj-lt"/>
              <a:buAutoNum type="romanLcPeriod"/>
            </a:pPr>
            <a:r>
              <a:rPr lang="en-US" sz="1600" dirty="0"/>
              <a:t>From now onwards, whenever you will push the code in your GitHub repo, Jenkins will automatically take the pull, delete the running Docker container in your EC2 instance, and deploy the new Docker container.</a:t>
            </a:r>
          </a:p>
        </p:txBody>
      </p:sp>
      <p:sp>
        <p:nvSpPr>
          <p:cNvPr id="2" name="TextBox 1">
            <a:extLst>
              <a:ext uri="{FF2B5EF4-FFF2-40B4-BE49-F238E27FC236}">
                <a16:creationId xmlns:a16="http://schemas.microsoft.com/office/drawing/2014/main" id="{2EDEEBC8-6F6A-7B43-E61C-D83369780E96}"/>
              </a:ext>
            </a:extLst>
          </p:cNvPr>
          <p:cNvSpPr txBox="1"/>
          <p:nvPr/>
        </p:nvSpPr>
        <p:spPr>
          <a:xfrm>
            <a:off x="166255" y="145473"/>
            <a:ext cx="11835245" cy="400110"/>
          </a:xfrm>
          <a:prstGeom prst="rect">
            <a:avLst/>
          </a:prstGeom>
          <a:noFill/>
        </p:spPr>
        <p:txBody>
          <a:bodyPr wrap="square" rtlCol="0">
            <a:spAutoFit/>
          </a:bodyPr>
          <a:lstStyle/>
          <a:p>
            <a:r>
              <a:rPr lang="en-IN" sz="2000" b="1" dirty="0"/>
              <a:t>[4/4] CI / CD Pipeline: EC2 / Jenkins / GitHub</a:t>
            </a:r>
          </a:p>
        </p:txBody>
      </p:sp>
    </p:spTree>
    <p:extLst>
      <p:ext uri="{BB962C8B-B14F-4D97-AF65-F5344CB8AC3E}">
        <p14:creationId xmlns:p14="http://schemas.microsoft.com/office/powerpoint/2010/main" val="3918159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D7067-7ECF-F78F-35EA-2D95E74295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8B74C4-7F62-BE90-FFFE-AC84293157A4}"/>
              </a:ext>
            </a:extLst>
          </p:cNvPr>
          <p:cNvSpPr txBox="1"/>
          <p:nvPr/>
        </p:nvSpPr>
        <p:spPr>
          <a:xfrm>
            <a:off x="166255" y="145473"/>
            <a:ext cx="11835245" cy="400110"/>
          </a:xfrm>
          <a:prstGeom prst="rect">
            <a:avLst/>
          </a:prstGeom>
          <a:noFill/>
        </p:spPr>
        <p:txBody>
          <a:bodyPr wrap="square" rtlCol="0">
            <a:spAutoFit/>
          </a:bodyPr>
          <a:lstStyle/>
          <a:p>
            <a:r>
              <a:rPr lang="en-IN" sz="2000" b="1" dirty="0"/>
              <a:t>[1/2] Setting up Amazon S3</a:t>
            </a:r>
          </a:p>
        </p:txBody>
      </p:sp>
      <p:sp>
        <p:nvSpPr>
          <p:cNvPr id="3" name="TextBox 2">
            <a:extLst>
              <a:ext uri="{FF2B5EF4-FFF2-40B4-BE49-F238E27FC236}">
                <a16:creationId xmlns:a16="http://schemas.microsoft.com/office/drawing/2014/main" id="{DAFF9895-CCEE-3DBD-3CF5-1A455B4284A2}"/>
              </a:ext>
            </a:extLst>
          </p:cNvPr>
          <p:cNvSpPr txBox="1"/>
          <p:nvPr/>
        </p:nvSpPr>
        <p:spPr>
          <a:xfrm>
            <a:off x="166254" y="545583"/>
            <a:ext cx="11835245" cy="3816429"/>
          </a:xfrm>
          <a:prstGeom prst="rect">
            <a:avLst/>
          </a:prstGeom>
          <a:noFill/>
        </p:spPr>
        <p:txBody>
          <a:bodyPr wrap="square" rtlCol="0">
            <a:spAutoFit/>
          </a:bodyPr>
          <a:lstStyle/>
          <a:p>
            <a:r>
              <a:rPr lang="en-IN" sz="1600" b="1" dirty="0"/>
              <a:t>Step 1: Create the S3 Bucket</a:t>
            </a:r>
          </a:p>
          <a:p>
            <a:pPr marL="800100" lvl="1" indent="-342900">
              <a:buFont typeface="+mj-lt"/>
              <a:buAutoNum type="arabicPeriod"/>
            </a:pPr>
            <a:r>
              <a:rPr lang="en-IN" sz="1600" dirty="0"/>
              <a:t>Sign in to the </a:t>
            </a:r>
            <a:r>
              <a:rPr lang="en-IN" sz="1600" b="1" dirty="0"/>
              <a:t>AWS Management Console</a:t>
            </a:r>
            <a:r>
              <a:rPr lang="en-IN" sz="1600" dirty="0"/>
              <a:t> → open </a:t>
            </a:r>
            <a:r>
              <a:rPr lang="en-IN" sz="1600" b="1" dirty="0"/>
              <a:t>S3</a:t>
            </a:r>
            <a:r>
              <a:rPr lang="en-IN" sz="1600" dirty="0"/>
              <a:t> service.</a:t>
            </a:r>
          </a:p>
          <a:p>
            <a:pPr marL="800100" lvl="1" indent="-342900">
              <a:buFont typeface="+mj-lt"/>
              <a:buAutoNum type="arabicPeriod"/>
            </a:pPr>
            <a:r>
              <a:rPr lang="en-IN" sz="1600" dirty="0"/>
              <a:t>Click </a:t>
            </a:r>
            <a:r>
              <a:rPr lang="en-IN" sz="1600" b="1" dirty="0"/>
              <a:t>“Create bucket.”</a:t>
            </a:r>
          </a:p>
          <a:p>
            <a:pPr marL="800100" lvl="1" indent="-342900">
              <a:buFont typeface="+mj-lt"/>
              <a:buAutoNum type="arabicPeriod"/>
            </a:pPr>
            <a:r>
              <a:rPr lang="en-IN" sz="1600" dirty="0"/>
              <a:t>Enter:</a:t>
            </a:r>
          </a:p>
          <a:p>
            <a:pPr marL="1314450" lvl="2" indent="-400050">
              <a:buFont typeface="+mj-lt"/>
              <a:buAutoNum type="romanLcPeriod"/>
            </a:pPr>
            <a:r>
              <a:rPr lang="en-IN" sz="1600" b="1" dirty="0"/>
              <a:t>Bucket name:</a:t>
            </a:r>
            <a:r>
              <a:rPr lang="en-IN" sz="1600" dirty="0"/>
              <a:t> e.g. my-secure-bucket</a:t>
            </a:r>
          </a:p>
          <a:p>
            <a:pPr marL="1314450" lvl="2" indent="-400050">
              <a:buFont typeface="+mj-lt"/>
              <a:buAutoNum type="romanLcPeriod"/>
            </a:pPr>
            <a:r>
              <a:rPr lang="en-IN" sz="1600" b="1" dirty="0"/>
              <a:t>Region:</a:t>
            </a:r>
            <a:r>
              <a:rPr lang="en-IN" sz="1600" dirty="0"/>
              <a:t> same region as your EC2 instance (recommended).</a:t>
            </a:r>
          </a:p>
          <a:p>
            <a:pPr marL="857250" lvl="1" indent="-400050">
              <a:buFont typeface="+mj-lt"/>
              <a:buAutoNum type="arabicPeriod"/>
            </a:pPr>
            <a:r>
              <a:rPr lang="en-IN" sz="1600" dirty="0"/>
              <a:t>Leave </a:t>
            </a:r>
            <a:r>
              <a:rPr lang="en-IN" sz="1600" b="1" dirty="0"/>
              <a:t>Block Public Access</a:t>
            </a:r>
            <a:r>
              <a:rPr lang="en-IN" sz="1600" dirty="0"/>
              <a:t> enabled (default).</a:t>
            </a:r>
          </a:p>
          <a:p>
            <a:pPr marL="857250" lvl="1" indent="-400050">
              <a:buFont typeface="+mj-lt"/>
              <a:buAutoNum type="arabicPeriod"/>
            </a:pPr>
            <a:r>
              <a:rPr lang="en-IN" sz="1600" dirty="0"/>
              <a:t>Click </a:t>
            </a:r>
            <a:r>
              <a:rPr lang="en-IN" sz="1600" b="1" dirty="0"/>
              <a:t>Create bucket.</a:t>
            </a:r>
            <a:endParaRPr lang="en-IN" sz="1600" dirty="0"/>
          </a:p>
          <a:p>
            <a:r>
              <a:rPr lang="en-US" sz="1600" b="1" dirty="0"/>
              <a:t>Step 2: Get your Laptop’s Public IP</a:t>
            </a:r>
          </a:p>
          <a:p>
            <a:pPr marL="800100" lvl="1" indent="-342900">
              <a:buFont typeface="+mj-lt"/>
              <a:buAutoNum type="arabicPeriod"/>
            </a:pPr>
            <a:r>
              <a:rPr lang="en-US" sz="1600" dirty="0"/>
              <a:t>Visit </a:t>
            </a:r>
            <a:r>
              <a:rPr lang="en-US" sz="1600" dirty="0">
                <a:hlinkClick r:id="rId2"/>
              </a:rPr>
              <a:t>https://checkip.amazonaws.com</a:t>
            </a:r>
            <a:endParaRPr lang="en-US" sz="1600" dirty="0"/>
          </a:p>
          <a:p>
            <a:pPr marL="800100" lvl="1" indent="-342900">
              <a:buFont typeface="+mj-lt"/>
              <a:buAutoNum type="arabicPeriod"/>
            </a:pPr>
            <a:r>
              <a:rPr lang="en-US" sz="1600" dirty="0"/>
              <a:t>Note your </a:t>
            </a:r>
            <a:r>
              <a:rPr lang="en-US" sz="1600" b="1" dirty="0"/>
              <a:t>public IPv4 address</a:t>
            </a:r>
            <a:r>
              <a:rPr lang="en-US" sz="1600" dirty="0"/>
              <a:t>, e.g. 49.204.123.56.</a:t>
            </a:r>
          </a:p>
          <a:p>
            <a:r>
              <a:rPr lang="en-US" sz="1600" b="1" dirty="0"/>
              <a:t>Step 3: Get EC2 Instance’s Public IP or Role</a:t>
            </a:r>
          </a:p>
          <a:p>
            <a:pPr marL="800100" lvl="1" indent="-342900">
              <a:buFont typeface="+mj-lt"/>
              <a:buAutoNum type="arabicPeriod"/>
            </a:pPr>
            <a:r>
              <a:rPr lang="en-US" sz="1600" dirty="0"/>
              <a:t>Option A (Public IP restriction):</a:t>
            </a:r>
          </a:p>
          <a:p>
            <a:pPr marL="800100" lvl="1" indent="-342900">
              <a:buFont typeface="+mj-lt"/>
              <a:buAutoNum type="arabicPeriod"/>
            </a:pPr>
            <a:r>
              <a:rPr lang="en-US" sz="1600" dirty="0"/>
              <a:t>Go to </a:t>
            </a:r>
            <a:r>
              <a:rPr lang="en-US" sz="1600" b="1" dirty="0"/>
              <a:t>EC2 Console → Instances → Your Instance → Details tab</a:t>
            </a:r>
          </a:p>
          <a:p>
            <a:pPr marL="800100" lvl="1" indent="-342900">
              <a:buFont typeface="+mj-lt"/>
              <a:buAutoNum type="arabicPeriod"/>
            </a:pPr>
            <a:r>
              <a:rPr lang="en-US" sz="1600" dirty="0"/>
              <a:t>Note </a:t>
            </a:r>
            <a:r>
              <a:rPr lang="en-US" sz="1600" b="1" dirty="0"/>
              <a:t>Public IPv4 address</a:t>
            </a:r>
            <a:r>
              <a:rPr lang="en-US" sz="1600" dirty="0"/>
              <a:t>, e.g. </a:t>
            </a:r>
            <a:r>
              <a:rPr lang="en-US" dirty="0"/>
              <a:t>13.232.45.67</a:t>
            </a:r>
            <a:r>
              <a:rPr lang="en-US" sz="1600" dirty="0"/>
              <a:t>.</a:t>
            </a:r>
          </a:p>
        </p:txBody>
      </p:sp>
    </p:spTree>
    <p:extLst>
      <p:ext uri="{BB962C8B-B14F-4D97-AF65-F5344CB8AC3E}">
        <p14:creationId xmlns:p14="http://schemas.microsoft.com/office/powerpoint/2010/main" val="4243873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5DA9A-1CCC-1502-C621-102883471A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CACD2B-3C33-4061-D75C-2C9B4DDE4E56}"/>
              </a:ext>
            </a:extLst>
          </p:cNvPr>
          <p:cNvSpPr txBox="1"/>
          <p:nvPr/>
        </p:nvSpPr>
        <p:spPr>
          <a:xfrm>
            <a:off x="166255" y="145473"/>
            <a:ext cx="11835245" cy="400110"/>
          </a:xfrm>
          <a:prstGeom prst="rect">
            <a:avLst/>
          </a:prstGeom>
          <a:noFill/>
        </p:spPr>
        <p:txBody>
          <a:bodyPr wrap="square" rtlCol="0">
            <a:spAutoFit/>
          </a:bodyPr>
          <a:lstStyle/>
          <a:p>
            <a:r>
              <a:rPr lang="en-IN" sz="2000" b="1" dirty="0"/>
              <a:t>[2/2] Setting up Amazon S3</a:t>
            </a:r>
          </a:p>
        </p:txBody>
      </p:sp>
      <p:sp>
        <p:nvSpPr>
          <p:cNvPr id="3" name="TextBox 2">
            <a:extLst>
              <a:ext uri="{FF2B5EF4-FFF2-40B4-BE49-F238E27FC236}">
                <a16:creationId xmlns:a16="http://schemas.microsoft.com/office/drawing/2014/main" id="{C9760485-49F2-A31C-D71C-10DDD165C089}"/>
              </a:ext>
            </a:extLst>
          </p:cNvPr>
          <p:cNvSpPr txBox="1"/>
          <p:nvPr/>
        </p:nvSpPr>
        <p:spPr>
          <a:xfrm>
            <a:off x="166254" y="545583"/>
            <a:ext cx="11835245" cy="5786199"/>
          </a:xfrm>
          <a:prstGeom prst="rect">
            <a:avLst/>
          </a:prstGeom>
          <a:noFill/>
        </p:spPr>
        <p:txBody>
          <a:bodyPr wrap="square" rtlCol="0">
            <a:spAutoFit/>
          </a:bodyPr>
          <a:lstStyle/>
          <a:p>
            <a:r>
              <a:rPr lang="en-US" sz="1600" b="1" dirty="0"/>
              <a:t>Step 4: Add Bucket Policy</a:t>
            </a:r>
          </a:p>
          <a:p>
            <a:pPr marL="800100" lvl="1" indent="-342900">
              <a:buFont typeface="+mj-lt"/>
              <a:buAutoNum type="arabicPeriod"/>
            </a:pPr>
            <a:r>
              <a:rPr lang="en-US" sz="1600" dirty="0"/>
              <a:t>Go to </a:t>
            </a:r>
            <a:r>
              <a:rPr lang="en-US" sz="1600" b="1" dirty="0"/>
              <a:t>S3 → Bucket → Permissions tab → Bucket Policy → Edit</a:t>
            </a:r>
            <a:r>
              <a:rPr lang="en-US" sz="1600" dirty="0"/>
              <a:t>, then paste a policy like below.</a:t>
            </a:r>
          </a:p>
          <a:p>
            <a:pPr marL="800100" lvl="1" indent="-342900">
              <a:buFont typeface="+mj-lt"/>
              <a:buAutoNum type="arabicPeriod"/>
            </a:pPr>
            <a:r>
              <a:rPr lang="en-US" sz="1600" dirty="0"/>
              <a:t>Adjust IPs and bucket name.</a:t>
            </a:r>
          </a:p>
          <a:p>
            <a:pPr lvl="2"/>
            <a:r>
              <a:rPr lang="en-US" sz="1400" dirty="0"/>
              <a:t>{</a:t>
            </a:r>
          </a:p>
          <a:p>
            <a:pPr lvl="2"/>
            <a:r>
              <a:rPr lang="en-US" sz="1400" dirty="0"/>
              <a:t>  "Version": "2012-10-17",</a:t>
            </a:r>
          </a:p>
          <a:p>
            <a:pPr lvl="2"/>
            <a:r>
              <a:rPr lang="en-US" sz="1400" dirty="0"/>
              <a:t>  "Statement": [</a:t>
            </a:r>
          </a:p>
          <a:p>
            <a:pPr lvl="2"/>
            <a:r>
              <a:rPr lang="en-US" sz="1400" dirty="0"/>
              <a:t>    {</a:t>
            </a:r>
          </a:p>
          <a:p>
            <a:pPr lvl="2"/>
            <a:r>
              <a:rPr lang="en-US" sz="1400" dirty="0"/>
              <a:t>      "Sid": "AllowAccessFromLaptopAndEC2",</a:t>
            </a:r>
          </a:p>
          <a:p>
            <a:pPr lvl="2"/>
            <a:r>
              <a:rPr lang="en-US" sz="1400" dirty="0"/>
              <a:t>      "Effect": "Allow",</a:t>
            </a:r>
          </a:p>
          <a:p>
            <a:pPr lvl="2"/>
            <a:r>
              <a:rPr lang="en-US" sz="1400" dirty="0"/>
              <a:t>      "Principal": "*",</a:t>
            </a:r>
          </a:p>
          <a:p>
            <a:pPr lvl="2"/>
            <a:r>
              <a:rPr lang="en-US" sz="1400" dirty="0"/>
              <a:t>      "Action": "s3:*",</a:t>
            </a:r>
          </a:p>
          <a:p>
            <a:pPr lvl="2"/>
            <a:r>
              <a:rPr lang="en-US" sz="1400" dirty="0"/>
              <a:t>      "Resource": [</a:t>
            </a:r>
          </a:p>
          <a:p>
            <a:pPr lvl="2"/>
            <a:r>
              <a:rPr lang="en-US" sz="1400" dirty="0"/>
              <a:t>        "arn:aws:s3:::my-secure-bucket",</a:t>
            </a:r>
          </a:p>
          <a:p>
            <a:pPr lvl="2"/>
            <a:r>
              <a:rPr lang="en-US" sz="1400" dirty="0"/>
              <a:t>        "arn:aws:s3:::my-secure-bucket/*"</a:t>
            </a:r>
          </a:p>
          <a:p>
            <a:pPr lvl="2"/>
            <a:r>
              <a:rPr lang="en-US" sz="1400" dirty="0"/>
              <a:t>      ],</a:t>
            </a:r>
          </a:p>
          <a:p>
            <a:pPr lvl="2"/>
            <a:r>
              <a:rPr lang="en-US" sz="1400" dirty="0"/>
              <a:t>      "Condition": {</a:t>
            </a:r>
          </a:p>
          <a:p>
            <a:pPr lvl="2"/>
            <a:r>
              <a:rPr lang="en-US" sz="1400" dirty="0"/>
              <a:t>        "</a:t>
            </a:r>
            <a:r>
              <a:rPr lang="en-US" sz="1400" dirty="0" err="1"/>
              <a:t>IpAddress</a:t>
            </a:r>
            <a:r>
              <a:rPr lang="en-US" sz="1400" dirty="0"/>
              <a:t>": {</a:t>
            </a:r>
          </a:p>
          <a:p>
            <a:pPr lvl="2"/>
            <a:r>
              <a:rPr lang="en-US" sz="1400" dirty="0"/>
              <a:t>          "</a:t>
            </a:r>
            <a:r>
              <a:rPr lang="en-US" sz="1400" dirty="0" err="1"/>
              <a:t>aws:SourceIp</a:t>
            </a:r>
            <a:r>
              <a:rPr lang="en-US" sz="1400" dirty="0"/>
              <a:t>": [</a:t>
            </a:r>
          </a:p>
          <a:p>
            <a:pPr lvl="2"/>
            <a:r>
              <a:rPr lang="en-US" sz="1400" dirty="0">
                <a:solidFill>
                  <a:schemeClr val="accent4"/>
                </a:solidFill>
              </a:rPr>
              <a:t>            "49.204.123.56/32",</a:t>
            </a:r>
          </a:p>
          <a:p>
            <a:pPr lvl="2"/>
            <a:r>
              <a:rPr lang="en-US" sz="1400" dirty="0">
                <a:solidFill>
                  <a:schemeClr val="accent4"/>
                </a:solidFill>
              </a:rPr>
              <a:t>            "13.232.45.67/32"</a:t>
            </a:r>
          </a:p>
          <a:p>
            <a:pPr lvl="2"/>
            <a:r>
              <a:rPr lang="en-US" sz="1400" dirty="0"/>
              <a:t>          ]</a:t>
            </a:r>
          </a:p>
          <a:p>
            <a:pPr lvl="2"/>
            <a:r>
              <a:rPr lang="en-US" sz="1400" dirty="0"/>
              <a:t>        }</a:t>
            </a:r>
          </a:p>
          <a:p>
            <a:pPr lvl="2"/>
            <a:r>
              <a:rPr lang="en-US" sz="1400" dirty="0"/>
              <a:t>      }</a:t>
            </a:r>
          </a:p>
          <a:p>
            <a:pPr lvl="2"/>
            <a:r>
              <a:rPr lang="en-US" sz="1400" dirty="0"/>
              <a:t>    }</a:t>
            </a:r>
          </a:p>
          <a:p>
            <a:pPr lvl="2"/>
            <a:r>
              <a:rPr lang="en-US" sz="1400" dirty="0"/>
              <a:t>  ]</a:t>
            </a:r>
          </a:p>
          <a:p>
            <a:pPr lvl="2"/>
            <a:r>
              <a:rPr lang="en-US" sz="1400" dirty="0"/>
              <a:t>}</a:t>
            </a:r>
            <a:endParaRPr lang="en-US" sz="1600" dirty="0"/>
          </a:p>
        </p:txBody>
      </p:sp>
      <p:sp>
        <p:nvSpPr>
          <p:cNvPr id="4" name="TextBox 3">
            <a:extLst>
              <a:ext uri="{FF2B5EF4-FFF2-40B4-BE49-F238E27FC236}">
                <a16:creationId xmlns:a16="http://schemas.microsoft.com/office/drawing/2014/main" id="{EC448D28-B034-F0E7-1F09-244E340A7178}"/>
              </a:ext>
            </a:extLst>
          </p:cNvPr>
          <p:cNvSpPr txBox="1"/>
          <p:nvPr/>
        </p:nvSpPr>
        <p:spPr>
          <a:xfrm>
            <a:off x="3631621" y="4509654"/>
            <a:ext cx="5231823" cy="523220"/>
          </a:xfrm>
          <a:prstGeom prst="rect">
            <a:avLst/>
          </a:prstGeom>
          <a:noFill/>
        </p:spPr>
        <p:txBody>
          <a:bodyPr wrap="square" rtlCol="0">
            <a:spAutoFit/>
          </a:bodyPr>
          <a:lstStyle/>
          <a:p>
            <a:r>
              <a:rPr lang="en-IN" sz="1400" dirty="0">
                <a:solidFill>
                  <a:schemeClr val="accent4"/>
                </a:solidFill>
              </a:rPr>
              <a:t>IP address of your laptop so that you push data to the S3 bucket.</a:t>
            </a:r>
          </a:p>
          <a:p>
            <a:r>
              <a:rPr lang="en-IN" sz="1400" dirty="0">
                <a:solidFill>
                  <a:schemeClr val="accent4"/>
                </a:solidFill>
              </a:rPr>
              <a:t>IP address of your EC2 instance so that it can pull data from it.</a:t>
            </a:r>
          </a:p>
        </p:txBody>
      </p:sp>
      <p:cxnSp>
        <p:nvCxnSpPr>
          <p:cNvPr id="6" name="Straight Arrow Connector 5">
            <a:extLst>
              <a:ext uri="{FF2B5EF4-FFF2-40B4-BE49-F238E27FC236}">
                <a16:creationId xmlns:a16="http://schemas.microsoft.com/office/drawing/2014/main" id="{582D1039-B9B2-53C2-872B-B7F05E6CC954}"/>
              </a:ext>
            </a:extLst>
          </p:cNvPr>
          <p:cNvCxnSpPr>
            <a:cxnSpLocks/>
          </p:cNvCxnSpPr>
          <p:nvPr/>
        </p:nvCxnSpPr>
        <p:spPr>
          <a:xfrm flipH="1">
            <a:off x="3200400" y="4667355"/>
            <a:ext cx="431221"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EF34A3B7-8642-2A7A-8C80-42B9721BD9C0}"/>
              </a:ext>
            </a:extLst>
          </p:cNvPr>
          <p:cNvCxnSpPr>
            <a:cxnSpLocks/>
          </p:cNvCxnSpPr>
          <p:nvPr/>
        </p:nvCxnSpPr>
        <p:spPr>
          <a:xfrm flipH="1">
            <a:off x="3221182" y="4871709"/>
            <a:ext cx="431221"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AC7D1C1-A88D-4A01-2854-A971B8BA7C0A}"/>
              </a:ext>
            </a:extLst>
          </p:cNvPr>
          <p:cNvSpPr txBox="1"/>
          <p:nvPr/>
        </p:nvSpPr>
        <p:spPr>
          <a:xfrm>
            <a:off x="3631621" y="5815322"/>
            <a:ext cx="5101936" cy="830997"/>
          </a:xfrm>
          <a:prstGeom prst="rect">
            <a:avLst/>
          </a:prstGeom>
          <a:noFill/>
        </p:spPr>
        <p:txBody>
          <a:bodyPr wrap="square" rtlCol="0">
            <a:spAutoFit/>
          </a:bodyPr>
          <a:lstStyle/>
          <a:p>
            <a:r>
              <a:rPr lang="en-US" sz="1600" b="1" u="sng" dirty="0">
                <a:solidFill>
                  <a:srgbClr val="FF0000"/>
                </a:solidFill>
              </a:rPr>
              <a:t>NOTE</a:t>
            </a:r>
            <a:r>
              <a:rPr lang="en-US" sz="1600" dirty="0">
                <a:solidFill>
                  <a:srgbClr val="FF0000"/>
                </a:solidFill>
              </a:rPr>
              <a:t>: </a:t>
            </a:r>
            <a:r>
              <a:rPr lang="en-US" sz="1600" dirty="0"/>
              <a:t>"/32" means a single IP address — it specifies a subnet mask of 255.255.255.255, allowing access only from that exact IP.</a:t>
            </a:r>
            <a:endParaRPr lang="en-IN" sz="1600" dirty="0"/>
          </a:p>
        </p:txBody>
      </p:sp>
    </p:spTree>
    <p:extLst>
      <p:ext uri="{BB962C8B-B14F-4D97-AF65-F5344CB8AC3E}">
        <p14:creationId xmlns:p14="http://schemas.microsoft.com/office/powerpoint/2010/main" val="2350592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3AF2E-9C7A-B2FC-AB4F-084FF938896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5457733-8688-20AE-9B2F-7D324EB12D74}"/>
              </a:ext>
            </a:extLst>
          </p:cNvPr>
          <p:cNvSpPr txBox="1"/>
          <p:nvPr/>
        </p:nvSpPr>
        <p:spPr>
          <a:xfrm>
            <a:off x="166255" y="145473"/>
            <a:ext cx="11835245" cy="400110"/>
          </a:xfrm>
          <a:prstGeom prst="rect">
            <a:avLst/>
          </a:prstGeom>
          <a:noFill/>
        </p:spPr>
        <p:txBody>
          <a:bodyPr wrap="square" rtlCol="0">
            <a:spAutoFit/>
          </a:bodyPr>
          <a:lstStyle/>
          <a:p>
            <a:r>
              <a:rPr lang="en-IN" sz="2000" b="1" dirty="0"/>
              <a:t>[1/2] AWS User to Access a Particular S3 Bucket</a:t>
            </a:r>
          </a:p>
        </p:txBody>
      </p:sp>
      <p:sp>
        <p:nvSpPr>
          <p:cNvPr id="3" name="TextBox 2">
            <a:extLst>
              <a:ext uri="{FF2B5EF4-FFF2-40B4-BE49-F238E27FC236}">
                <a16:creationId xmlns:a16="http://schemas.microsoft.com/office/drawing/2014/main" id="{AA7E3026-3751-304E-E9C2-8C407574F06C}"/>
              </a:ext>
            </a:extLst>
          </p:cNvPr>
          <p:cNvSpPr txBox="1"/>
          <p:nvPr/>
        </p:nvSpPr>
        <p:spPr>
          <a:xfrm>
            <a:off x="166254" y="545583"/>
            <a:ext cx="11835245" cy="4924425"/>
          </a:xfrm>
          <a:prstGeom prst="rect">
            <a:avLst/>
          </a:prstGeom>
          <a:noFill/>
        </p:spPr>
        <p:txBody>
          <a:bodyPr wrap="square" rtlCol="0">
            <a:spAutoFit/>
          </a:bodyPr>
          <a:lstStyle/>
          <a:p>
            <a:r>
              <a:rPr lang="en-IN" sz="1600" b="1" dirty="0"/>
              <a:t>Step 1. Go to IAM Console → Users → Create user</a:t>
            </a:r>
          </a:p>
          <a:p>
            <a:pPr marL="800100" lvl="1" indent="-342900">
              <a:buFont typeface="+mj-lt"/>
              <a:buAutoNum type="arabicPeriod"/>
            </a:pPr>
            <a:r>
              <a:rPr lang="en-IN" sz="1600" dirty="0"/>
              <a:t>Enter a username (e.g., s3-bucket-user)</a:t>
            </a:r>
          </a:p>
          <a:p>
            <a:pPr marL="800100" lvl="1" indent="-342900">
              <a:buFont typeface="+mj-lt"/>
              <a:buAutoNum type="arabicPeriod"/>
            </a:pPr>
            <a:r>
              <a:rPr lang="en-IN" sz="1600" dirty="0"/>
              <a:t>Click Next</a:t>
            </a:r>
          </a:p>
          <a:p>
            <a:r>
              <a:rPr lang="en-US" sz="1600" b="1" dirty="0"/>
              <a:t>Step 2. Set permissions</a:t>
            </a:r>
            <a:r>
              <a:rPr lang="en-US" sz="1600" dirty="0"/>
              <a:t> → choose </a:t>
            </a:r>
            <a:r>
              <a:rPr lang="en-US" sz="1600" b="1" dirty="0"/>
              <a:t>Attach policies directly</a:t>
            </a:r>
            <a:r>
              <a:rPr lang="en-US" sz="1600" dirty="0"/>
              <a:t> → click </a:t>
            </a:r>
            <a:r>
              <a:rPr lang="en-US" sz="1600" b="1" dirty="0"/>
              <a:t>“Create policy”</a:t>
            </a:r>
          </a:p>
          <a:p>
            <a:r>
              <a:rPr lang="en-US" sz="1600" b="1" dirty="0"/>
              <a:t>Step 3. Create custom policy</a:t>
            </a:r>
            <a:endParaRPr lang="en-US" sz="1600" dirty="0"/>
          </a:p>
          <a:p>
            <a:pPr marL="800100" lvl="1" indent="-342900">
              <a:buFont typeface="+mj-lt"/>
              <a:buAutoNum type="arabicPeriod"/>
            </a:pPr>
            <a:r>
              <a:rPr lang="en-US" sz="1600" dirty="0"/>
              <a:t>Go to </a:t>
            </a:r>
            <a:r>
              <a:rPr lang="en-US" sz="1600" b="1" dirty="0"/>
              <a:t>JSON</a:t>
            </a:r>
            <a:r>
              <a:rPr lang="en-US" sz="1600" dirty="0"/>
              <a:t> tab and paste this (replace </a:t>
            </a:r>
            <a:r>
              <a:rPr lang="en-US" dirty="0"/>
              <a:t>my-secure-bucket</a:t>
            </a:r>
            <a:r>
              <a:rPr lang="en-US" sz="1600" dirty="0"/>
              <a:t> with your bucket name):</a:t>
            </a:r>
          </a:p>
          <a:p>
            <a:pPr lvl="2"/>
            <a:r>
              <a:rPr lang="en-US" sz="1400" dirty="0"/>
              <a:t>{</a:t>
            </a:r>
          </a:p>
          <a:p>
            <a:pPr lvl="2"/>
            <a:r>
              <a:rPr lang="en-US" sz="1400" dirty="0"/>
              <a:t>  "Version": "2012-10-17",</a:t>
            </a:r>
          </a:p>
          <a:p>
            <a:pPr lvl="2"/>
            <a:r>
              <a:rPr lang="en-US" sz="1400" dirty="0"/>
              <a:t>  "Statement": [</a:t>
            </a:r>
          </a:p>
          <a:p>
            <a:pPr lvl="2"/>
            <a:r>
              <a:rPr lang="en-US" sz="1400" dirty="0"/>
              <a:t>    {</a:t>
            </a:r>
          </a:p>
          <a:p>
            <a:pPr lvl="2"/>
            <a:r>
              <a:rPr lang="en-US" sz="1400" dirty="0"/>
              <a:t>      "Effect": "Allow",</a:t>
            </a:r>
          </a:p>
          <a:p>
            <a:pPr lvl="2"/>
            <a:r>
              <a:rPr lang="en-US" sz="1400" dirty="0"/>
              <a:t>      "Action": "s3:*",</a:t>
            </a:r>
          </a:p>
          <a:p>
            <a:pPr lvl="2"/>
            <a:r>
              <a:rPr lang="en-US" sz="1400" dirty="0"/>
              <a:t>      "Resource": [</a:t>
            </a:r>
          </a:p>
          <a:p>
            <a:pPr lvl="2"/>
            <a:r>
              <a:rPr lang="en-US" sz="1400" dirty="0"/>
              <a:t>        "arn:aws:s3:::my-secure-bucket",</a:t>
            </a:r>
          </a:p>
          <a:p>
            <a:pPr lvl="2"/>
            <a:r>
              <a:rPr lang="en-US" sz="1400" dirty="0"/>
              <a:t>        "arn:aws:s3:::my-secure-bucket/*"</a:t>
            </a:r>
          </a:p>
          <a:p>
            <a:pPr lvl="2"/>
            <a:r>
              <a:rPr lang="en-US" sz="1400" dirty="0"/>
              <a:t>      ]</a:t>
            </a:r>
          </a:p>
          <a:p>
            <a:pPr lvl="2"/>
            <a:r>
              <a:rPr lang="en-US" sz="1400" dirty="0"/>
              <a:t>    }</a:t>
            </a:r>
          </a:p>
          <a:p>
            <a:pPr lvl="2"/>
            <a:r>
              <a:rPr lang="en-US" sz="1400" dirty="0"/>
              <a:t>  ]</a:t>
            </a:r>
          </a:p>
          <a:p>
            <a:pPr lvl="2"/>
            <a:r>
              <a:rPr lang="en-US" sz="1400" dirty="0"/>
              <a:t>}</a:t>
            </a:r>
          </a:p>
          <a:p>
            <a:pPr marL="800100" lvl="1" indent="-342900">
              <a:buFont typeface="+mj-lt"/>
              <a:buAutoNum type="arabicPeriod"/>
            </a:pPr>
            <a:r>
              <a:rPr lang="en-US" sz="1600" dirty="0"/>
              <a:t>Click </a:t>
            </a:r>
            <a:r>
              <a:rPr lang="en-US" sz="1600" b="1" dirty="0"/>
              <a:t>Next</a:t>
            </a:r>
            <a:r>
              <a:rPr lang="en-US" sz="1600" dirty="0"/>
              <a:t>, name it something like </a:t>
            </a:r>
            <a:r>
              <a:rPr lang="en-US" dirty="0" err="1"/>
              <a:t>FullAccessToMyBucket</a:t>
            </a:r>
            <a:r>
              <a:rPr lang="en-US" sz="1600" dirty="0"/>
              <a:t>, and </a:t>
            </a:r>
            <a:r>
              <a:rPr lang="en-US" sz="1600" b="1" dirty="0"/>
              <a:t>Create policy</a:t>
            </a:r>
            <a:r>
              <a:rPr lang="en-US" sz="1600" dirty="0"/>
              <a:t>.</a:t>
            </a:r>
          </a:p>
          <a:p>
            <a:endParaRPr lang="en-IN" sz="1600" dirty="0"/>
          </a:p>
        </p:txBody>
      </p:sp>
      <p:sp>
        <p:nvSpPr>
          <p:cNvPr id="4" name="TextBox 3">
            <a:extLst>
              <a:ext uri="{FF2B5EF4-FFF2-40B4-BE49-F238E27FC236}">
                <a16:creationId xmlns:a16="http://schemas.microsoft.com/office/drawing/2014/main" id="{A390DC10-08E3-DCDC-DA7A-A096C5CB3EB5}"/>
              </a:ext>
            </a:extLst>
          </p:cNvPr>
          <p:cNvSpPr txBox="1"/>
          <p:nvPr/>
        </p:nvSpPr>
        <p:spPr>
          <a:xfrm>
            <a:off x="4618757" y="3571890"/>
            <a:ext cx="5231823" cy="523220"/>
          </a:xfrm>
          <a:prstGeom prst="rect">
            <a:avLst/>
          </a:prstGeom>
          <a:noFill/>
        </p:spPr>
        <p:txBody>
          <a:bodyPr wrap="square" rtlCol="0">
            <a:spAutoFit/>
          </a:bodyPr>
          <a:lstStyle/>
          <a:p>
            <a:r>
              <a:rPr lang="en-IN" sz="1400" dirty="0">
                <a:solidFill>
                  <a:schemeClr val="accent4"/>
                </a:solidFill>
              </a:rPr>
              <a:t>Name of your S3 bucket</a:t>
            </a:r>
          </a:p>
          <a:p>
            <a:r>
              <a:rPr lang="en-IN" sz="1400" dirty="0">
                <a:solidFill>
                  <a:schemeClr val="accent4"/>
                </a:solidFill>
              </a:rPr>
              <a:t>Name of your S3 bucket</a:t>
            </a:r>
          </a:p>
        </p:txBody>
      </p:sp>
      <p:cxnSp>
        <p:nvCxnSpPr>
          <p:cNvPr id="5" name="Straight Arrow Connector 4">
            <a:extLst>
              <a:ext uri="{FF2B5EF4-FFF2-40B4-BE49-F238E27FC236}">
                <a16:creationId xmlns:a16="http://schemas.microsoft.com/office/drawing/2014/main" id="{AE675DBE-5944-CE09-B97A-144B5D2C4AB0}"/>
              </a:ext>
            </a:extLst>
          </p:cNvPr>
          <p:cNvCxnSpPr>
            <a:cxnSpLocks/>
          </p:cNvCxnSpPr>
          <p:nvPr/>
        </p:nvCxnSpPr>
        <p:spPr>
          <a:xfrm flipH="1">
            <a:off x="4187536" y="3729591"/>
            <a:ext cx="431221"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A4FCD354-0D56-400D-1C13-1FC56DAF2701}"/>
              </a:ext>
            </a:extLst>
          </p:cNvPr>
          <p:cNvCxnSpPr>
            <a:cxnSpLocks/>
          </p:cNvCxnSpPr>
          <p:nvPr/>
        </p:nvCxnSpPr>
        <p:spPr>
          <a:xfrm flipH="1">
            <a:off x="4208318" y="3933945"/>
            <a:ext cx="431221"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4846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F7665-42F3-DF3B-11B4-7CD37561A9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46BD94-6DAC-7D31-3BF4-FA6729BB4268}"/>
              </a:ext>
            </a:extLst>
          </p:cNvPr>
          <p:cNvSpPr txBox="1"/>
          <p:nvPr/>
        </p:nvSpPr>
        <p:spPr>
          <a:xfrm>
            <a:off x="166255" y="145473"/>
            <a:ext cx="11835245" cy="400110"/>
          </a:xfrm>
          <a:prstGeom prst="rect">
            <a:avLst/>
          </a:prstGeom>
          <a:noFill/>
        </p:spPr>
        <p:txBody>
          <a:bodyPr wrap="square" rtlCol="0">
            <a:spAutoFit/>
          </a:bodyPr>
          <a:lstStyle/>
          <a:p>
            <a:r>
              <a:rPr lang="en-IN" sz="2000" b="1" dirty="0"/>
              <a:t>[2/2] AWS User to Access a Particular S3 Bucket</a:t>
            </a:r>
          </a:p>
        </p:txBody>
      </p:sp>
      <p:sp>
        <p:nvSpPr>
          <p:cNvPr id="4" name="TextBox 3">
            <a:extLst>
              <a:ext uri="{FF2B5EF4-FFF2-40B4-BE49-F238E27FC236}">
                <a16:creationId xmlns:a16="http://schemas.microsoft.com/office/drawing/2014/main" id="{CF7FA3A7-4CB8-916C-AC47-B9851400732C}"/>
              </a:ext>
            </a:extLst>
          </p:cNvPr>
          <p:cNvSpPr txBox="1"/>
          <p:nvPr/>
        </p:nvSpPr>
        <p:spPr>
          <a:xfrm>
            <a:off x="166254" y="545583"/>
            <a:ext cx="11835245" cy="2308324"/>
          </a:xfrm>
          <a:prstGeom prst="rect">
            <a:avLst/>
          </a:prstGeom>
          <a:noFill/>
        </p:spPr>
        <p:txBody>
          <a:bodyPr wrap="square" rtlCol="0">
            <a:spAutoFit/>
          </a:bodyPr>
          <a:lstStyle/>
          <a:p>
            <a:r>
              <a:rPr lang="en-US" b="1" dirty="0"/>
              <a:t>Step 4. Attach the policy</a:t>
            </a:r>
          </a:p>
          <a:p>
            <a:pPr marL="800100" lvl="1" indent="-342900">
              <a:buFont typeface="+mj-lt"/>
              <a:buAutoNum type="arabicPeriod"/>
            </a:pPr>
            <a:r>
              <a:rPr lang="en-US" dirty="0"/>
              <a:t>Go back to the user creation screen</a:t>
            </a:r>
          </a:p>
          <a:p>
            <a:pPr marL="800100" lvl="1" indent="-342900">
              <a:buFont typeface="+mj-lt"/>
              <a:buAutoNum type="arabicPeriod"/>
            </a:pPr>
            <a:r>
              <a:rPr lang="en-US" dirty="0"/>
              <a:t>Click </a:t>
            </a:r>
            <a:r>
              <a:rPr lang="en-US" b="1" dirty="0"/>
              <a:t>Refresh</a:t>
            </a:r>
            <a:r>
              <a:rPr lang="en-US" dirty="0"/>
              <a:t> and attach the new policy </a:t>
            </a:r>
            <a:r>
              <a:rPr lang="en-US" dirty="0" err="1"/>
              <a:t>FullAccessToMyBucket</a:t>
            </a:r>
            <a:endParaRPr lang="en-US" dirty="0"/>
          </a:p>
          <a:p>
            <a:pPr marL="800100" lvl="1" indent="-342900">
              <a:buFont typeface="+mj-lt"/>
              <a:buAutoNum type="arabicPeriod"/>
            </a:pPr>
            <a:r>
              <a:rPr lang="en-US" dirty="0"/>
              <a:t>Click </a:t>
            </a:r>
            <a:r>
              <a:rPr lang="en-US" b="1" dirty="0"/>
              <a:t>Next → Create user</a:t>
            </a:r>
            <a:endParaRPr lang="en-US" dirty="0"/>
          </a:p>
          <a:p>
            <a:r>
              <a:rPr lang="en-US" b="1" dirty="0"/>
              <a:t>Step 5. Generate Access Keys (optional)</a:t>
            </a:r>
          </a:p>
          <a:p>
            <a:pPr marL="800100" lvl="1" indent="-342900">
              <a:buFont typeface="+mj-lt"/>
              <a:buAutoNum type="arabicPeriod"/>
            </a:pPr>
            <a:r>
              <a:rPr lang="en-US" dirty="0"/>
              <a:t>Open the new user → </a:t>
            </a:r>
            <a:r>
              <a:rPr lang="en-US" b="1" dirty="0"/>
              <a:t>Security credentials</a:t>
            </a:r>
            <a:r>
              <a:rPr lang="en-US" dirty="0"/>
              <a:t> tab</a:t>
            </a:r>
          </a:p>
          <a:p>
            <a:pPr marL="800100" lvl="1" indent="-342900">
              <a:buFont typeface="+mj-lt"/>
              <a:buAutoNum type="arabicPeriod"/>
            </a:pPr>
            <a:r>
              <a:rPr lang="en-US" dirty="0"/>
              <a:t>Click </a:t>
            </a:r>
            <a:r>
              <a:rPr lang="en-US" b="1" dirty="0"/>
              <a:t>Create access key</a:t>
            </a:r>
            <a:r>
              <a:rPr lang="en-US" dirty="0"/>
              <a:t> (choose “CLI” use case)</a:t>
            </a:r>
          </a:p>
          <a:p>
            <a:pPr marL="800100" lvl="1" indent="-342900">
              <a:buFont typeface="+mj-lt"/>
              <a:buAutoNum type="arabicPeriod"/>
            </a:pPr>
            <a:r>
              <a:rPr lang="en-US" dirty="0"/>
              <a:t>Save the Access Key ID and Secret Access Key</a:t>
            </a:r>
          </a:p>
        </p:txBody>
      </p:sp>
    </p:spTree>
    <p:extLst>
      <p:ext uri="{BB962C8B-B14F-4D97-AF65-F5344CB8AC3E}">
        <p14:creationId xmlns:p14="http://schemas.microsoft.com/office/powerpoint/2010/main" val="2268267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759C6-91E1-B9A5-5A9A-D47A5D40292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B18ECF-DF43-38E2-C4C5-F683BB5534C0}"/>
              </a:ext>
            </a:extLst>
          </p:cNvPr>
          <p:cNvSpPr txBox="1"/>
          <p:nvPr/>
        </p:nvSpPr>
        <p:spPr>
          <a:xfrm>
            <a:off x="166255" y="145473"/>
            <a:ext cx="11835245" cy="400110"/>
          </a:xfrm>
          <a:prstGeom prst="rect">
            <a:avLst/>
          </a:prstGeom>
          <a:noFill/>
        </p:spPr>
        <p:txBody>
          <a:bodyPr wrap="square" rtlCol="0">
            <a:spAutoFit/>
          </a:bodyPr>
          <a:lstStyle/>
          <a:p>
            <a:r>
              <a:rPr lang="en-IN" sz="2000" b="1" dirty="0"/>
              <a:t>[1/2] Free Subdomain Name</a:t>
            </a:r>
          </a:p>
        </p:txBody>
      </p:sp>
      <p:sp>
        <p:nvSpPr>
          <p:cNvPr id="3" name="TextBox 2">
            <a:extLst>
              <a:ext uri="{FF2B5EF4-FFF2-40B4-BE49-F238E27FC236}">
                <a16:creationId xmlns:a16="http://schemas.microsoft.com/office/drawing/2014/main" id="{B454F1B0-D0E1-CE3A-804D-1BF1CE8490DC}"/>
              </a:ext>
            </a:extLst>
          </p:cNvPr>
          <p:cNvSpPr txBox="1"/>
          <p:nvPr/>
        </p:nvSpPr>
        <p:spPr>
          <a:xfrm>
            <a:off x="166254" y="545583"/>
            <a:ext cx="11835245" cy="3847207"/>
          </a:xfrm>
          <a:prstGeom prst="rect">
            <a:avLst/>
          </a:prstGeom>
          <a:noFill/>
        </p:spPr>
        <p:txBody>
          <a:bodyPr wrap="square" rtlCol="0">
            <a:spAutoFit/>
          </a:bodyPr>
          <a:lstStyle/>
          <a:p>
            <a:pPr marL="285750" indent="-285750">
              <a:buFont typeface="Arial" panose="020B0604020202020204" pitchFamily="34" charset="0"/>
              <a:buChar char="•"/>
            </a:pPr>
            <a:r>
              <a:rPr lang="en-US" sz="1600" dirty="0"/>
              <a:t>Use a free subdomain from hosting providers (Netlify, </a:t>
            </a:r>
            <a:r>
              <a:rPr lang="en-US" sz="1600" dirty="0" err="1"/>
              <a:t>Vercel</a:t>
            </a:r>
            <a:r>
              <a:rPr lang="en-US" sz="1600" dirty="0"/>
              <a:t>, GitHub Pages) like </a:t>
            </a:r>
            <a:r>
              <a:rPr lang="en-US" dirty="0" err="1"/>
              <a:t>yourname.netlify.app</a:t>
            </a:r>
            <a:endParaRPr lang="en-US" dirty="0"/>
          </a:p>
          <a:p>
            <a:pPr marL="285750" indent="-285750">
              <a:buFont typeface="Arial" panose="020B0604020202020204" pitchFamily="34" charset="0"/>
              <a:buChar char="•"/>
            </a:pPr>
            <a:r>
              <a:rPr lang="en-US" sz="1600" dirty="0"/>
              <a:t>AWS (via Amazon Route 53) </a:t>
            </a:r>
            <a:r>
              <a:rPr lang="en-US" sz="1600" b="1" dirty="0"/>
              <a:t>does not</a:t>
            </a:r>
            <a:r>
              <a:rPr lang="en-US" sz="1600" dirty="0"/>
              <a:t> provide a free domain name registration. You must pay the annual registration fee for the domain you want.</a:t>
            </a:r>
          </a:p>
          <a:p>
            <a:pPr marL="285750" indent="-285750">
              <a:buFont typeface="Arial" panose="020B0604020202020204" pitchFamily="34" charset="0"/>
              <a:buChar char="•"/>
            </a:pPr>
            <a:r>
              <a:rPr lang="en-US" sz="1600" dirty="0"/>
              <a:t>GitHub Pages gives you hosting for static websites under </a:t>
            </a:r>
            <a:r>
              <a:rPr lang="en-US" dirty="0"/>
              <a:t>https://&lt;your-username&gt;.github.io</a:t>
            </a:r>
            <a:r>
              <a:rPr lang="en-US" sz="1600" dirty="0"/>
              <a:t> by default.</a:t>
            </a:r>
          </a:p>
          <a:p>
            <a:pPr marL="742950" lvl="1" indent="-285750">
              <a:buFont typeface="Courier New" panose="02070309020205020404" pitchFamily="49" charset="0"/>
              <a:buChar char="o"/>
            </a:pPr>
            <a:r>
              <a:rPr lang="en-US" sz="1600" dirty="0"/>
              <a:t>“orgname.github.io” is a GitHub-owned domain specifically reserved for GitHub Pages.</a:t>
            </a:r>
          </a:p>
          <a:p>
            <a:pPr marL="742950" lvl="1" indent="-285750">
              <a:buFont typeface="Courier New" panose="02070309020205020404" pitchFamily="49" charset="0"/>
              <a:buChar char="o"/>
            </a:pPr>
            <a:r>
              <a:rPr lang="en-US" sz="1600" dirty="0"/>
              <a:t>GitHub only allows hosting static sites (HTML/CSS/JS) under that subdomain — you cannot point it to an external IP or AWS service.</a:t>
            </a:r>
          </a:p>
          <a:p>
            <a:pPr marL="742950" lvl="1" indent="-285750">
              <a:buFont typeface="Courier New" panose="02070309020205020404" pitchFamily="49" charset="0"/>
              <a:buChar char="o"/>
            </a:pPr>
            <a:r>
              <a:rPr lang="en-US" sz="1600" dirty="0"/>
              <a:t>You don’t have control over DNS records for github.io, so you can’t create A or CNAME records to redirect traffic to your EC2 instance or AWS Load Balancer.</a:t>
            </a:r>
          </a:p>
          <a:p>
            <a:pPr marL="285750" indent="-285750">
              <a:buFont typeface="Arial" panose="020B0604020202020204" pitchFamily="34" charset="0"/>
              <a:buChar char="•"/>
            </a:pPr>
            <a:r>
              <a:rPr lang="en-US" sz="1600" dirty="0"/>
              <a:t>If you’re planning to host on AWS and want a </a:t>
            </a:r>
            <a:r>
              <a:rPr lang="en-US" sz="1600" i="1" dirty="0"/>
              <a:t>free subdomain</a:t>
            </a:r>
            <a:r>
              <a:rPr lang="en-US" sz="1600" dirty="0"/>
              <a:t>, here are some of the </a:t>
            </a:r>
            <a:r>
              <a:rPr lang="en-US" sz="1600" b="1" dirty="0"/>
              <a:t>most popular free subdomain providers</a:t>
            </a:r>
            <a:r>
              <a:rPr lang="en-US" sz="1600" dirty="0"/>
              <a:t> + typical domain-name formats you’ll get:</a:t>
            </a:r>
          </a:p>
          <a:p>
            <a:pPr marL="742950" lvl="1" indent="-285750">
              <a:buFont typeface="Courier New" panose="02070309020205020404" pitchFamily="49" charset="0"/>
              <a:buChar char="o"/>
            </a:pPr>
            <a:r>
              <a:rPr lang="en-US" sz="1600" dirty="0" err="1"/>
              <a:t>FreeDNS</a:t>
            </a:r>
            <a:endParaRPr lang="en-US" sz="1600" dirty="0"/>
          </a:p>
          <a:p>
            <a:pPr marL="742950" lvl="1" indent="-285750">
              <a:buFont typeface="Courier New" panose="02070309020205020404" pitchFamily="49" charset="0"/>
              <a:buChar char="o"/>
            </a:pPr>
            <a:r>
              <a:rPr lang="en-US" sz="1600" dirty="0" err="1"/>
              <a:t>DuckDNS</a:t>
            </a:r>
            <a:endParaRPr lang="en-US" sz="1600" dirty="0"/>
          </a:p>
          <a:p>
            <a:pPr marL="742950" lvl="1" indent="-285750">
              <a:buFont typeface="Courier New" panose="02070309020205020404" pitchFamily="49" charset="0"/>
              <a:buChar char="o"/>
            </a:pPr>
            <a:r>
              <a:rPr lang="en-US" sz="1600" dirty="0" err="1"/>
              <a:t>AwardSpace</a:t>
            </a:r>
            <a:endParaRPr lang="en-US" sz="1600" dirty="0"/>
          </a:p>
          <a:p>
            <a:pPr marL="742950" lvl="1" indent="-285750">
              <a:buFont typeface="Courier New" panose="02070309020205020404" pitchFamily="49" charset="0"/>
              <a:buChar char="o"/>
            </a:pPr>
            <a:r>
              <a:rPr lang="en-US" sz="1600" dirty="0"/>
              <a:t>Afraid.org</a:t>
            </a:r>
          </a:p>
        </p:txBody>
      </p:sp>
    </p:spTree>
    <p:extLst>
      <p:ext uri="{BB962C8B-B14F-4D97-AF65-F5344CB8AC3E}">
        <p14:creationId xmlns:p14="http://schemas.microsoft.com/office/powerpoint/2010/main" val="329525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BE93C-7AA1-C67D-7835-D8D4EA54D76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07DA10-D2B2-07FF-729D-8D2DCA64DDBE}"/>
              </a:ext>
            </a:extLst>
          </p:cNvPr>
          <p:cNvSpPr txBox="1"/>
          <p:nvPr/>
        </p:nvSpPr>
        <p:spPr>
          <a:xfrm>
            <a:off x="166255" y="145473"/>
            <a:ext cx="11835245" cy="400110"/>
          </a:xfrm>
          <a:prstGeom prst="rect">
            <a:avLst/>
          </a:prstGeom>
          <a:noFill/>
        </p:spPr>
        <p:txBody>
          <a:bodyPr wrap="square" rtlCol="0">
            <a:spAutoFit/>
          </a:bodyPr>
          <a:lstStyle/>
          <a:p>
            <a:r>
              <a:rPr lang="en-IN" sz="2000" b="1" dirty="0"/>
              <a:t>[2/2] Free Subdomain Name</a:t>
            </a:r>
          </a:p>
        </p:txBody>
      </p:sp>
      <p:sp>
        <p:nvSpPr>
          <p:cNvPr id="3" name="TextBox 2">
            <a:extLst>
              <a:ext uri="{FF2B5EF4-FFF2-40B4-BE49-F238E27FC236}">
                <a16:creationId xmlns:a16="http://schemas.microsoft.com/office/drawing/2014/main" id="{218B27B0-3856-96A4-F935-150D5950D759}"/>
              </a:ext>
            </a:extLst>
          </p:cNvPr>
          <p:cNvSpPr txBox="1"/>
          <p:nvPr/>
        </p:nvSpPr>
        <p:spPr>
          <a:xfrm>
            <a:off x="166254" y="545583"/>
            <a:ext cx="11835245" cy="2831544"/>
          </a:xfrm>
          <a:prstGeom prst="rect">
            <a:avLst/>
          </a:prstGeom>
          <a:noFill/>
        </p:spPr>
        <p:txBody>
          <a:bodyPr wrap="square" rtlCol="0">
            <a:spAutoFit/>
          </a:bodyPr>
          <a:lstStyle/>
          <a:p>
            <a:pPr marL="342900" indent="-342900">
              <a:buFont typeface="Arial" panose="020B0604020202020204" pitchFamily="34" charset="0"/>
              <a:buChar char="•"/>
            </a:pPr>
            <a:r>
              <a:rPr lang="en-US" sz="1600" dirty="0"/>
              <a:t>You </a:t>
            </a:r>
            <a:r>
              <a:rPr lang="en-US" sz="1600" b="1" dirty="0"/>
              <a:t>can absolutely use an Afraid.org (</a:t>
            </a:r>
            <a:r>
              <a:rPr lang="en-US" sz="1600" b="1" dirty="0" err="1"/>
              <a:t>FreeDNS</a:t>
            </a:r>
            <a:r>
              <a:rPr lang="en-US" sz="1600" b="1" dirty="0"/>
              <a:t>) subdomain for your </a:t>
            </a:r>
            <a:r>
              <a:rPr lang="en-US" sz="1600" b="1" dirty="0" err="1"/>
              <a:t>Streamlit</a:t>
            </a:r>
            <a:r>
              <a:rPr lang="en-US" sz="1600" b="1" dirty="0"/>
              <a:t> app on AWS</a:t>
            </a:r>
            <a:r>
              <a:rPr lang="en-US" sz="1600" dirty="0"/>
              <a:t>, even though it’s not a static site.</a:t>
            </a:r>
          </a:p>
          <a:p>
            <a:pPr marL="285750" indent="-285750">
              <a:buFont typeface="Arial" panose="020B0604020202020204" pitchFamily="34" charset="0"/>
              <a:buChar char="•"/>
            </a:pPr>
            <a:r>
              <a:rPr lang="en-US" sz="1600" dirty="0"/>
              <a:t>Here’s how it works and what you need to know 👇</a:t>
            </a:r>
          </a:p>
          <a:p>
            <a:pPr marL="742950" lvl="1" indent="-285750">
              <a:buFont typeface="Courier New" panose="02070309020205020404" pitchFamily="49" charset="0"/>
              <a:buChar char="o"/>
            </a:pPr>
            <a:r>
              <a:rPr lang="en-US" sz="1600" b="1" dirty="0"/>
              <a:t>You host your </a:t>
            </a:r>
            <a:r>
              <a:rPr lang="en-US" sz="1600" b="1" dirty="0" err="1"/>
              <a:t>Streamlit</a:t>
            </a:r>
            <a:r>
              <a:rPr lang="en-US" sz="1600" b="1" dirty="0"/>
              <a:t> app</a:t>
            </a:r>
            <a:r>
              <a:rPr lang="en-US" sz="1600" dirty="0"/>
              <a:t> on AWS (for example in an EC2 instance, running on port 8501).</a:t>
            </a:r>
          </a:p>
          <a:p>
            <a:pPr marL="742950" lvl="1" indent="-285750">
              <a:buFont typeface="Courier New" panose="02070309020205020404" pitchFamily="49" charset="0"/>
              <a:buChar char="o"/>
            </a:pPr>
            <a:r>
              <a:rPr lang="en-US" sz="1600" b="1" dirty="0"/>
              <a:t>Afraid.org gives you a free subdomain</a:t>
            </a:r>
            <a:r>
              <a:rPr lang="en-US" sz="1600" dirty="0"/>
              <a:t> (e.g., myapp.mooo.com or myapp.afraid.org).</a:t>
            </a:r>
          </a:p>
          <a:p>
            <a:pPr marL="742950" lvl="1" indent="-285750">
              <a:buFont typeface="Courier New" panose="02070309020205020404" pitchFamily="49" charset="0"/>
              <a:buChar char="o"/>
            </a:pPr>
            <a:r>
              <a:rPr lang="en-US" sz="1600" dirty="0"/>
              <a:t>In your Afraid.org DNS settings:</a:t>
            </a:r>
          </a:p>
          <a:p>
            <a:pPr marL="1200150" lvl="2" indent="-285750">
              <a:buFont typeface="Wingdings" panose="05000000000000000000" pitchFamily="2" charset="2"/>
              <a:buChar char="§"/>
            </a:pPr>
            <a:r>
              <a:rPr lang="en-US" sz="1600" dirty="0"/>
              <a:t>Create an </a:t>
            </a:r>
            <a:r>
              <a:rPr lang="en-US" sz="1600" b="1" dirty="0"/>
              <a:t>A record</a:t>
            </a:r>
            <a:r>
              <a:rPr lang="en-US" sz="1600" dirty="0"/>
              <a:t> pointing to your AWS </a:t>
            </a:r>
            <a:r>
              <a:rPr lang="en-US" sz="1600" b="1" dirty="0"/>
              <a:t>Elastic IP address</a:t>
            </a:r>
            <a:r>
              <a:rPr lang="en-US" sz="1600" dirty="0"/>
              <a:t> (static public IP of your EC2 instance).</a:t>
            </a:r>
          </a:p>
          <a:p>
            <a:pPr marL="1200150" lvl="2" indent="-285750">
              <a:buFont typeface="Wingdings" panose="05000000000000000000" pitchFamily="2" charset="2"/>
              <a:buChar char="§"/>
            </a:pPr>
            <a:r>
              <a:rPr lang="en-US" sz="1600" dirty="0"/>
              <a:t>If you’re using a </a:t>
            </a:r>
            <a:r>
              <a:rPr lang="en-US" sz="1600" b="1" dirty="0"/>
              <a:t>load balancer or CloudFront</a:t>
            </a:r>
            <a:r>
              <a:rPr lang="en-US" sz="1600" dirty="0"/>
              <a:t>, create a </a:t>
            </a:r>
            <a:r>
              <a:rPr lang="en-US" sz="1600" b="1" dirty="0"/>
              <a:t>CNAME record</a:t>
            </a:r>
            <a:r>
              <a:rPr lang="en-US" sz="1600" dirty="0"/>
              <a:t> pointing to its DNS name (e.g., abc123.elb.amazonaws.com).</a:t>
            </a:r>
          </a:p>
          <a:p>
            <a:pPr marL="742950" lvl="1" indent="-285750">
              <a:buFont typeface="Courier New" panose="02070309020205020404" pitchFamily="49" charset="0"/>
              <a:buChar char="o"/>
            </a:pPr>
            <a:r>
              <a:rPr lang="en-US" sz="1600" dirty="0"/>
              <a:t>Once the DNS record propagates (usually within minutes to a few hours), your </a:t>
            </a:r>
            <a:r>
              <a:rPr lang="en-US" sz="1600" dirty="0" err="1"/>
              <a:t>Streamlit</a:t>
            </a:r>
            <a:r>
              <a:rPr lang="en-US" sz="1600" dirty="0"/>
              <a:t> app becomes accessible at </a:t>
            </a:r>
            <a:r>
              <a:rPr lang="en-US" sz="1600" dirty="0">
                <a:hlinkClick r:id="rId2"/>
              </a:rPr>
              <a:t>http://myapp.afraid.org:8501</a:t>
            </a:r>
            <a:endParaRPr lang="en-US" sz="1600" dirty="0"/>
          </a:p>
          <a:p>
            <a:pPr marL="742950" lvl="1" indent="-285750">
              <a:buFont typeface="Courier New" panose="02070309020205020404" pitchFamily="49" charset="0"/>
              <a:buChar char="o"/>
            </a:pPr>
            <a:r>
              <a:rPr lang="en-US" sz="1600" dirty="0"/>
              <a:t>or, once you set up SSL: </a:t>
            </a:r>
            <a:r>
              <a:rPr lang="en-US" sz="1600" dirty="0">
                <a:hlinkClick r:id="rId3"/>
              </a:rPr>
              <a:t>https://myapp.afraid.org</a:t>
            </a:r>
            <a:r>
              <a:rPr lang="en-US" sz="1600" dirty="0"/>
              <a:t> </a:t>
            </a:r>
          </a:p>
        </p:txBody>
      </p:sp>
      <p:sp>
        <p:nvSpPr>
          <p:cNvPr id="4" name="Rectangle: Rounded Corners 3">
            <a:extLst>
              <a:ext uri="{FF2B5EF4-FFF2-40B4-BE49-F238E27FC236}">
                <a16:creationId xmlns:a16="http://schemas.microsoft.com/office/drawing/2014/main" id="{CDFFB00B-706C-4C1F-2DBB-BDA783D169D9}"/>
              </a:ext>
            </a:extLst>
          </p:cNvPr>
          <p:cNvSpPr/>
          <p:nvPr/>
        </p:nvSpPr>
        <p:spPr>
          <a:xfrm>
            <a:off x="3789218" y="4135582"/>
            <a:ext cx="4613563" cy="1818409"/>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dirty="0"/>
              <a:t>http://sanjaysapp.rinet.ai </a:t>
            </a:r>
          </a:p>
        </p:txBody>
      </p:sp>
    </p:spTree>
    <p:extLst>
      <p:ext uri="{BB962C8B-B14F-4D97-AF65-F5344CB8AC3E}">
        <p14:creationId xmlns:p14="http://schemas.microsoft.com/office/powerpoint/2010/main" val="2288296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B263C-2754-3E89-5338-09BCE4F3E4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AB05508-C96A-AA90-1B39-33FCE9DB9763}"/>
              </a:ext>
            </a:extLst>
          </p:cNvPr>
          <p:cNvSpPr txBox="1"/>
          <p:nvPr/>
        </p:nvSpPr>
        <p:spPr>
          <a:xfrm>
            <a:off x="166255" y="145473"/>
            <a:ext cx="11835245" cy="400110"/>
          </a:xfrm>
          <a:prstGeom prst="rect">
            <a:avLst/>
          </a:prstGeom>
          <a:noFill/>
        </p:spPr>
        <p:txBody>
          <a:bodyPr wrap="square" rtlCol="0">
            <a:spAutoFit/>
          </a:bodyPr>
          <a:lstStyle/>
          <a:p>
            <a:r>
              <a:rPr lang="en-IN" sz="2000" b="1" dirty="0"/>
              <a:t>[1/2] Making </a:t>
            </a:r>
            <a:r>
              <a:rPr lang="en-IN" sz="2000" b="1" dirty="0" err="1"/>
              <a:t>Streamlit</a:t>
            </a:r>
            <a:r>
              <a:rPr lang="en-IN" sz="2000" b="1" dirty="0"/>
              <a:t> app run on HTTPS (SSL)</a:t>
            </a:r>
          </a:p>
        </p:txBody>
      </p:sp>
      <p:sp>
        <p:nvSpPr>
          <p:cNvPr id="3" name="TextBox 2">
            <a:extLst>
              <a:ext uri="{FF2B5EF4-FFF2-40B4-BE49-F238E27FC236}">
                <a16:creationId xmlns:a16="http://schemas.microsoft.com/office/drawing/2014/main" id="{9B34DB99-3409-AC9A-5CBC-4B7C023705E2}"/>
              </a:ext>
            </a:extLst>
          </p:cNvPr>
          <p:cNvSpPr txBox="1"/>
          <p:nvPr/>
        </p:nvSpPr>
        <p:spPr>
          <a:xfrm>
            <a:off x="166254" y="545583"/>
            <a:ext cx="6130637" cy="6032421"/>
          </a:xfrm>
          <a:prstGeom prst="rect">
            <a:avLst/>
          </a:prstGeom>
          <a:noFill/>
        </p:spPr>
        <p:txBody>
          <a:bodyPr wrap="square" rtlCol="0">
            <a:spAutoFit/>
          </a:bodyPr>
          <a:lstStyle/>
          <a:p>
            <a:r>
              <a:rPr lang="en-IN" sz="1600" b="1" dirty="0"/>
              <a:t>Step 1. Security Group Sanity</a:t>
            </a:r>
          </a:p>
          <a:p>
            <a:pPr marL="742950" lvl="1" indent="-285750">
              <a:buFont typeface="Arial" panose="020B0604020202020204" pitchFamily="34" charset="0"/>
              <a:buChar char="•"/>
            </a:pPr>
            <a:r>
              <a:rPr lang="en-IN" sz="1600" dirty="0"/>
              <a:t>Delete the following Inbound rules in the Security Group of your EC2 instance: 8501 (to serve </a:t>
            </a:r>
            <a:r>
              <a:rPr lang="en-IN" sz="1600" dirty="0" err="1"/>
              <a:t>Streamlit</a:t>
            </a:r>
            <a:r>
              <a:rPr lang="en-IN" sz="1600" dirty="0"/>
              <a:t> app) to the public</a:t>
            </a:r>
          </a:p>
          <a:p>
            <a:pPr marL="742950" lvl="1" indent="-285750">
              <a:buFont typeface="Arial" panose="020B0604020202020204" pitchFamily="34" charset="0"/>
              <a:buChar char="•"/>
            </a:pPr>
            <a:r>
              <a:rPr lang="en-IN" sz="1600" dirty="0"/>
              <a:t>Add the inbound rule for “HTTP” on port 80 and “HTTPS” on port 443</a:t>
            </a:r>
          </a:p>
          <a:p>
            <a:pPr marL="742950" lvl="1" indent="-285750">
              <a:buFont typeface="Arial" panose="020B0604020202020204" pitchFamily="34" charset="0"/>
              <a:buChar char="•"/>
            </a:pPr>
            <a:r>
              <a:rPr lang="en-US" sz="1600" dirty="0"/>
              <a:t>You’ll bind the container to </a:t>
            </a:r>
            <a:r>
              <a:rPr lang="en-US" sz="1600" b="1" dirty="0"/>
              <a:t>127.0.0.1:8501</a:t>
            </a:r>
            <a:r>
              <a:rPr lang="en-US" sz="1600" dirty="0"/>
              <a:t> so only Nginx can reach it</a:t>
            </a:r>
          </a:p>
          <a:p>
            <a:r>
              <a:rPr lang="en-US" sz="1600" b="1" dirty="0"/>
              <a:t>Step 2. Install Nginx + </a:t>
            </a:r>
            <a:r>
              <a:rPr lang="en-US" sz="1600" b="1" dirty="0" err="1"/>
              <a:t>Certbot</a:t>
            </a:r>
            <a:r>
              <a:rPr lang="en-US" sz="1600" b="1" dirty="0"/>
              <a:t> on the EC2 host</a:t>
            </a:r>
          </a:p>
          <a:p>
            <a:pPr lvl="1"/>
            <a:r>
              <a:rPr lang="en-US" sz="1600" i="1" dirty="0" err="1"/>
              <a:t>sudo</a:t>
            </a:r>
            <a:r>
              <a:rPr lang="en-US" sz="1600" i="1" dirty="0"/>
              <a:t> apt update</a:t>
            </a:r>
          </a:p>
          <a:p>
            <a:pPr lvl="1"/>
            <a:r>
              <a:rPr lang="en-US" sz="1600" i="1" dirty="0" err="1"/>
              <a:t>sudo</a:t>
            </a:r>
            <a:r>
              <a:rPr lang="en-US" sz="1600" i="1" dirty="0"/>
              <a:t> apt install -y nginx </a:t>
            </a:r>
            <a:r>
              <a:rPr lang="en-US" sz="1600" i="1" dirty="0" err="1"/>
              <a:t>certbot</a:t>
            </a:r>
            <a:r>
              <a:rPr lang="en-US" sz="1600" i="1" dirty="0"/>
              <a:t> python3-certbot-nginx</a:t>
            </a:r>
          </a:p>
          <a:p>
            <a:r>
              <a:rPr lang="en-US" sz="1600" b="1" dirty="0"/>
              <a:t>Step 3. </a:t>
            </a:r>
            <a:r>
              <a:rPr lang="en-IN" sz="1600" b="1" dirty="0"/>
              <a:t>Enable &amp; start Nginx</a:t>
            </a:r>
          </a:p>
          <a:p>
            <a:pPr lvl="1"/>
            <a:r>
              <a:rPr lang="en-US" sz="1600" i="1" dirty="0" err="1"/>
              <a:t>sudo</a:t>
            </a:r>
            <a:r>
              <a:rPr lang="en-US" sz="1600" i="1" dirty="0"/>
              <a:t> </a:t>
            </a:r>
            <a:r>
              <a:rPr lang="en-US" sz="1600" i="1" dirty="0" err="1"/>
              <a:t>systemctl</a:t>
            </a:r>
            <a:r>
              <a:rPr lang="en-US" sz="1600" i="1" dirty="0"/>
              <a:t> enable nginx</a:t>
            </a:r>
          </a:p>
          <a:p>
            <a:pPr lvl="1"/>
            <a:r>
              <a:rPr lang="en-US" sz="1600" i="1" dirty="0" err="1"/>
              <a:t>sudo</a:t>
            </a:r>
            <a:r>
              <a:rPr lang="en-US" sz="1600" i="1" dirty="0"/>
              <a:t> </a:t>
            </a:r>
            <a:r>
              <a:rPr lang="en-US" sz="1600" i="1" dirty="0" err="1"/>
              <a:t>systemctl</a:t>
            </a:r>
            <a:r>
              <a:rPr lang="en-US" sz="1600" i="1" dirty="0"/>
              <a:t> start nginx</a:t>
            </a:r>
          </a:p>
          <a:p>
            <a:r>
              <a:rPr lang="en-US" sz="1600" b="1" dirty="0"/>
              <a:t>Step 4. Add an Nginx virtual host for your domain</a:t>
            </a:r>
          </a:p>
          <a:p>
            <a:pPr lvl="1"/>
            <a:r>
              <a:rPr lang="en-US" sz="1600" dirty="0"/>
              <a:t>Create a site for </a:t>
            </a:r>
            <a:r>
              <a:rPr lang="en-US" dirty="0"/>
              <a:t>app.example.com</a:t>
            </a:r>
            <a:r>
              <a:rPr lang="en-US" sz="1600" dirty="0"/>
              <a:t> that proxies to the container on </a:t>
            </a:r>
            <a:r>
              <a:rPr lang="en-US" sz="1600" b="1" dirty="0"/>
              <a:t>127.0.0.1:8501</a:t>
            </a:r>
            <a:r>
              <a:rPr lang="en-US" sz="1600" dirty="0"/>
              <a:t>.</a:t>
            </a:r>
          </a:p>
          <a:p>
            <a:pPr marL="742950" lvl="1" indent="-285750">
              <a:buFont typeface="Courier New" panose="02070309020205020404" pitchFamily="49" charset="0"/>
              <a:buChar char="o"/>
            </a:pPr>
            <a:r>
              <a:rPr lang="en-US" sz="1600" dirty="0"/>
              <a:t>Run this command:</a:t>
            </a:r>
          </a:p>
          <a:p>
            <a:pPr marL="742950" lvl="1" indent="-285750">
              <a:buFont typeface="Courier New" panose="02070309020205020404" pitchFamily="49" charset="0"/>
              <a:buChar char="o"/>
            </a:pPr>
            <a:r>
              <a:rPr lang="en-US" sz="1600" i="1" dirty="0" err="1"/>
              <a:t>sudo</a:t>
            </a:r>
            <a:r>
              <a:rPr lang="en-US" sz="1600" i="1" dirty="0"/>
              <a:t> ln -s /</a:t>
            </a:r>
            <a:r>
              <a:rPr lang="en-US" sz="1600" i="1" dirty="0" err="1"/>
              <a:t>etc</a:t>
            </a:r>
            <a:r>
              <a:rPr lang="en-US" sz="1600" i="1" dirty="0"/>
              <a:t>/nginx/sites-available/</a:t>
            </a:r>
            <a:r>
              <a:rPr lang="en-US" sz="1600" i="1" dirty="0" err="1"/>
              <a:t>streamlit</a:t>
            </a:r>
            <a:r>
              <a:rPr lang="en-US" sz="1600" i="1" dirty="0"/>
              <a:t> /</a:t>
            </a:r>
            <a:r>
              <a:rPr lang="en-US" sz="1600" i="1" dirty="0" err="1"/>
              <a:t>etc</a:t>
            </a:r>
            <a:r>
              <a:rPr lang="en-US" sz="1600" i="1" dirty="0"/>
              <a:t>/nginx/sites-enabled/</a:t>
            </a:r>
            <a:r>
              <a:rPr lang="en-US" sz="1600" i="1" dirty="0" err="1"/>
              <a:t>streamlit</a:t>
            </a:r>
            <a:endParaRPr lang="en-US" sz="1600" i="1" dirty="0"/>
          </a:p>
          <a:p>
            <a:pPr marL="742950" lvl="1" indent="-285750">
              <a:buFont typeface="Courier New" panose="02070309020205020404" pitchFamily="49" charset="0"/>
              <a:buChar char="o"/>
            </a:pPr>
            <a:r>
              <a:rPr lang="en-US" sz="1600" i="1" dirty="0" err="1"/>
              <a:t>sudo</a:t>
            </a:r>
            <a:r>
              <a:rPr lang="en-US" sz="1600" i="1" dirty="0"/>
              <a:t> nginx -t &amp;&amp; </a:t>
            </a:r>
            <a:r>
              <a:rPr lang="en-US" sz="1600" i="1" dirty="0" err="1"/>
              <a:t>sudo</a:t>
            </a:r>
            <a:r>
              <a:rPr lang="en-US" sz="1600" i="1" dirty="0"/>
              <a:t> </a:t>
            </a:r>
            <a:r>
              <a:rPr lang="en-US" sz="1600" i="1" dirty="0" err="1"/>
              <a:t>systemctl</a:t>
            </a:r>
            <a:r>
              <a:rPr lang="en-US" sz="1600" i="1" dirty="0"/>
              <a:t> reload nginx</a:t>
            </a:r>
          </a:p>
          <a:p>
            <a:pPr marL="742950" lvl="1" indent="-285750">
              <a:buFont typeface="Courier New" panose="02070309020205020404" pitchFamily="49" charset="0"/>
              <a:buChar char="o"/>
            </a:pPr>
            <a:r>
              <a:rPr lang="en-US" sz="1600" b="1" dirty="0">
                <a:solidFill>
                  <a:srgbClr val="FF0000"/>
                </a:solidFill>
              </a:rPr>
              <a:t>(Update domain name and email ID)</a:t>
            </a:r>
            <a:r>
              <a:rPr lang="en-US" sz="1600" dirty="0"/>
              <a:t> </a:t>
            </a:r>
            <a:r>
              <a:rPr lang="en-US" sz="1600" i="1" dirty="0" err="1"/>
              <a:t>sudo</a:t>
            </a:r>
            <a:r>
              <a:rPr lang="en-US" sz="1600" i="1" dirty="0"/>
              <a:t> </a:t>
            </a:r>
            <a:r>
              <a:rPr lang="en-US" sz="1600" i="1" dirty="0" err="1"/>
              <a:t>certbot</a:t>
            </a:r>
            <a:r>
              <a:rPr lang="en-US" sz="1600" i="1" dirty="0"/>
              <a:t> --nginx -d app.example.com --agree-</a:t>
            </a:r>
            <a:r>
              <a:rPr lang="en-US" sz="1600" i="1" dirty="0" err="1"/>
              <a:t>tos</a:t>
            </a:r>
            <a:r>
              <a:rPr lang="en-US" sz="1600" i="1" dirty="0"/>
              <a:t> -m you@example.com --redirect</a:t>
            </a:r>
          </a:p>
        </p:txBody>
      </p:sp>
      <p:sp>
        <p:nvSpPr>
          <p:cNvPr id="4" name="Rectangle 3">
            <a:extLst>
              <a:ext uri="{FF2B5EF4-FFF2-40B4-BE49-F238E27FC236}">
                <a16:creationId xmlns:a16="http://schemas.microsoft.com/office/drawing/2014/main" id="{190FE810-A3F1-B232-0B09-E8FA671D097C}"/>
              </a:ext>
            </a:extLst>
          </p:cNvPr>
          <p:cNvSpPr/>
          <p:nvPr/>
        </p:nvSpPr>
        <p:spPr>
          <a:xfrm>
            <a:off x="6296891" y="545583"/>
            <a:ext cx="5704610" cy="6166944"/>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r>
              <a:rPr lang="en-IN" sz="1200" i="1" dirty="0" err="1"/>
              <a:t>sudo</a:t>
            </a:r>
            <a:r>
              <a:rPr lang="en-IN" sz="1200" i="1" dirty="0"/>
              <a:t> tee /etc/nginx/sites-available/</a:t>
            </a:r>
            <a:r>
              <a:rPr lang="en-IN" sz="1200" i="1" dirty="0" err="1"/>
              <a:t>streamlit</a:t>
            </a:r>
            <a:r>
              <a:rPr lang="en-IN" sz="1200" i="1" dirty="0"/>
              <a:t> &lt;&lt;'EOF'</a:t>
            </a:r>
          </a:p>
          <a:p>
            <a:r>
              <a:rPr lang="en-IN" sz="1200" i="1" dirty="0"/>
              <a:t>server {</a:t>
            </a:r>
          </a:p>
          <a:p>
            <a:r>
              <a:rPr lang="en-IN" sz="1200" i="1" dirty="0"/>
              <a:t>    listen 80;</a:t>
            </a:r>
          </a:p>
          <a:p>
            <a:r>
              <a:rPr lang="en-IN" sz="1200" i="1" dirty="0"/>
              <a:t>    </a:t>
            </a:r>
            <a:r>
              <a:rPr lang="en-IN" sz="1200" i="1" dirty="0" err="1"/>
              <a:t>server_name</a:t>
            </a:r>
            <a:r>
              <a:rPr lang="en-IN" sz="1200" i="1" dirty="0"/>
              <a:t> </a:t>
            </a:r>
            <a:r>
              <a:rPr lang="en-IN" sz="1200" b="1" i="1" dirty="0">
                <a:solidFill>
                  <a:srgbClr val="FF0000"/>
                </a:solidFill>
              </a:rPr>
              <a:t>app.example.com</a:t>
            </a:r>
            <a:r>
              <a:rPr lang="en-IN" sz="1200" i="1" dirty="0"/>
              <a:t>;</a:t>
            </a:r>
          </a:p>
          <a:p>
            <a:r>
              <a:rPr lang="en-US" sz="1200" i="1" dirty="0"/>
              <a:t>    </a:t>
            </a:r>
          </a:p>
          <a:p>
            <a:r>
              <a:rPr lang="en-US" sz="1200" i="1" dirty="0"/>
              <a:t>    # Allow </a:t>
            </a:r>
            <a:r>
              <a:rPr lang="en-US" sz="1200" i="1" dirty="0" err="1"/>
              <a:t>Certbot</a:t>
            </a:r>
            <a:r>
              <a:rPr lang="en-US" sz="1200" i="1" dirty="0"/>
              <a:t> challenge for initial certificate issuance</a:t>
            </a:r>
          </a:p>
          <a:p>
            <a:r>
              <a:rPr lang="en-US" sz="1200" i="1" dirty="0"/>
              <a:t>    location /.well-known/acme-challenge/ {</a:t>
            </a:r>
          </a:p>
          <a:p>
            <a:r>
              <a:rPr lang="en-US" sz="1200" i="1" dirty="0"/>
              <a:t>        root /var/www/html;</a:t>
            </a:r>
          </a:p>
          <a:p>
            <a:r>
              <a:rPr lang="en-US" sz="1200" i="1" dirty="0"/>
              <a:t>    }</a:t>
            </a:r>
          </a:p>
          <a:p>
            <a:endParaRPr lang="en-IN" sz="1200" i="1" dirty="0"/>
          </a:p>
          <a:p>
            <a:r>
              <a:rPr lang="en-IN" sz="1200" i="1" dirty="0"/>
              <a:t>    location / {</a:t>
            </a:r>
          </a:p>
          <a:p>
            <a:r>
              <a:rPr lang="en-IN" sz="1200" i="1" dirty="0"/>
              <a:t>        </a:t>
            </a:r>
            <a:r>
              <a:rPr lang="en-IN" sz="1200" i="1" dirty="0" err="1"/>
              <a:t>proxy_pass</a:t>
            </a:r>
            <a:r>
              <a:rPr lang="en-IN" sz="1200" i="1" dirty="0"/>
              <a:t> http://127.0.0.1:8501;</a:t>
            </a:r>
          </a:p>
          <a:p>
            <a:r>
              <a:rPr lang="en-IN" sz="1200" i="1" dirty="0"/>
              <a:t>        </a:t>
            </a:r>
            <a:r>
              <a:rPr lang="en-IN" sz="1200" i="1" dirty="0" err="1"/>
              <a:t>proxy_http_version</a:t>
            </a:r>
            <a:r>
              <a:rPr lang="en-IN" sz="1200" i="1" dirty="0"/>
              <a:t> 1.1;</a:t>
            </a:r>
          </a:p>
          <a:p>
            <a:endParaRPr lang="en-IN" sz="1200" i="1" dirty="0"/>
          </a:p>
          <a:p>
            <a:r>
              <a:rPr lang="en-IN" sz="1200" i="1" dirty="0"/>
              <a:t>        # WebSocket support (</a:t>
            </a:r>
            <a:r>
              <a:rPr lang="en-IN" sz="1200" i="1" dirty="0" err="1"/>
              <a:t>Streamlit</a:t>
            </a:r>
            <a:r>
              <a:rPr lang="en-IN" sz="1200" i="1" dirty="0"/>
              <a:t> uses it)</a:t>
            </a:r>
          </a:p>
          <a:p>
            <a:r>
              <a:rPr lang="en-IN" sz="1200" i="1" dirty="0"/>
              <a:t>        </a:t>
            </a:r>
            <a:r>
              <a:rPr lang="en-IN" sz="1200" i="1" dirty="0" err="1"/>
              <a:t>proxy_set_header</a:t>
            </a:r>
            <a:r>
              <a:rPr lang="en-IN" sz="1200" i="1" dirty="0"/>
              <a:t> Upgrade $</a:t>
            </a:r>
            <a:r>
              <a:rPr lang="en-IN" sz="1200" i="1" dirty="0" err="1"/>
              <a:t>http_upgrade</a:t>
            </a:r>
            <a:r>
              <a:rPr lang="en-IN" sz="1200" i="1" dirty="0"/>
              <a:t>;</a:t>
            </a:r>
          </a:p>
          <a:p>
            <a:r>
              <a:rPr lang="en-IN" sz="1200" i="1" dirty="0"/>
              <a:t>        </a:t>
            </a:r>
            <a:r>
              <a:rPr lang="en-IN" sz="1200" i="1" dirty="0" err="1"/>
              <a:t>proxy_set_header</a:t>
            </a:r>
            <a:r>
              <a:rPr lang="en-IN" sz="1200" i="1" dirty="0"/>
              <a:t> Connection "upgrade";</a:t>
            </a:r>
          </a:p>
          <a:p>
            <a:endParaRPr lang="en-IN" sz="1200" i="1" dirty="0"/>
          </a:p>
          <a:p>
            <a:r>
              <a:rPr lang="en-IN" sz="1200" i="1" dirty="0"/>
              <a:t>        # Forward client info</a:t>
            </a:r>
          </a:p>
          <a:p>
            <a:r>
              <a:rPr lang="en-IN" sz="1200" i="1" dirty="0"/>
              <a:t>        </a:t>
            </a:r>
            <a:r>
              <a:rPr lang="en-IN" sz="1200" i="1" dirty="0" err="1"/>
              <a:t>proxy_set_header</a:t>
            </a:r>
            <a:r>
              <a:rPr lang="en-IN" sz="1200" i="1" dirty="0"/>
              <a:t> Host $host;</a:t>
            </a:r>
          </a:p>
          <a:p>
            <a:r>
              <a:rPr lang="en-IN" sz="1200" i="1" dirty="0"/>
              <a:t>        </a:t>
            </a:r>
            <a:r>
              <a:rPr lang="en-IN" sz="1200" i="1" dirty="0" err="1"/>
              <a:t>proxy_set_header</a:t>
            </a:r>
            <a:r>
              <a:rPr lang="en-IN" sz="1200" i="1" dirty="0"/>
              <a:t> X-Real-IP $</a:t>
            </a:r>
            <a:r>
              <a:rPr lang="en-IN" sz="1200" i="1" dirty="0" err="1"/>
              <a:t>remote_addr</a:t>
            </a:r>
            <a:r>
              <a:rPr lang="en-IN" sz="1200" i="1" dirty="0"/>
              <a:t>;</a:t>
            </a:r>
          </a:p>
          <a:p>
            <a:r>
              <a:rPr lang="en-IN" sz="1200" i="1" dirty="0"/>
              <a:t>        </a:t>
            </a:r>
            <a:r>
              <a:rPr lang="en-IN" sz="1200" i="1" dirty="0" err="1"/>
              <a:t>proxy_set_header</a:t>
            </a:r>
            <a:r>
              <a:rPr lang="en-IN" sz="1200" i="1" dirty="0"/>
              <a:t> X-Forwarded-For $</a:t>
            </a:r>
            <a:r>
              <a:rPr lang="en-IN" sz="1200" i="1" dirty="0" err="1"/>
              <a:t>proxy_add_x_forwarded_for</a:t>
            </a:r>
            <a:r>
              <a:rPr lang="en-IN" sz="1200" i="1" dirty="0"/>
              <a:t>;</a:t>
            </a:r>
          </a:p>
          <a:p>
            <a:r>
              <a:rPr lang="en-IN" sz="1200" i="1" dirty="0"/>
              <a:t>        </a:t>
            </a:r>
            <a:r>
              <a:rPr lang="en-IN" sz="1200" i="1" dirty="0" err="1"/>
              <a:t>proxy_set_header</a:t>
            </a:r>
            <a:r>
              <a:rPr lang="en-IN" sz="1200" i="1" dirty="0"/>
              <a:t> X-Forwarded-Proto $scheme;</a:t>
            </a:r>
          </a:p>
          <a:p>
            <a:endParaRPr lang="en-IN" sz="1200" i="1" dirty="0"/>
          </a:p>
          <a:p>
            <a:r>
              <a:rPr lang="en-IN" sz="1200" i="1" dirty="0"/>
              <a:t>        # Keep sessions stable</a:t>
            </a:r>
          </a:p>
          <a:p>
            <a:r>
              <a:rPr lang="en-IN" sz="1200" i="1" dirty="0"/>
              <a:t>        </a:t>
            </a:r>
            <a:r>
              <a:rPr lang="en-IN" sz="1200" i="1" dirty="0" err="1"/>
              <a:t>proxy_read_timeout</a:t>
            </a:r>
            <a:r>
              <a:rPr lang="en-IN" sz="1200" i="1" dirty="0"/>
              <a:t> 3600;</a:t>
            </a:r>
          </a:p>
          <a:p>
            <a:r>
              <a:rPr lang="en-IN" sz="1200" i="1" dirty="0"/>
              <a:t>        </a:t>
            </a:r>
            <a:r>
              <a:rPr lang="en-IN" sz="1200" i="1" dirty="0" err="1"/>
              <a:t>proxy_send_timeout</a:t>
            </a:r>
            <a:r>
              <a:rPr lang="en-IN" sz="1200" i="1" dirty="0"/>
              <a:t> 3600;</a:t>
            </a:r>
          </a:p>
          <a:p>
            <a:endParaRPr lang="en-IN" sz="1200" i="1" dirty="0"/>
          </a:p>
          <a:p>
            <a:r>
              <a:rPr lang="en-IN" sz="1200" i="1" dirty="0"/>
              <a:t>        # Reduce buffering for interactive apps</a:t>
            </a:r>
          </a:p>
          <a:p>
            <a:r>
              <a:rPr lang="en-IN" sz="1200" i="1" dirty="0"/>
              <a:t>        </a:t>
            </a:r>
            <a:r>
              <a:rPr lang="en-IN" sz="1200" i="1" dirty="0" err="1"/>
              <a:t>proxy_buffering</a:t>
            </a:r>
            <a:r>
              <a:rPr lang="en-IN" sz="1200" i="1" dirty="0"/>
              <a:t> off;</a:t>
            </a:r>
          </a:p>
          <a:p>
            <a:r>
              <a:rPr lang="en-IN" sz="1200" i="1" dirty="0"/>
              <a:t>    }</a:t>
            </a:r>
          </a:p>
          <a:p>
            <a:r>
              <a:rPr lang="en-IN" sz="1200" i="1" dirty="0"/>
              <a:t>}</a:t>
            </a:r>
          </a:p>
          <a:p>
            <a:r>
              <a:rPr lang="en-IN" sz="1200" i="1" dirty="0"/>
              <a:t>EOF</a:t>
            </a:r>
          </a:p>
        </p:txBody>
      </p:sp>
      <p:cxnSp>
        <p:nvCxnSpPr>
          <p:cNvPr id="6" name="Straight Arrow Connector 5">
            <a:extLst>
              <a:ext uri="{FF2B5EF4-FFF2-40B4-BE49-F238E27FC236}">
                <a16:creationId xmlns:a16="http://schemas.microsoft.com/office/drawing/2014/main" id="{21761319-619C-E771-FAB8-C972796103DD}"/>
              </a:ext>
            </a:extLst>
          </p:cNvPr>
          <p:cNvCxnSpPr/>
          <p:nvPr/>
        </p:nvCxnSpPr>
        <p:spPr>
          <a:xfrm>
            <a:off x="2753591" y="4416136"/>
            <a:ext cx="3543300"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83828C4-A3DC-F2A8-BD26-918925D9D036}"/>
              </a:ext>
            </a:extLst>
          </p:cNvPr>
          <p:cNvSpPr txBox="1"/>
          <p:nvPr/>
        </p:nvSpPr>
        <p:spPr>
          <a:xfrm>
            <a:off x="9313715" y="1091045"/>
            <a:ext cx="2337955" cy="307777"/>
          </a:xfrm>
          <a:prstGeom prst="rect">
            <a:avLst/>
          </a:prstGeom>
          <a:noFill/>
        </p:spPr>
        <p:txBody>
          <a:bodyPr wrap="square" rtlCol="0">
            <a:spAutoFit/>
          </a:bodyPr>
          <a:lstStyle/>
          <a:p>
            <a:r>
              <a:rPr lang="en-IN" sz="1400" b="1" dirty="0">
                <a:solidFill>
                  <a:srgbClr val="FF0000"/>
                </a:solidFill>
              </a:rPr>
              <a:t>Update this domain name</a:t>
            </a:r>
          </a:p>
        </p:txBody>
      </p:sp>
      <p:cxnSp>
        <p:nvCxnSpPr>
          <p:cNvPr id="8" name="Straight Arrow Connector 7">
            <a:extLst>
              <a:ext uri="{FF2B5EF4-FFF2-40B4-BE49-F238E27FC236}">
                <a16:creationId xmlns:a16="http://schemas.microsoft.com/office/drawing/2014/main" id="{1757680B-F467-C816-1729-B284EF16D01E}"/>
              </a:ext>
            </a:extLst>
          </p:cNvPr>
          <p:cNvCxnSpPr>
            <a:cxnSpLocks/>
          </p:cNvCxnSpPr>
          <p:nvPr/>
        </p:nvCxnSpPr>
        <p:spPr>
          <a:xfrm flipH="1">
            <a:off x="8775120" y="1244933"/>
            <a:ext cx="538595" cy="0"/>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818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C50B0-E659-93F2-75F5-485AA491D8D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D63E95-E5F9-8580-9F74-C3F61B6AB455}"/>
              </a:ext>
            </a:extLst>
          </p:cNvPr>
          <p:cNvSpPr txBox="1"/>
          <p:nvPr/>
        </p:nvSpPr>
        <p:spPr>
          <a:xfrm>
            <a:off x="166255" y="145473"/>
            <a:ext cx="11835245" cy="400110"/>
          </a:xfrm>
          <a:prstGeom prst="rect">
            <a:avLst/>
          </a:prstGeom>
          <a:noFill/>
        </p:spPr>
        <p:txBody>
          <a:bodyPr wrap="square" rtlCol="0">
            <a:spAutoFit/>
          </a:bodyPr>
          <a:lstStyle/>
          <a:p>
            <a:r>
              <a:rPr lang="en-IN" sz="2000" b="1" dirty="0"/>
              <a:t>[2/2] Making </a:t>
            </a:r>
            <a:r>
              <a:rPr lang="en-IN" sz="2000" b="1" dirty="0" err="1"/>
              <a:t>Streamlit</a:t>
            </a:r>
            <a:r>
              <a:rPr lang="en-IN" sz="2000" b="1" dirty="0"/>
              <a:t> app run on HTTPS (SSL)</a:t>
            </a:r>
          </a:p>
        </p:txBody>
      </p:sp>
      <p:sp>
        <p:nvSpPr>
          <p:cNvPr id="3" name="TextBox 2">
            <a:extLst>
              <a:ext uri="{FF2B5EF4-FFF2-40B4-BE49-F238E27FC236}">
                <a16:creationId xmlns:a16="http://schemas.microsoft.com/office/drawing/2014/main" id="{E746B7D2-2290-CC29-4164-E59DB79A99C0}"/>
              </a:ext>
            </a:extLst>
          </p:cNvPr>
          <p:cNvSpPr txBox="1"/>
          <p:nvPr/>
        </p:nvSpPr>
        <p:spPr>
          <a:xfrm>
            <a:off x="166254" y="545583"/>
            <a:ext cx="11835245" cy="1569660"/>
          </a:xfrm>
          <a:prstGeom prst="rect">
            <a:avLst/>
          </a:prstGeom>
          <a:noFill/>
        </p:spPr>
        <p:txBody>
          <a:bodyPr wrap="square" rtlCol="0">
            <a:spAutoFit/>
          </a:bodyPr>
          <a:lstStyle/>
          <a:p>
            <a:pPr marL="285750" indent="-285750">
              <a:buFont typeface="Arial" panose="020B0604020202020204" pitchFamily="34" charset="0"/>
              <a:buChar char="•"/>
            </a:pPr>
            <a:r>
              <a:rPr lang="en-IN" sz="1600" dirty="0" err="1"/>
              <a:t>Certbot</a:t>
            </a:r>
            <a:r>
              <a:rPr lang="en-IN" sz="1600" dirty="0"/>
              <a:t> will:</a:t>
            </a:r>
          </a:p>
          <a:p>
            <a:pPr marL="742950" lvl="1" indent="-285750">
              <a:buFont typeface="Courier New" panose="02070309020205020404" pitchFamily="49" charset="0"/>
              <a:buChar char="o"/>
            </a:pPr>
            <a:r>
              <a:rPr lang="en-IN" sz="1600" dirty="0"/>
              <a:t>Prove domain control via HTTP-01 on port 80,</a:t>
            </a:r>
          </a:p>
          <a:p>
            <a:pPr marL="742950" lvl="1" indent="-285750">
              <a:buFont typeface="Courier New" panose="02070309020205020404" pitchFamily="49" charset="0"/>
              <a:buChar char="o"/>
            </a:pPr>
            <a:r>
              <a:rPr lang="en-IN" sz="1600" dirty="0"/>
              <a:t>Install the certificate,</a:t>
            </a:r>
          </a:p>
          <a:p>
            <a:pPr marL="742950" lvl="1" indent="-285750">
              <a:buFont typeface="Courier New" panose="02070309020205020404" pitchFamily="49" charset="0"/>
              <a:buChar char="o"/>
            </a:pPr>
            <a:r>
              <a:rPr lang="en-IN" sz="1600" dirty="0"/>
              <a:t>Add </a:t>
            </a:r>
            <a:r>
              <a:rPr lang="en-IN" sz="1600" b="1" dirty="0"/>
              <a:t>HTTP → HTTPS</a:t>
            </a:r>
            <a:r>
              <a:rPr lang="en-IN" sz="1600" dirty="0"/>
              <a:t> redirects,</a:t>
            </a:r>
          </a:p>
          <a:p>
            <a:pPr marL="742950" lvl="1" indent="-285750">
              <a:buFont typeface="Courier New" panose="02070309020205020404" pitchFamily="49" charset="0"/>
              <a:buChar char="o"/>
            </a:pPr>
            <a:r>
              <a:rPr lang="en-IN" sz="1600" dirty="0"/>
              <a:t>Configure auto-renewal (</a:t>
            </a:r>
            <a:r>
              <a:rPr lang="en-IN" sz="1600" dirty="0" err="1"/>
              <a:t>systemd</a:t>
            </a:r>
            <a:r>
              <a:rPr lang="en-IN" sz="1600" dirty="0"/>
              <a:t> timer or </a:t>
            </a:r>
            <a:r>
              <a:rPr lang="en-IN" sz="1600" dirty="0" err="1"/>
              <a:t>cron</a:t>
            </a:r>
            <a:r>
              <a:rPr lang="en-IN" sz="1600" dirty="0"/>
              <a:t>).</a:t>
            </a:r>
          </a:p>
          <a:p>
            <a:pPr marL="285750" indent="-285750">
              <a:buFont typeface="Arial" panose="020B0604020202020204" pitchFamily="34" charset="0"/>
              <a:buChar char="•"/>
            </a:pPr>
            <a:r>
              <a:rPr lang="en-US" sz="1600" dirty="0"/>
              <a:t>Test renewal: </a:t>
            </a:r>
            <a:r>
              <a:rPr lang="en-US" sz="1600" i="1" dirty="0" err="1"/>
              <a:t>sudo</a:t>
            </a:r>
            <a:r>
              <a:rPr lang="en-US" sz="1600" i="1" dirty="0"/>
              <a:t> </a:t>
            </a:r>
            <a:r>
              <a:rPr lang="en-US" sz="1600" i="1" dirty="0" err="1"/>
              <a:t>certbot</a:t>
            </a:r>
            <a:r>
              <a:rPr lang="en-US" sz="1600" i="1" dirty="0"/>
              <a:t> renew --dry-run</a:t>
            </a:r>
          </a:p>
        </p:txBody>
      </p:sp>
    </p:spTree>
    <p:extLst>
      <p:ext uri="{BB962C8B-B14F-4D97-AF65-F5344CB8AC3E}">
        <p14:creationId xmlns:p14="http://schemas.microsoft.com/office/powerpoint/2010/main" val="4172084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5F965-4B45-49E2-8CEA-4BAB573BEE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6C04D34-D763-3A86-2681-90FD05AF54B4}"/>
              </a:ext>
            </a:extLst>
          </p:cNvPr>
          <p:cNvSpPr txBox="1"/>
          <p:nvPr/>
        </p:nvSpPr>
        <p:spPr>
          <a:xfrm>
            <a:off x="166255" y="145473"/>
            <a:ext cx="11835245" cy="400110"/>
          </a:xfrm>
          <a:prstGeom prst="rect">
            <a:avLst/>
          </a:prstGeom>
          <a:noFill/>
        </p:spPr>
        <p:txBody>
          <a:bodyPr wrap="square" rtlCol="0">
            <a:spAutoFit/>
          </a:bodyPr>
          <a:lstStyle/>
          <a:p>
            <a:r>
              <a:rPr lang="en-IN" sz="2000" b="1" dirty="0"/>
              <a:t>&lt;Template&gt;</a:t>
            </a:r>
          </a:p>
        </p:txBody>
      </p:sp>
    </p:spTree>
    <p:extLst>
      <p:ext uri="{BB962C8B-B14F-4D97-AF65-F5344CB8AC3E}">
        <p14:creationId xmlns:p14="http://schemas.microsoft.com/office/powerpoint/2010/main" val="20109708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2709</TotalTime>
  <Words>3379</Words>
  <Application>Microsoft Office PowerPoint</Application>
  <PresentationFormat>Widescreen</PresentationFormat>
  <Paragraphs>309</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Sanjay Singh</dc:creator>
  <cp:lastModifiedBy>Sanjay Singh</cp:lastModifiedBy>
  <cp:revision>185</cp:revision>
  <dcterms:created xsi:type="dcterms:W3CDTF">2025-09-18T13:50:01Z</dcterms:created>
  <dcterms:modified xsi:type="dcterms:W3CDTF">2025-11-11T15:45:08Z</dcterms:modified>
</cp:coreProperties>
</file>