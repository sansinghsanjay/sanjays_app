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74" d="100"/>
          <a:sy n="74" d="100"/>
        </p:scale>
        <p:origin x="1042"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4F063-369A-2DE3-BC26-610C4759C2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D89145C-F62B-C2C0-AE41-35CB9010DE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3837211-0DE7-0F04-3E8E-95DB028CAE6B}"/>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5" name="Footer Placeholder 4">
            <a:extLst>
              <a:ext uri="{FF2B5EF4-FFF2-40B4-BE49-F238E27FC236}">
                <a16:creationId xmlns:a16="http://schemas.microsoft.com/office/drawing/2014/main" id="{903F0B7A-5583-775C-7A28-5316123C71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010B61-B880-1BD4-0D10-443398EFB80B}"/>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760596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D227A-FCCB-8EF1-1F42-9FAD53B8F0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5237B1-24AB-526E-7CC7-9D381FF9C5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23DDDD-62FC-6356-68BD-95E42E0337E4}"/>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5" name="Footer Placeholder 4">
            <a:extLst>
              <a:ext uri="{FF2B5EF4-FFF2-40B4-BE49-F238E27FC236}">
                <a16:creationId xmlns:a16="http://schemas.microsoft.com/office/drawing/2014/main" id="{89B01227-6EC1-C960-0CDF-C19B4FF46C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EC7F25-8020-BDA9-73D7-CE56135701B6}"/>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3426163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7F4EA-2F3D-26EF-CAB9-E32560EE57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0288B4-12EC-DC6A-4BA9-6B4E68089D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B9BB5B-8A35-06CB-22A7-6BEB2A992DCC}"/>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5" name="Footer Placeholder 4">
            <a:extLst>
              <a:ext uri="{FF2B5EF4-FFF2-40B4-BE49-F238E27FC236}">
                <a16:creationId xmlns:a16="http://schemas.microsoft.com/office/drawing/2014/main" id="{A76F8EDD-B9F7-697A-F958-EC47366F60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9B69F8-93EF-0F8F-EB4D-76118C1545DD}"/>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1936667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C6EBF-6EE4-3BAC-2CA4-891AEF3B30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183F3A-7837-2B10-34A1-B9F5FBA6BB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0758D0-66D2-1103-B4B1-154E029F63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BC5E86-FC21-A3FD-7F63-03227F4EA27B}"/>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6" name="Footer Placeholder 5">
            <a:extLst>
              <a:ext uri="{FF2B5EF4-FFF2-40B4-BE49-F238E27FC236}">
                <a16:creationId xmlns:a16="http://schemas.microsoft.com/office/drawing/2014/main" id="{2050E200-7254-B265-6F78-C67ACBCA74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F0E35E-8CCB-6FDA-4463-C7F1C020EC03}"/>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3815490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44BDA-22EA-2B4D-F946-7022829489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BB0B3D-C287-0F54-2140-27BECE6818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0B30A0-90DB-3CB1-F5F3-D6FC13D487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C53E59-2048-0B89-2E50-CC39FDCF0D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8C0531-81C9-FCB4-C758-904FD8F9BA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C897FC-9B9F-3D7A-978E-C1B014B82199}"/>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8" name="Footer Placeholder 7">
            <a:extLst>
              <a:ext uri="{FF2B5EF4-FFF2-40B4-BE49-F238E27FC236}">
                <a16:creationId xmlns:a16="http://schemas.microsoft.com/office/drawing/2014/main" id="{AF91FBBB-A408-F5E7-3E29-36123DAE54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C2AB52D-4977-3011-F536-C31D24FDEEC0}"/>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228916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0FFCC-419F-68C0-7C32-4C3DBE73BB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4CD2A7-E5A5-E4E8-770F-6606982D9931}"/>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4" name="Footer Placeholder 3">
            <a:extLst>
              <a:ext uri="{FF2B5EF4-FFF2-40B4-BE49-F238E27FC236}">
                <a16:creationId xmlns:a16="http://schemas.microsoft.com/office/drawing/2014/main" id="{DE5581EB-5EE2-0C5B-23CF-BE1E791968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C067D0-9FC6-E796-DE84-0E0C4FA944F1}"/>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269743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6618F1-99B0-3AB6-F5EE-AA95140A928E}"/>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3" name="Footer Placeholder 2">
            <a:extLst>
              <a:ext uri="{FF2B5EF4-FFF2-40B4-BE49-F238E27FC236}">
                <a16:creationId xmlns:a16="http://schemas.microsoft.com/office/drawing/2014/main" id="{25D456F8-7724-C46E-A0FD-504C1CE169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F243DF-DEE1-73B2-3F9B-E9304338A0D4}"/>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166414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8D7-B13A-0A0A-85A7-45968C9331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49914EA-3DC9-9C94-19A1-3DDEE21CFC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408DAF-6FDC-38D9-ACAE-473513A37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B9E83-692A-95BE-30E0-634E4AA79EB2}"/>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6" name="Footer Placeholder 5">
            <a:extLst>
              <a:ext uri="{FF2B5EF4-FFF2-40B4-BE49-F238E27FC236}">
                <a16:creationId xmlns:a16="http://schemas.microsoft.com/office/drawing/2014/main" id="{B7714D00-A1F5-2F04-6852-0E292702BC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CB8819-20BC-A885-679D-8F4321D98ECE}"/>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3349850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7720-EBAE-F2A7-7837-949F8A8B93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D1B92E-8B14-9776-D8A5-35E0922899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31ADCE-5373-EFD7-7FEF-ED85FC503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BD72E2-C8E0-3E1E-AAA9-3987F2E20174}"/>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6" name="Footer Placeholder 5">
            <a:extLst>
              <a:ext uri="{FF2B5EF4-FFF2-40B4-BE49-F238E27FC236}">
                <a16:creationId xmlns:a16="http://schemas.microsoft.com/office/drawing/2014/main" id="{2B59FF10-36B7-4E3C-2925-9D8F485CD6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8B64F8-DCB9-5DFF-34C8-A2525BE33016}"/>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776629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8B874-34A3-6DCE-2C86-B467FCFE87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4FF6AB-5712-3B3D-115E-AFB37EF9A7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C3D87E-88AF-EAD8-BDF0-24F2E610498E}"/>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5" name="Footer Placeholder 4">
            <a:extLst>
              <a:ext uri="{FF2B5EF4-FFF2-40B4-BE49-F238E27FC236}">
                <a16:creationId xmlns:a16="http://schemas.microsoft.com/office/drawing/2014/main" id="{C501A227-C681-5A2D-145E-2BD39CA39C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AB33A6-C5E5-02D1-8529-CE13B30FBBD7}"/>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1904578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54F232-5E32-43FB-5644-EE672B2F5B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D6556E-1CE0-3BC7-8B02-51ABF88D5B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84B829-EE4E-E41E-FB52-6FD8DCB98B63}"/>
              </a:ext>
            </a:extLst>
          </p:cNvPr>
          <p:cNvSpPr>
            <a:spLocks noGrp="1"/>
          </p:cNvSpPr>
          <p:nvPr>
            <p:ph type="dt" sz="half" idx="10"/>
          </p:nvPr>
        </p:nvSpPr>
        <p:spPr/>
        <p:txBody>
          <a:bodyPr/>
          <a:lstStyle/>
          <a:p>
            <a:fld id="{2C57049F-C3F2-45A2-9009-4EC8DC398F67}" type="datetimeFigureOut">
              <a:rPr lang="en-IN" smtClean="0"/>
              <a:t>15-09-2025</a:t>
            </a:fld>
            <a:endParaRPr lang="en-IN"/>
          </a:p>
        </p:txBody>
      </p:sp>
      <p:sp>
        <p:nvSpPr>
          <p:cNvPr id="5" name="Footer Placeholder 4">
            <a:extLst>
              <a:ext uri="{FF2B5EF4-FFF2-40B4-BE49-F238E27FC236}">
                <a16:creationId xmlns:a16="http://schemas.microsoft.com/office/drawing/2014/main" id="{81D77738-96FA-EEA6-4031-6368520999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75F213-2A20-8604-6C51-4E594B35DB72}"/>
              </a:ext>
            </a:extLst>
          </p:cNvPr>
          <p:cNvSpPr>
            <a:spLocks noGrp="1"/>
          </p:cNvSpPr>
          <p:nvPr>
            <p:ph type="sldNum" sz="quarter" idx="12"/>
          </p:nvPr>
        </p:nvSpPr>
        <p:spPr/>
        <p:txBody>
          <a:bodyPr/>
          <a:lstStyle/>
          <a:p>
            <a:fld id="{CE05245D-24E4-4773-8A6A-27433DB6F1CB}" type="slidenum">
              <a:rPr lang="en-IN" smtClean="0"/>
              <a:t>‹#›</a:t>
            </a:fld>
            <a:endParaRPr lang="en-IN"/>
          </a:p>
        </p:txBody>
      </p:sp>
    </p:spTree>
    <p:extLst>
      <p:ext uri="{BB962C8B-B14F-4D97-AF65-F5344CB8AC3E}">
        <p14:creationId xmlns:p14="http://schemas.microsoft.com/office/powerpoint/2010/main" val="3085628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E36BF4-0C09-F37B-8D8D-6296EB637C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50F728-FBCC-16FD-62DC-596D615E8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E00D71-09AE-513F-526C-1D0C89E541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57049F-C3F2-45A2-9009-4EC8DC398F67}" type="datetimeFigureOut">
              <a:rPr lang="en-IN" smtClean="0"/>
              <a:t>15-09-2025</a:t>
            </a:fld>
            <a:endParaRPr lang="en-IN"/>
          </a:p>
        </p:txBody>
      </p:sp>
      <p:sp>
        <p:nvSpPr>
          <p:cNvPr id="5" name="Footer Placeholder 4">
            <a:extLst>
              <a:ext uri="{FF2B5EF4-FFF2-40B4-BE49-F238E27FC236}">
                <a16:creationId xmlns:a16="http://schemas.microsoft.com/office/drawing/2014/main" id="{F30A5287-4D2D-498A-E86B-8C3F7D900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7626914-65C8-138B-6710-214CEA46C5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05245D-24E4-4773-8A6A-27433DB6F1CB}" type="slidenum">
              <a:rPr lang="en-IN" smtClean="0"/>
              <a:t>‹#›</a:t>
            </a:fld>
            <a:endParaRPr lang="en-IN"/>
          </a:p>
        </p:txBody>
      </p:sp>
    </p:spTree>
    <p:extLst>
      <p:ext uri="{BB962C8B-B14F-4D97-AF65-F5344CB8AC3E}">
        <p14:creationId xmlns:p14="http://schemas.microsoft.com/office/powerpoint/2010/main" val="201575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semanticscholar.org/about/publishers" TargetMode="External"/><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hyperlink" Target="https://www.semanticscholar.org/product/api/tutorial"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748C2A-D821-D3A4-72D2-0A4664B06C81}"/>
              </a:ext>
            </a:extLst>
          </p:cNvPr>
          <p:cNvSpPr txBox="1"/>
          <p:nvPr/>
        </p:nvSpPr>
        <p:spPr>
          <a:xfrm>
            <a:off x="4704484" y="3105834"/>
            <a:ext cx="2783031" cy="646331"/>
          </a:xfrm>
          <a:prstGeom prst="rect">
            <a:avLst/>
          </a:prstGeom>
          <a:noFill/>
        </p:spPr>
        <p:txBody>
          <a:bodyPr wrap="square" rtlCol="0">
            <a:spAutoFit/>
          </a:bodyPr>
          <a:lstStyle/>
          <a:p>
            <a:pPr algn="ctr"/>
            <a:r>
              <a:rPr lang="en-IN" sz="3600" dirty="0">
                <a:latin typeface="Calibri" panose="020F0502020204030204" pitchFamily="34" charset="0"/>
                <a:ea typeface="Calibri" panose="020F0502020204030204" pitchFamily="34" charset="0"/>
                <a:cs typeface="Calibri" panose="020F0502020204030204" pitchFamily="34" charset="0"/>
              </a:rPr>
              <a:t>PaperPal</a:t>
            </a:r>
          </a:p>
        </p:txBody>
      </p:sp>
      <p:pic>
        <p:nvPicPr>
          <p:cNvPr id="3" name="Graphic 2" descr="Search Inventory with solid fill">
            <a:extLst>
              <a:ext uri="{FF2B5EF4-FFF2-40B4-BE49-F238E27FC236}">
                <a16:creationId xmlns:a16="http://schemas.microsoft.com/office/drawing/2014/main" id="{070EDB11-6EFE-27D7-6F1E-E5576B10D20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47284" y="2971799"/>
            <a:ext cx="914400" cy="914400"/>
          </a:xfrm>
          <a:prstGeom prst="rect">
            <a:avLst/>
          </a:prstGeom>
        </p:spPr>
      </p:pic>
    </p:spTree>
    <p:extLst>
      <p:ext uri="{BB962C8B-B14F-4D97-AF65-F5344CB8AC3E}">
        <p14:creationId xmlns:p14="http://schemas.microsoft.com/office/powerpoint/2010/main" val="905187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46D0C8-963E-6DA4-92E4-5A0D70620590}"/>
              </a:ext>
            </a:extLst>
          </p:cNvPr>
          <p:cNvSpPr txBox="1"/>
          <p:nvPr/>
        </p:nvSpPr>
        <p:spPr>
          <a:xfrm>
            <a:off x="190500" y="166254"/>
            <a:ext cx="11811000" cy="400110"/>
          </a:xfrm>
          <a:prstGeom prst="rect">
            <a:avLst/>
          </a:prstGeom>
          <a:noFill/>
        </p:spPr>
        <p:txBody>
          <a:bodyPr wrap="square" rtlCol="0">
            <a:spAutoFit/>
          </a:bodyPr>
          <a:lstStyle/>
          <a:p>
            <a:r>
              <a:rPr lang="en-IN" sz="2000" b="1" dirty="0"/>
              <a:t>Introduction</a:t>
            </a:r>
            <a:endParaRPr lang="en-IN" b="1" dirty="0"/>
          </a:p>
        </p:txBody>
      </p:sp>
      <p:sp>
        <p:nvSpPr>
          <p:cNvPr id="3" name="TextBox 2">
            <a:extLst>
              <a:ext uri="{FF2B5EF4-FFF2-40B4-BE49-F238E27FC236}">
                <a16:creationId xmlns:a16="http://schemas.microsoft.com/office/drawing/2014/main" id="{0DBDE1AA-FD4A-8F04-8936-76091A52F997}"/>
              </a:ext>
            </a:extLst>
          </p:cNvPr>
          <p:cNvSpPr txBox="1"/>
          <p:nvPr/>
        </p:nvSpPr>
        <p:spPr>
          <a:xfrm>
            <a:off x="190500" y="870717"/>
            <a:ext cx="10080046" cy="1077218"/>
          </a:xfrm>
          <a:prstGeom prst="rect">
            <a:avLst/>
          </a:prstGeom>
          <a:noFill/>
        </p:spPr>
        <p:txBody>
          <a:bodyPr wrap="square" rtlCol="0">
            <a:spAutoFit/>
          </a:bodyPr>
          <a:lstStyle/>
          <a:p>
            <a:r>
              <a:rPr lang="en-US" sz="1600" dirty="0"/>
              <a:t>PaperPal is a multi-agent AI assistant built to streamline academic and technical research workflows. Given a topic, it autonomously searches, summarizes, critiques, and simplifies recent literature — delivering insights that are both deep and accessible. It's designed to help users, from researchers to non-experts, stay informed without being overwhelmed.</a:t>
            </a:r>
            <a:endParaRPr lang="en-IN" sz="1600" dirty="0"/>
          </a:p>
        </p:txBody>
      </p:sp>
      <p:grpSp>
        <p:nvGrpSpPr>
          <p:cNvPr id="8" name="Group 7">
            <a:extLst>
              <a:ext uri="{FF2B5EF4-FFF2-40B4-BE49-F238E27FC236}">
                <a16:creationId xmlns:a16="http://schemas.microsoft.com/office/drawing/2014/main" id="{0EC8A568-F956-75C2-1928-083EA4B04CD6}"/>
              </a:ext>
            </a:extLst>
          </p:cNvPr>
          <p:cNvGrpSpPr/>
          <p:nvPr/>
        </p:nvGrpSpPr>
        <p:grpSpPr>
          <a:xfrm>
            <a:off x="10280938" y="566364"/>
            <a:ext cx="1720562" cy="1685925"/>
            <a:chOff x="10280938" y="566364"/>
            <a:chExt cx="1720562" cy="1685925"/>
          </a:xfrm>
        </p:grpSpPr>
        <p:sp>
          <p:nvSpPr>
            <p:cNvPr id="5" name="Rectangle 4">
              <a:extLst>
                <a:ext uri="{FF2B5EF4-FFF2-40B4-BE49-F238E27FC236}">
                  <a16:creationId xmlns:a16="http://schemas.microsoft.com/office/drawing/2014/main" id="{6591384A-02E3-5AE1-FD44-46C993A3C074}"/>
                </a:ext>
              </a:extLst>
            </p:cNvPr>
            <p:cNvSpPr/>
            <p:nvPr/>
          </p:nvSpPr>
          <p:spPr>
            <a:xfrm>
              <a:off x="10280938" y="566364"/>
              <a:ext cx="1720562" cy="1685925"/>
            </a:xfrm>
            <a:prstGeom prst="rect">
              <a:avLst/>
            </a:prstGeom>
            <a:ln w="38100">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4" name="Graphic 3" descr="Search Inventory with solid fill">
              <a:extLst>
                <a:ext uri="{FF2B5EF4-FFF2-40B4-BE49-F238E27FC236}">
                  <a16:creationId xmlns:a16="http://schemas.microsoft.com/office/drawing/2014/main" id="{77F1149C-BD5B-7E8E-96D1-557CCBA088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05183" y="566364"/>
              <a:ext cx="1685925" cy="1685925"/>
            </a:xfrm>
            <a:prstGeom prst="rect">
              <a:avLst/>
            </a:prstGeom>
          </p:spPr>
        </p:pic>
      </p:grpSp>
    </p:spTree>
    <p:extLst>
      <p:ext uri="{BB962C8B-B14F-4D97-AF65-F5344CB8AC3E}">
        <p14:creationId xmlns:p14="http://schemas.microsoft.com/office/powerpoint/2010/main" val="274651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95CEB-044D-DA5E-5623-4F922C6CD0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96657F-9324-BA3D-CC3C-F300FD473352}"/>
              </a:ext>
            </a:extLst>
          </p:cNvPr>
          <p:cNvSpPr txBox="1"/>
          <p:nvPr/>
        </p:nvSpPr>
        <p:spPr>
          <a:xfrm>
            <a:off x="190500" y="166254"/>
            <a:ext cx="11811000" cy="400110"/>
          </a:xfrm>
          <a:prstGeom prst="rect">
            <a:avLst/>
          </a:prstGeom>
          <a:noFill/>
        </p:spPr>
        <p:txBody>
          <a:bodyPr wrap="square" rtlCol="0">
            <a:spAutoFit/>
          </a:bodyPr>
          <a:lstStyle/>
          <a:p>
            <a:r>
              <a:rPr lang="en-IN" sz="2000" b="1" dirty="0"/>
              <a:t>Agents</a:t>
            </a:r>
          </a:p>
        </p:txBody>
      </p:sp>
      <p:graphicFrame>
        <p:nvGraphicFramePr>
          <p:cNvPr id="7" name="Table 6">
            <a:extLst>
              <a:ext uri="{FF2B5EF4-FFF2-40B4-BE49-F238E27FC236}">
                <a16:creationId xmlns:a16="http://schemas.microsoft.com/office/drawing/2014/main" id="{4441EB09-3FF9-3611-9693-4A644DC1202B}"/>
              </a:ext>
            </a:extLst>
          </p:cNvPr>
          <p:cNvGraphicFramePr>
            <a:graphicFrameLocks noGrp="1"/>
          </p:cNvGraphicFramePr>
          <p:nvPr>
            <p:extLst>
              <p:ext uri="{D42A27DB-BD31-4B8C-83A1-F6EECF244321}">
                <p14:modId xmlns:p14="http://schemas.microsoft.com/office/powerpoint/2010/main" val="2954027840"/>
              </p:ext>
            </p:extLst>
          </p:nvPr>
        </p:nvGraphicFramePr>
        <p:xfrm>
          <a:off x="190500" y="566364"/>
          <a:ext cx="11811000" cy="6096000"/>
        </p:xfrm>
        <a:graphic>
          <a:graphicData uri="http://schemas.openxmlformats.org/drawingml/2006/table">
            <a:tbl>
              <a:tblPr firstRow="1" bandRow="1">
                <a:tableStyleId>{073A0DAA-6AF3-43AB-8588-CEC1D06C72B9}</a:tableStyleId>
              </a:tblPr>
              <a:tblGrid>
                <a:gridCol w="412173">
                  <a:extLst>
                    <a:ext uri="{9D8B030D-6E8A-4147-A177-3AD203B41FA5}">
                      <a16:colId xmlns:a16="http://schemas.microsoft.com/office/drawing/2014/main" val="2139829072"/>
                    </a:ext>
                  </a:extLst>
                </a:gridCol>
                <a:gridCol w="1662545">
                  <a:extLst>
                    <a:ext uri="{9D8B030D-6E8A-4147-A177-3AD203B41FA5}">
                      <a16:colId xmlns:a16="http://schemas.microsoft.com/office/drawing/2014/main" val="4041739519"/>
                    </a:ext>
                  </a:extLst>
                </a:gridCol>
                <a:gridCol w="2389909">
                  <a:extLst>
                    <a:ext uri="{9D8B030D-6E8A-4147-A177-3AD203B41FA5}">
                      <a16:colId xmlns:a16="http://schemas.microsoft.com/office/drawing/2014/main" val="3797963409"/>
                    </a:ext>
                  </a:extLst>
                </a:gridCol>
                <a:gridCol w="7346373">
                  <a:extLst>
                    <a:ext uri="{9D8B030D-6E8A-4147-A177-3AD203B41FA5}">
                      <a16:colId xmlns:a16="http://schemas.microsoft.com/office/drawing/2014/main" val="2723441734"/>
                    </a:ext>
                  </a:extLst>
                </a:gridCol>
              </a:tblGrid>
              <a:tr h="227286">
                <a:tc>
                  <a:txBody>
                    <a:bodyPr/>
                    <a:lstStyle/>
                    <a:p>
                      <a:pPr algn="ctr"/>
                      <a:r>
                        <a:rPr lang="en-IN" sz="1600" dirty="0"/>
                        <a:t>#</a:t>
                      </a:r>
                    </a:p>
                  </a:txBody>
                  <a:tcPr anchor="ctr"/>
                </a:tc>
                <a:tc>
                  <a:txBody>
                    <a:bodyPr/>
                    <a:lstStyle/>
                    <a:p>
                      <a:pPr algn="ctr"/>
                      <a:r>
                        <a:rPr lang="en-IN" sz="1600" dirty="0"/>
                        <a:t>Agent</a:t>
                      </a:r>
                    </a:p>
                  </a:txBody>
                  <a:tcPr/>
                </a:tc>
                <a:tc>
                  <a:txBody>
                    <a:bodyPr/>
                    <a:lstStyle/>
                    <a:p>
                      <a:pPr algn="ctr"/>
                      <a:r>
                        <a:rPr lang="en-IN" sz="1600" dirty="0"/>
                        <a:t>Agent Name</a:t>
                      </a:r>
                    </a:p>
                  </a:txBody>
                  <a:tcPr/>
                </a:tc>
                <a:tc>
                  <a:txBody>
                    <a:bodyPr/>
                    <a:lstStyle/>
                    <a:p>
                      <a:pPr algn="ctr"/>
                      <a:r>
                        <a:rPr lang="en-IN" sz="1600" dirty="0"/>
                        <a:t>Agent Goal</a:t>
                      </a:r>
                    </a:p>
                  </a:txBody>
                  <a:tcPr/>
                </a:tc>
                <a:extLst>
                  <a:ext uri="{0D108BD9-81ED-4DB2-BD59-A6C34878D82A}">
                    <a16:rowId xmlns:a16="http://schemas.microsoft.com/office/drawing/2014/main" val="1320776505"/>
                  </a:ext>
                </a:extLst>
              </a:tr>
              <a:tr h="227286">
                <a:tc>
                  <a:txBody>
                    <a:bodyPr/>
                    <a:lstStyle/>
                    <a:p>
                      <a:pPr algn="ctr"/>
                      <a:r>
                        <a:rPr lang="en-IN" sz="1600" dirty="0"/>
                        <a:t>1</a:t>
                      </a:r>
                    </a:p>
                  </a:txBody>
                  <a:tcPr anchor="ctr"/>
                </a:tc>
                <a:tc>
                  <a:txBody>
                    <a:bodyPr/>
                    <a:lstStyle/>
                    <a:p>
                      <a:endParaRPr lang="en-IN" sz="1600" dirty="0"/>
                    </a:p>
                    <a:p>
                      <a:endParaRPr lang="en-IN" sz="1600" dirty="0"/>
                    </a:p>
                    <a:p>
                      <a:endParaRPr lang="en-IN" sz="1600" dirty="0"/>
                    </a:p>
                  </a:txBody>
                  <a:tcPr/>
                </a:tc>
                <a:tc>
                  <a:txBody>
                    <a:bodyPr/>
                    <a:lstStyle/>
                    <a:p>
                      <a:pPr marL="0" indent="0">
                        <a:buNone/>
                      </a:pPr>
                      <a:r>
                        <a:rPr lang="en-IN" sz="1600" dirty="0"/>
                        <a:t>Orchestrator Agent</a:t>
                      </a:r>
                    </a:p>
                  </a:txBody>
                  <a:tcPr anchor="ctr"/>
                </a:tc>
                <a:tc>
                  <a:txBody>
                    <a:bodyPr/>
                    <a:lstStyle/>
                    <a:p>
                      <a:pPr marL="0" indent="0">
                        <a:buNone/>
                      </a:pPr>
                      <a:r>
                        <a:rPr lang="en-IN" sz="1600" dirty="0"/>
                        <a:t>It coordinates the workflow by assigning the task to the right agent and managing the flow of information between them. </a:t>
                      </a:r>
                    </a:p>
                  </a:txBody>
                  <a:tcPr anchor="ctr"/>
                </a:tc>
                <a:extLst>
                  <a:ext uri="{0D108BD9-81ED-4DB2-BD59-A6C34878D82A}">
                    <a16:rowId xmlns:a16="http://schemas.microsoft.com/office/drawing/2014/main" val="3293509073"/>
                  </a:ext>
                </a:extLst>
              </a:tr>
              <a:tr h="227286">
                <a:tc>
                  <a:txBody>
                    <a:bodyPr/>
                    <a:lstStyle/>
                    <a:p>
                      <a:pPr algn="ctr"/>
                      <a:r>
                        <a:rPr lang="en-IN" sz="1600" dirty="0"/>
                        <a:t>2</a:t>
                      </a:r>
                    </a:p>
                  </a:txBody>
                  <a:tcPr anchor="ctr"/>
                </a:tc>
                <a:tc>
                  <a:txBody>
                    <a:bodyPr/>
                    <a:lstStyle/>
                    <a:p>
                      <a:endParaRPr lang="en-IN" sz="1600" dirty="0"/>
                    </a:p>
                    <a:p>
                      <a:endParaRPr lang="en-IN" sz="1600" dirty="0"/>
                    </a:p>
                    <a:p>
                      <a:endParaRPr lang="en-IN" sz="1600" dirty="0"/>
                    </a:p>
                  </a:txBody>
                  <a:tcPr anchor="ctr"/>
                </a:tc>
                <a:tc>
                  <a:txBody>
                    <a:bodyPr/>
                    <a:lstStyle/>
                    <a:p>
                      <a:pPr marL="0" indent="0">
                        <a:buNone/>
                      </a:pPr>
                      <a:r>
                        <a:rPr lang="en-IN" sz="1600" dirty="0"/>
                        <a:t>Scholar Agent</a:t>
                      </a:r>
                    </a:p>
                  </a:txBody>
                  <a:tcPr anchor="ctr"/>
                </a:tc>
                <a:tc>
                  <a:txBody>
                    <a:bodyPr/>
                    <a:lstStyle/>
                    <a:p>
                      <a:pPr marL="0" indent="0">
                        <a:buNone/>
                      </a:pPr>
                      <a:r>
                        <a:rPr lang="en-IN" sz="1600" dirty="0"/>
                        <a:t>It is expert in retrieving relevant academic papers and its metadata which would be helpful in the next stages of the pipeline.</a:t>
                      </a:r>
                    </a:p>
                  </a:txBody>
                  <a:tcPr anchor="ctr"/>
                </a:tc>
                <a:extLst>
                  <a:ext uri="{0D108BD9-81ED-4DB2-BD59-A6C34878D82A}">
                    <a16:rowId xmlns:a16="http://schemas.microsoft.com/office/drawing/2014/main" val="2002841731"/>
                  </a:ext>
                </a:extLst>
              </a:tr>
              <a:tr h="227286">
                <a:tc>
                  <a:txBody>
                    <a:bodyPr/>
                    <a:lstStyle/>
                    <a:p>
                      <a:pPr algn="ctr"/>
                      <a:r>
                        <a:rPr lang="en-IN" sz="1600" dirty="0"/>
                        <a:t>3</a:t>
                      </a:r>
                    </a:p>
                  </a:txBody>
                  <a:tcPr anchor="ctr"/>
                </a:tc>
                <a:tc>
                  <a:txBody>
                    <a:bodyPr/>
                    <a:lstStyle/>
                    <a:p>
                      <a:endParaRPr lang="en-IN" sz="1600" dirty="0"/>
                    </a:p>
                    <a:p>
                      <a:endParaRPr lang="en-IN" sz="1600" dirty="0"/>
                    </a:p>
                    <a:p>
                      <a:endParaRPr lang="en-IN" sz="1600" dirty="0"/>
                    </a:p>
                  </a:txBody>
                  <a:tcPr anchor="ctr"/>
                </a:tc>
                <a:tc>
                  <a:txBody>
                    <a:bodyPr/>
                    <a:lstStyle/>
                    <a:p>
                      <a:pPr marL="0" indent="0">
                        <a:buNone/>
                      </a:pPr>
                      <a:r>
                        <a:rPr lang="en-IN" sz="1600" dirty="0"/>
                        <a:t>Market Agent</a:t>
                      </a:r>
                    </a:p>
                  </a:txBody>
                  <a:tcPr anchor="ctr"/>
                </a:tc>
                <a:tc>
                  <a:txBody>
                    <a:bodyPr/>
                    <a:lstStyle/>
                    <a:p>
                      <a:pPr marL="0" indent="0">
                        <a:buNone/>
                      </a:pPr>
                      <a:r>
                        <a:rPr lang="en-IN" sz="1600" dirty="0"/>
                        <a:t>It finds the market impact of the research area / topic / technology mentioned in the user query by looking at the trending news and products / services.</a:t>
                      </a:r>
                    </a:p>
                  </a:txBody>
                  <a:tcPr anchor="ctr"/>
                </a:tc>
                <a:extLst>
                  <a:ext uri="{0D108BD9-81ED-4DB2-BD59-A6C34878D82A}">
                    <a16:rowId xmlns:a16="http://schemas.microsoft.com/office/drawing/2014/main" val="416328950"/>
                  </a:ext>
                </a:extLst>
              </a:tr>
              <a:tr h="227286">
                <a:tc>
                  <a:txBody>
                    <a:bodyPr/>
                    <a:lstStyle/>
                    <a:p>
                      <a:pPr algn="ctr"/>
                      <a:r>
                        <a:rPr lang="en-IN" sz="1600" dirty="0"/>
                        <a:t>4</a:t>
                      </a:r>
                    </a:p>
                  </a:txBody>
                  <a:tcPr anchor="ctr"/>
                </a:tc>
                <a:tc>
                  <a:txBody>
                    <a:bodyPr/>
                    <a:lstStyle/>
                    <a:p>
                      <a:endParaRPr lang="en-IN" sz="1600" dirty="0"/>
                    </a:p>
                    <a:p>
                      <a:endParaRPr lang="en-IN" sz="1600" dirty="0"/>
                    </a:p>
                    <a:p>
                      <a:endParaRPr lang="en-IN" sz="1600" dirty="0"/>
                    </a:p>
                  </a:txBody>
                  <a:tcPr anchor="ctr"/>
                </a:tc>
                <a:tc>
                  <a:txBody>
                    <a:bodyPr/>
                    <a:lstStyle/>
                    <a:p>
                      <a:r>
                        <a:rPr lang="en-IN" sz="1600" dirty="0"/>
                        <a:t>Summarizer Agent</a:t>
                      </a:r>
                    </a:p>
                  </a:txBody>
                  <a:tcPr anchor="ctr"/>
                </a:tc>
                <a:tc>
                  <a:txBody>
                    <a:bodyPr/>
                    <a:lstStyle/>
                    <a:p>
                      <a:r>
                        <a:rPr lang="en-IN" sz="1600" dirty="0"/>
                        <a:t>It summarizes all the content collected by Scholar and Market Agent so that there won’t be any redundancy in the data.</a:t>
                      </a:r>
                    </a:p>
                  </a:txBody>
                  <a:tcPr anchor="ctr"/>
                </a:tc>
                <a:extLst>
                  <a:ext uri="{0D108BD9-81ED-4DB2-BD59-A6C34878D82A}">
                    <a16:rowId xmlns:a16="http://schemas.microsoft.com/office/drawing/2014/main" val="2715080601"/>
                  </a:ext>
                </a:extLst>
              </a:tr>
              <a:tr h="227286">
                <a:tc>
                  <a:txBody>
                    <a:bodyPr/>
                    <a:lstStyle/>
                    <a:p>
                      <a:pPr algn="ctr"/>
                      <a:r>
                        <a:rPr lang="en-IN" sz="1600" dirty="0"/>
                        <a:t>5</a:t>
                      </a:r>
                    </a:p>
                  </a:txBody>
                  <a:tcPr anchor="ctr"/>
                </a:tc>
                <a:tc>
                  <a:txBody>
                    <a:bodyPr/>
                    <a:lstStyle/>
                    <a:p>
                      <a:endParaRPr lang="en-IN" sz="1600" dirty="0"/>
                    </a:p>
                    <a:p>
                      <a:endParaRPr lang="en-IN" sz="1600" dirty="0"/>
                    </a:p>
                    <a:p>
                      <a:endParaRPr lang="en-IN" sz="1600" dirty="0"/>
                    </a:p>
                  </a:txBody>
                  <a:tcPr anchor="ctr"/>
                </a:tc>
                <a:tc>
                  <a:txBody>
                    <a:bodyPr/>
                    <a:lstStyle/>
                    <a:p>
                      <a:r>
                        <a:rPr lang="en-IN" sz="1600" dirty="0"/>
                        <a:t>Critic Agent</a:t>
                      </a:r>
                    </a:p>
                  </a:txBody>
                  <a:tcPr anchor="ctr"/>
                </a:tc>
                <a:tc>
                  <a:txBody>
                    <a:bodyPr/>
                    <a:lstStyle/>
                    <a:p>
                      <a:r>
                        <a:rPr lang="en-US" sz="1600" b="0" dirty="0"/>
                        <a:t>The Critic Agent </a:t>
                      </a:r>
                      <a:r>
                        <a:rPr lang="en-US" sz="1600" dirty="0"/>
                        <a:t>evaluates research outputs by identifying gaps, biases, and limitations, ensuring the analysis is balanced and credible.</a:t>
                      </a:r>
                      <a:endParaRPr lang="en-IN" sz="1600" dirty="0"/>
                    </a:p>
                  </a:txBody>
                  <a:tcPr anchor="ctr"/>
                </a:tc>
                <a:extLst>
                  <a:ext uri="{0D108BD9-81ED-4DB2-BD59-A6C34878D82A}">
                    <a16:rowId xmlns:a16="http://schemas.microsoft.com/office/drawing/2014/main" val="1406227481"/>
                  </a:ext>
                </a:extLst>
              </a:tr>
              <a:tr h="227286">
                <a:tc>
                  <a:txBody>
                    <a:bodyPr/>
                    <a:lstStyle/>
                    <a:p>
                      <a:pPr algn="ctr"/>
                      <a:r>
                        <a:rPr lang="en-IN" sz="1600" dirty="0"/>
                        <a:t>6</a:t>
                      </a:r>
                    </a:p>
                  </a:txBody>
                  <a:tcPr anchor="ctr"/>
                </a:tc>
                <a:tc>
                  <a:txBody>
                    <a:bodyPr/>
                    <a:lstStyle/>
                    <a:p>
                      <a:endParaRPr lang="en-IN" sz="1600" dirty="0"/>
                    </a:p>
                    <a:p>
                      <a:endParaRPr lang="en-IN" sz="1600" dirty="0"/>
                    </a:p>
                    <a:p>
                      <a:endParaRPr lang="en-IN" sz="1600" dirty="0"/>
                    </a:p>
                  </a:txBody>
                  <a:tcPr anchor="ctr"/>
                </a:tc>
                <a:tc>
                  <a:txBody>
                    <a:bodyPr/>
                    <a:lstStyle/>
                    <a:p>
                      <a:r>
                        <a:rPr lang="en-IN" sz="1600" dirty="0"/>
                        <a:t>Report Generation Agent</a:t>
                      </a:r>
                    </a:p>
                  </a:txBody>
                  <a:tcPr anchor="ctr"/>
                </a:tc>
                <a:tc>
                  <a:txBody>
                    <a:bodyPr/>
                    <a:lstStyle/>
                    <a:p>
                      <a:r>
                        <a:rPr lang="en-US" sz="1600" dirty="0"/>
                        <a:t>The Report Generation Agent compiles insights from all agents into a well-structured, reader-friendly report with clear sections and subtopics.</a:t>
                      </a:r>
                      <a:endParaRPr lang="en-IN" sz="1600" dirty="0"/>
                    </a:p>
                  </a:txBody>
                  <a:tcPr anchor="ctr"/>
                </a:tc>
                <a:extLst>
                  <a:ext uri="{0D108BD9-81ED-4DB2-BD59-A6C34878D82A}">
                    <a16:rowId xmlns:a16="http://schemas.microsoft.com/office/drawing/2014/main" val="46206864"/>
                  </a:ext>
                </a:extLst>
              </a:tr>
              <a:tr h="227286">
                <a:tc>
                  <a:txBody>
                    <a:bodyPr/>
                    <a:lstStyle/>
                    <a:p>
                      <a:pPr algn="ctr"/>
                      <a:r>
                        <a:rPr lang="en-IN" sz="1600" dirty="0"/>
                        <a:t>7</a:t>
                      </a:r>
                    </a:p>
                  </a:txBody>
                  <a:tcPr anchor="ctr"/>
                </a:tc>
                <a:tc>
                  <a:txBody>
                    <a:bodyPr/>
                    <a:lstStyle/>
                    <a:p>
                      <a:endParaRPr lang="en-IN" sz="1600" dirty="0"/>
                    </a:p>
                    <a:p>
                      <a:endParaRPr lang="en-IN" sz="1600" dirty="0"/>
                    </a:p>
                    <a:p>
                      <a:endParaRPr lang="en-IN" sz="1600" dirty="0"/>
                    </a:p>
                  </a:txBody>
                  <a:tcPr anchor="ctr"/>
                </a:tc>
                <a:tc>
                  <a:txBody>
                    <a:bodyPr/>
                    <a:lstStyle/>
                    <a:p>
                      <a:r>
                        <a:rPr lang="en-IN" sz="1600" dirty="0"/>
                        <a:t>RAG Agent</a:t>
                      </a:r>
                    </a:p>
                  </a:txBody>
                  <a:tcPr anchor="ctr"/>
                </a:tc>
                <a:tc>
                  <a:txBody>
                    <a:bodyPr/>
                    <a:lstStyle/>
                    <a:p>
                      <a:r>
                        <a:rPr lang="en-US" sz="1600" dirty="0"/>
                        <a:t>The RAG Agent leverages the summaries as a knowledge base and uses retrieval-augmented generation to answer user questions with accurate, context-aware responses.</a:t>
                      </a:r>
                      <a:endParaRPr lang="en-IN" sz="1600" dirty="0"/>
                    </a:p>
                  </a:txBody>
                  <a:tcPr anchor="ctr"/>
                </a:tc>
                <a:extLst>
                  <a:ext uri="{0D108BD9-81ED-4DB2-BD59-A6C34878D82A}">
                    <a16:rowId xmlns:a16="http://schemas.microsoft.com/office/drawing/2014/main" val="938536065"/>
                  </a:ext>
                </a:extLst>
              </a:tr>
            </a:tbl>
          </a:graphicData>
        </a:graphic>
      </p:graphicFrame>
      <p:pic>
        <p:nvPicPr>
          <p:cNvPr id="1026" name="Picture 2" descr="Conductor Icon #279749 - Free Icons Library">
            <a:extLst>
              <a:ext uri="{FF2B5EF4-FFF2-40B4-BE49-F238E27FC236}">
                <a16:creationId xmlns:a16="http://schemas.microsoft.com/office/drawing/2014/main" id="{AA4EB262-FCE1-9218-2BBE-BA739F642A8E}"/>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1437" y="966474"/>
            <a:ext cx="644236" cy="64423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raduation Icon PNG Transparent Background, Free Download #7826 -  FreeIconsPNG">
            <a:extLst>
              <a:ext uri="{FF2B5EF4-FFF2-40B4-BE49-F238E27FC236}">
                <a16:creationId xmlns:a16="http://schemas.microsoft.com/office/drawing/2014/main" id="{E03164DB-D118-48DD-5F28-A9496DF9785D}"/>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1437" y="1803719"/>
            <a:ext cx="644236" cy="64423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riting - Free people icons">
            <a:extLst>
              <a:ext uri="{FF2B5EF4-FFF2-40B4-BE49-F238E27FC236}">
                <a16:creationId xmlns:a16="http://schemas.microsoft.com/office/drawing/2014/main" id="{1FB03903-5824-3551-8D5C-2877A6D6B873}"/>
              </a:ext>
            </a:extLst>
          </p:cNvPr>
          <p:cNvPicPr>
            <a:picLocks noChangeAspect="1" noChangeArrowheads="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1437" y="3467936"/>
            <a:ext cx="644236" cy="64423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ecret Agent Free Download PNG HD Transparent HQ PNG Download | FreePNGimg">
            <a:extLst>
              <a:ext uri="{FF2B5EF4-FFF2-40B4-BE49-F238E27FC236}">
                <a16:creationId xmlns:a16="http://schemas.microsoft.com/office/drawing/2014/main" id="{1FFE441B-841D-CB2C-BCF1-BF992F99B5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437" y="4274008"/>
            <a:ext cx="644236" cy="64423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Businessman showing stats graphic - Free business icons">
            <a:extLst>
              <a:ext uri="{FF2B5EF4-FFF2-40B4-BE49-F238E27FC236}">
                <a16:creationId xmlns:a16="http://schemas.microsoft.com/office/drawing/2014/main" id="{9F13FCAF-B201-F450-4DF3-92C9DC0687FE}"/>
              </a:ext>
            </a:extLst>
          </p:cNvPr>
          <p:cNvPicPr>
            <a:picLocks noChangeAspect="1" noChangeArrowheads="1"/>
          </p:cNvPicPr>
          <p:nvPr/>
        </p:nvPicPr>
        <p:blipFill>
          <a:blip r:embed="rId6">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1437" y="5104504"/>
            <a:ext cx="644236" cy="64423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dea - Free user icons">
            <a:extLst>
              <a:ext uri="{FF2B5EF4-FFF2-40B4-BE49-F238E27FC236}">
                <a16:creationId xmlns:a16="http://schemas.microsoft.com/office/drawing/2014/main" id="{E29EBD16-5DE2-6945-7A7E-023900AB6BDB}"/>
              </a:ext>
            </a:extLst>
          </p:cNvPr>
          <p:cNvPicPr>
            <a:picLocks noChangeAspect="1" noChangeArrowheads="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1437" y="5935000"/>
            <a:ext cx="644236" cy="64423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Man with Sunglasses and Suit icon | Freepik">
            <a:extLst>
              <a:ext uri="{FF2B5EF4-FFF2-40B4-BE49-F238E27FC236}">
                <a16:creationId xmlns:a16="http://schemas.microsoft.com/office/drawing/2014/main" id="{B7ED0D09-5CB1-D104-249B-06024BC56BDF}"/>
              </a:ext>
            </a:extLst>
          </p:cNvPr>
          <p:cNvPicPr>
            <a:picLocks noChangeAspect="1" noChangeArrowheads="1"/>
          </p:cNvPicPr>
          <p:nvPr/>
        </p:nvPicPr>
        <p:blipFill>
          <a:blip r:embed="rId8">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1437" y="2648010"/>
            <a:ext cx="644236" cy="644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481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66038-A363-4E52-E33B-E9CD50D547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C0DC91-E5CD-17D5-6EC8-04796A8D8A9D}"/>
              </a:ext>
            </a:extLst>
          </p:cNvPr>
          <p:cNvSpPr txBox="1"/>
          <p:nvPr/>
        </p:nvSpPr>
        <p:spPr>
          <a:xfrm>
            <a:off x="190500" y="166254"/>
            <a:ext cx="11811000" cy="400110"/>
          </a:xfrm>
          <a:prstGeom prst="rect">
            <a:avLst/>
          </a:prstGeom>
          <a:noFill/>
        </p:spPr>
        <p:txBody>
          <a:bodyPr wrap="square" rtlCol="0">
            <a:spAutoFit/>
          </a:bodyPr>
          <a:lstStyle/>
          <a:p>
            <a:r>
              <a:rPr lang="en-IN" sz="2000" b="1" dirty="0"/>
              <a:t>Agents</a:t>
            </a:r>
          </a:p>
        </p:txBody>
      </p:sp>
      <p:sp>
        <p:nvSpPr>
          <p:cNvPr id="4" name="Rectangle 3">
            <a:extLst>
              <a:ext uri="{FF2B5EF4-FFF2-40B4-BE49-F238E27FC236}">
                <a16:creationId xmlns:a16="http://schemas.microsoft.com/office/drawing/2014/main" id="{6F8FBCA5-7B95-E1AD-9ED7-B7038A8BABB5}"/>
              </a:ext>
            </a:extLst>
          </p:cNvPr>
          <p:cNvSpPr/>
          <p:nvPr/>
        </p:nvSpPr>
        <p:spPr>
          <a:xfrm>
            <a:off x="190500" y="566364"/>
            <a:ext cx="2542309" cy="1808018"/>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2" descr="Conductor Icon #279749 - Free Icons Library">
            <a:extLst>
              <a:ext uri="{FF2B5EF4-FFF2-40B4-BE49-F238E27FC236}">
                <a16:creationId xmlns:a16="http://schemas.microsoft.com/office/drawing/2014/main" id="{DF1867A1-D7DC-B6A1-5F1D-CE9F967AA9EF}"/>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5577" y="644296"/>
            <a:ext cx="1652154" cy="16521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208A3DF-CE4B-8D61-9539-8CD2D0B84AE5}"/>
              </a:ext>
            </a:extLst>
          </p:cNvPr>
          <p:cNvSpPr/>
          <p:nvPr/>
        </p:nvSpPr>
        <p:spPr>
          <a:xfrm>
            <a:off x="2784763" y="566364"/>
            <a:ext cx="9216737"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sz="1600" dirty="0"/>
              <a:t>Orchestrator Agent: Tasks</a:t>
            </a:r>
          </a:p>
        </p:txBody>
      </p:sp>
      <p:sp>
        <p:nvSpPr>
          <p:cNvPr id="8" name="Rectangle 7">
            <a:extLst>
              <a:ext uri="{FF2B5EF4-FFF2-40B4-BE49-F238E27FC236}">
                <a16:creationId xmlns:a16="http://schemas.microsoft.com/office/drawing/2014/main" id="{29D4F4BD-4BF9-7AEE-43EF-107425C2CF8B}"/>
              </a:ext>
            </a:extLst>
          </p:cNvPr>
          <p:cNvSpPr/>
          <p:nvPr/>
        </p:nvSpPr>
        <p:spPr>
          <a:xfrm>
            <a:off x="2784763" y="1018308"/>
            <a:ext cx="9216737" cy="1356074"/>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t"/>
          <a:lstStyle/>
          <a:p>
            <a:pPr marL="342900" indent="-342900">
              <a:buAutoNum type="arabicPeriod"/>
            </a:pPr>
            <a:r>
              <a:rPr lang="en-IN" sz="1600" dirty="0"/>
              <a:t>Directly interacts with the user</a:t>
            </a:r>
          </a:p>
          <a:p>
            <a:pPr marL="342900" indent="-342900">
              <a:buAutoNum type="arabicPeriod"/>
            </a:pPr>
            <a:r>
              <a:rPr lang="en-IN" sz="1600" dirty="0"/>
              <a:t>Identify the user query and decides which agent to call</a:t>
            </a:r>
          </a:p>
        </p:txBody>
      </p:sp>
      <p:sp>
        <p:nvSpPr>
          <p:cNvPr id="12" name="Rectangle 11">
            <a:extLst>
              <a:ext uri="{FF2B5EF4-FFF2-40B4-BE49-F238E27FC236}">
                <a16:creationId xmlns:a16="http://schemas.microsoft.com/office/drawing/2014/main" id="{508966E9-87DC-414A-1561-B347F15F7D42}"/>
              </a:ext>
            </a:extLst>
          </p:cNvPr>
          <p:cNvSpPr/>
          <p:nvPr/>
        </p:nvSpPr>
        <p:spPr>
          <a:xfrm>
            <a:off x="190500" y="2516391"/>
            <a:ext cx="2542309" cy="1808018"/>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4" name="Rectangle 13">
            <a:extLst>
              <a:ext uri="{FF2B5EF4-FFF2-40B4-BE49-F238E27FC236}">
                <a16:creationId xmlns:a16="http://schemas.microsoft.com/office/drawing/2014/main" id="{30C99837-B331-CF87-0B63-5BAF1372044E}"/>
              </a:ext>
            </a:extLst>
          </p:cNvPr>
          <p:cNvSpPr/>
          <p:nvPr/>
        </p:nvSpPr>
        <p:spPr>
          <a:xfrm>
            <a:off x="2784763" y="2516391"/>
            <a:ext cx="9216737"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sz="1600" dirty="0"/>
              <a:t>Scholar Agent: Tasks</a:t>
            </a:r>
          </a:p>
        </p:txBody>
      </p:sp>
      <p:sp>
        <p:nvSpPr>
          <p:cNvPr id="15" name="Rectangle 14">
            <a:extLst>
              <a:ext uri="{FF2B5EF4-FFF2-40B4-BE49-F238E27FC236}">
                <a16:creationId xmlns:a16="http://schemas.microsoft.com/office/drawing/2014/main" id="{0ECCB131-2E1D-A283-6D1D-A532F1D6FF17}"/>
              </a:ext>
            </a:extLst>
          </p:cNvPr>
          <p:cNvSpPr/>
          <p:nvPr/>
        </p:nvSpPr>
        <p:spPr>
          <a:xfrm>
            <a:off x="2784763" y="2968335"/>
            <a:ext cx="9216737" cy="1356074"/>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t"/>
          <a:lstStyle/>
          <a:p>
            <a:pPr marL="342900" indent="-342900">
              <a:buAutoNum type="arabicPeriod"/>
            </a:pPr>
            <a:r>
              <a:rPr lang="en-IN" sz="1600" dirty="0"/>
              <a:t>Breaks / rephrases the user query to improve the search in scholar data</a:t>
            </a:r>
          </a:p>
          <a:p>
            <a:pPr marL="342900" indent="-342900">
              <a:buAutoNum type="arabicPeriod"/>
            </a:pPr>
            <a:r>
              <a:rPr lang="en-IN" sz="1600" dirty="0"/>
              <a:t>It has a tool, Semantic Scholar API, to search and return the title, citations, publication year and abstract of relevant research papers</a:t>
            </a:r>
          </a:p>
        </p:txBody>
      </p:sp>
      <p:sp>
        <p:nvSpPr>
          <p:cNvPr id="16" name="Rectangle 15">
            <a:extLst>
              <a:ext uri="{FF2B5EF4-FFF2-40B4-BE49-F238E27FC236}">
                <a16:creationId xmlns:a16="http://schemas.microsoft.com/office/drawing/2014/main" id="{E2533A46-F6C4-9BF8-2BE2-AD051EB74F76}"/>
              </a:ext>
            </a:extLst>
          </p:cNvPr>
          <p:cNvSpPr/>
          <p:nvPr/>
        </p:nvSpPr>
        <p:spPr>
          <a:xfrm>
            <a:off x="190500" y="4466418"/>
            <a:ext cx="2542309" cy="1808018"/>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8" name="Rectangle 17">
            <a:extLst>
              <a:ext uri="{FF2B5EF4-FFF2-40B4-BE49-F238E27FC236}">
                <a16:creationId xmlns:a16="http://schemas.microsoft.com/office/drawing/2014/main" id="{4BDDD5F6-BA31-2AA9-DA55-87D3E88484A2}"/>
              </a:ext>
            </a:extLst>
          </p:cNvPr>
          <p:cNvSpPr/>
          <p:nvPr/>
        </p:nvSpPr>
        <p:spPr>
          <a:xfrm>
            <a:off x="2784763" y="4466418"/>
            <a:ext cx="9216737"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sz="1600" dirty="0"/>
              <a:t>Market Agent: Tasks</a:t>
            </a:r>
          </a:p>
        </p:txBody>
      </p:sp>
      <p:sp>
        <p:nvSpPr>
          <p:cNvPr id="19" name="Rectangle 18">
            <a:extLst>
              <a:ext uri="{FF2B5EF4-FFF2-40B4-BE49-F238E27FC236}">
                <a16:creationId xmlns:a16="http://schemas.microsoft.com/office/drawing/2014/main" id="{D2F3A7EC-E22E-7883-14EE-F00A2B173C27}"/>
              </a:ext>
            </a:extLst>
          </p:cNvPr>
          <p:cNvSpPr/>
          <p:nvPr/>
        </p:nvSpPr>
        <p:spPr>
          <a:xfrm>
            <a:off x="2784763" y="4918362"/>
            <a:ext cx="9216737" cy="1356074"/>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t"/>
          <a:lstStyle/>
          <a:p>
            <a:pPr marL="342900" indent="-342900">
              <a:buAutoNum type="arabicPeriod"/>
            </a:pPr>
            <a:r>
              <a:rPr lang="en-IN" sz="1600" dirty="0"/>
              <a:t>It breaks / rephrases the user query to improve the search in market data</a:t>
            </a:r>
          </a:p>
          <a:p>
            <a:pPr marL="342900" indent="-342900">
              <a:buAutoNum type="arabicPeriod"/>
            </a:pPr>
            <a:r>
              <a:rPr lang="en-IN" sz="1600" dirty="0"/>
              <a:t>It has a tool, Perplexity API, to search and return the latest news, articles, trending products, services, etc., matching the user query</a:t>
            </a:r>
          </a:p>
        </p:txBody>
      </p:sp>
      <p:pic>
        <p:nvPicPr>
          <p:cNvPr id="20" name="Picture 6" descr="Graduation Icon PNG Transparent Background, Free Download #7826 -  FreeIconsPNG">
            <a:extLst>
              <a:ext uri="{FF2B5EF4-FFF2-40B4-BE49-F238E27FC236}">
                <a16:creationId xmlns:a16="http://schemas.microsoft.com/office/drawing/2014/main" id="{385E506E-6EF9-9590-5350-BEB87F26267A}"/>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5577" y="2602923"/>
            <a:ext cx="1652153" cy="165215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8" descr="Man with Sunglasses and Suit icon | Freepik">
            <a:extLst>
              <a:ext uri="{FF2B5EF4-FFF2-40B4-BE49-F238E27FC236}">
                <a16:creationId xmlns:a16="http://schemas.microsoft.com/office/drawing/2014/main" id="{3536DC0C-174C-FBEE-EFE8-70196FD2677B}"/>
              </a:ext>
            </a:extLst>
          </p:cNvPr>
          <p:cNvPicPr>
            <a:picLocks noChangeAspect="1" noChangeArrowheads="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8374" y="4544348"/>
            <a:ext cx="1669356" cy="1669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072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79616-9FB2-3DC6-E9CA-671E92ABC9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343091-E70E-C00D-2063-D1AD1F837E40}"/>
              </a:ext>
            </a:extLst>
          </p:cNvPr>
          <p:cNvSpPr txBox="1"/>
          <p:nvPr/>
        </p:nvSpPr>
        <p:spPr>
          <a:xfrm>
            <a:off x="190500" y="166254"/>
            <a:ext cx="11811000" cy="400110"/>
          </a:xfrm>
          <a:prstGeom prst="rect">
            <a:avLst/>
          </a:prstGeom>
          <a:noFill/>
        </p:spPr>
        <p:txBody>
          <a:bodyPr wrap="square" rtlCol="0">
            <a:spAutoFit/>
          </a:bodyPr>
          <a:lstStyle/>
          <a:p>
            <a:r>
              <a:rPr lang="en-IN" sz="2000" b="1" dirty="0"/>
              <a:t>Agents</a:t>
            </a:r>
          </a:p>
        </p:txBody>
      </p:sp>
      <p:sp>
        <p:nvSpPr>
          <p:cNvPr id="4" name="Rectangle 3">
            <a:extLst>
              <a:ext uri="{FF2B5EF4-FFF2-40B4-BE49-F238E27FC236}">
                <a16:creationId xmlns:a16="http://schemas.microsoft.com/office/drawing/2014/main" id="{ACFA11C5-3082-BF23-677E-95A5FDC1C227}"/>
              </a:ext>
            </a:extLst>
          </p:cNvPr>
          <p:cNvSpPr/>
          <p:nvPr/>
        </p:nvSpPr>
        <p:spPr>
          <a:xfrm>
            <a:off x="190500" y="566364"/>
            <a:ext cx="2542309" cy="1808018"/>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1A9AA97C-3249-2B21-C669-550A5F5BBFF4}"/>
              </a:ext>
            </a:extLst>
          </p:cNvPr>
          <p:cNvSpPr/>
          <p:nvPr/>
        </p:nvSpPr>
        <p:spPr>
          <a:xfrm>
            <a:off x="2784763" y="566364"/>
            <a:ext cx="9216737"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sz="1600" dirty="0"/>
              <a:t>Summarizer Agent: Tasks</a:t>
            </a:r>
          </a:p>
        </p:txBody>
      </p:sp>
      <p:sp>
        <p:nvSpPr>
          <p:cNvPr id="7" name="Rectangle 6">
            <a:extLst>
              <a:ext uri="{FF2B5EF4-FFF2-40B4-BE49-F238E27FC236}">
                <a16:creationId xmlns:a16="http://schemas.microsoft.com/office/drawing/2014/main" id="{6680B007-5E8A-35C8-0D4C-AAC8DD059F6B}"/>
              </a:ext>
            </a:extLst>
          </p:cNvPr>
          <p:cNvSpPr/>
          <p:nvPr/>
        </p:nvSpPr>
        <p:spPr>
          <a:xfrm>
            <a:off x="2784763" y="1018308"/>
            <a:ext cx="9216737" cy="1356074"/>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t"/>
          <a:lstStyle/>
          <a:p>
            <a:pPr marL="342900" indent="-342900">
              <a:buAutoNum type="arabicPeriod"/>
            </a:pPr>
            <a:r>
              <a:rPr lang="en-IN" sz="1600" dirty="0"/>
              <a:t>It gets data from Scholar Agent and Market Agent and summarizes it to eliminate redundancy</a:t>
            </a:r>
          </a:p>
        </p:txBody>
      </p:sp>
      <p:sp>
        <p:nvSpPr>
          <p:cNvPr id="8" name="Rectangle 7">
            <a:extLst>
              <a:ext uri="{FF2B5EF4-FFF2-40B4-BE49-F238E27FC236}">
                <a16:creationId xmlns:a16="http://schemas.microsoft.com/office/drawing/2014/main" id="{B9F1C7C0-F27A-4CEE-34B5-72AB35698670}"/>
              </a:ext>
            </a:extLst>
          </p:cNvPr>
          <p:cNvSpPr/>
          <p:nvPr/>
        </p:nvSpPr>
        <p:spPr>
          <a:xfrm>
            <a:off x="190500" y="2516391"/>
            <a:ext cx="2542309" cy="1808018"/>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Rectangle 8">
            <a:extLst>
              <a:ext uri="{FF2B5EF4-FFF2-40B4-BE49-F238E27FC236}">
                <a16:creationId xmlns:a16="http://schemas.microsoft.com/office/drawing/2014/main" id="{6696B362-1CFD-FCF8-21DE-3742C3E0C859}"/>
              </a:ext>
            </a:extLst>
          </p:cNvPr>
          <p:cNvSpPr/>
          <p:nvPr/>
        </p:nvSpPr>
        <p:spPr>
          <a:xfrm>
            <a:off x="2784763" y="2516391"/>
            <a:ext cx="9216737"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sz="1600" dirty="0"/>
              <a:t>Critic Agent: Tasks</a:t>
            </a:r>
          </a:p>
        </p:txBody>
      </p:sp>
      <p:sp>
        <p:nvSpPr>
          <p:cNvPr id="10" name="Rectangle 9">
            <a:extLst>
              <a:ext uri="{FF2B5EF4-FFF2-40B4-BE49-F238E27FC236}">
                <a16:creationId xmlns:a16="http://schemas.microsoft.com/office/drawing/2014/main" id="{DCC85406-1C89-0888-775E-33029B436BD5}"/>
              </a:ext>
            </a:extLst>
          </p:cNvPr>
          <p:cNvSpPr/>
          <p:nvPr/>
        </p:nvSpPr>
        <p:spPr>
          <a:xfrm>
            <a:off x="2784763" y="2968335"/>
            <a:ext cx="9216737" cy="1356074"/>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t"/>
          <a:lstStyle/>
          <a:p>
            <a:pPr marL="342900" indent="-342900">
              <a:buAutoNum type="arabicPeriod"/>
            </a:pPr>
            <a:r>
              <a:rPr lang="en-IN" sz="1600" dirty="0"/>
              <a:t>This agent will get the summary from Summarizer Agent and finds gaps, limitations, biases</a:t>
            </a:r>
          </a:p>
          <a:p>
            <a:pPr marL="342900" indent="-342900">
              <a:buAutoNum type="arabicPeriod"/>
            </a:pPr>
            <a:r>
              <a:rPr lang="en-IN" sz="1600" dirty="0"/>
              <a:t>Share these critics with the user which could help the user to identify a research problem</a:t>
            </a:r>
          </a:p>
        </p:txBody>
      </p:sp>
      <p:sp>
        <p:nvSpPr>
          <p:cNvPr id="11" name="Rectangle 10">
            <a:extLst>
              <a:ext uri="{FF2B5EF4-FFF2-40B4-BE49-F238E27FC236}">
                <a16:creationId xmlns:a16="http://schemas.microsoft.com/office/drawing/2014/main" id="{80BC38D5-40BB-56A7-E456-6923CEFFC5F1}"/>
              </a:ext>
            </a:extLst>
          </p:cNvPr>
          <p:cNvSpPr/>
          <p:nvPr/>
        </p:nvSpPr>
        <p:spPr>
          <a:xfrm>
            <a:off x="190500" y="4466418"/>
            <a:ext cx="2542309" cy="1808018"/>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id="{85F6787E-BE1F-0A30-580F-F1182396274D}"/>
              </a:ext>
            </a:extLst>
          </p:cNvPr>
          <p:cNvSpPr/>
          <p:nvPr/>
        </p:nvSpPr>
        <p:spPr>
          <a:xfrm>
            <a:off x="2784763" y="4466418"/>
            <a:ext cx="9216737"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sz="1600" dirty="0"/>
              <a:t>Report Generation Agent: Tasks</a:t>
            </a:r>
          </a:p>
        </p:txBody>
      </p:sp>
      <p:sp>
        <p:nvSpPr>
          <p:cNvPr id="13" name="Rectangle 12">
            <a:extLst>
              <a:ext uri="{FF2B5EF4-FFF2-40B4-BE49-F238E27FC236}">
                <a16:creationId xmlns:a16="http://schemas.microsoft.com/office/drawing/2014/main" id="{0B58CAAE-2248-C907-F605-4C96AEBB0A7A}"/>
              </a:ext>
            </a:extLst>
          </p:cNvPr>
          <p:cNvSpPr/>
          <p:nvPr/>
        </p:nvSpPr>
        <p:spPr>
          <a:xfrm>
            <a:off x="2784763" y="4918362"/>
            <a:ext cx="9216737" cy="1356074"/>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t"/>
          <a:lstStyle/>
          <a:p>
            <a:pPr marL="342900" indent="-342900">
              <a:buAutoNum type="arabicPeriod"/>
            </a:pPr>
            <a:r>
              <a:rPr lang="en-IN" sz="1600" dirty="0"/>
              <a:t>It takes summary from Summarizer Agent and critics from Critic Agent</a:t>
            </a:r>
          </a:p>
          <a:p>
            <a:pPr marL="342900" indent="-342900">
              <a:buAutoNum type="arabicPeriod"/>
            </a:pPr>
            <a:r>
              <a:rPr lang="en-IN" sz="1600" dirty="0"/>
              <a:t>Builds a well structured (with topics and sub-topics) readable report from the collected data</a:t>
            </a:r>
          </a:p>
        </p:txBody>
      </p:sp>
      <p:pic>
        <p:nvPicPr>
          <p:cNvPr id="16" name="Picture 10" descr="Writing - Free people icons">
            <a:extLst>
              <a:ext uri="{FF2B5EF4-FFF2-40B4-BE49-F238E27FC236}">
                <a16:creationId xmlns:a16="http://schemas.microsoft.com/office/drawing/2014/main" id="{514A176E-AEA6-5288-3D11-6392FF71FF65}"/>
              </a:ext>
            </a:extLst>
          </p:cNvPr>
          <p:cNvPicPr>
            <a:picLocks noChangeAspect="1" noChangeArrowheads="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5578" y="644294"/>
            <a:ext cx="1652152" cy="16521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Secret Agent Free Download PNG HD Transparent HQ PNG Download | FreePNGimg">
            <a:extLst>
              <a:ext uri="{FF2B5EF4-FFF2-40B4-BE49-F238E27FC236}">
                <a16:creationId xmlns:a16="http://schemas.microsoft.com/office/drawing/2014/main" id="{604D2533-B487-DCC7-62CA-3D36A4960A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806" y="2615552"/>
            <a:ext cx="1609695" cy="160969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Businessman showing stats graphic - Free business icons">
            <a:extLst>
              <a:ext uri="{FF2B5EF4-FFF2-40B4-BE49-F238E27FC236}">
                <a16:creationId xmlns:a16="http://schemas.microsoft.com/office/drawing/2014/main" id="{4E2F1042-DEEA-18CE-530F-1DF30FE14FB5}"/>
              </a:ext>
            </a:extLst>
          </p:cNvPr>
          <p:cNvPicPr>
            <a:picLocks noChangeAspect="1" noChangeArrowheads="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6191" y="4554965"/>
            <a:ext cx="1630923" cy="1630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617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108BC-7BFC-E019-C2CD-35D66D8673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BE6751-BBB0-2A2E-77D2-005D7BB99659}"/>
              </a:ext>
            </a:extLst>
          </p:cNvPr>
          <p:cNvSpPr txBox="1"/>
          <p:nvPr/>
        </p:nvSpPr>
        <p:spPr>
          <a:xfrm>
            <a:off x="190500" y="166254"/>
            <a:ext cx="11811000" cy="400110"/>
          </a:xfrm>
          <a:prstGeom prst="rect">
            <a:avLst/>
          </a:prstGeom>
          <a:noFill/>
        </p:spPr>
        <p:txBody>
          <a:bodyPr wrap="square" rtlCol="0">
            <a:spAutoFit/>
          </a:bodyPr>
          <a:lstStyle/>
          <a:p>
            <a:r>
              <a:rPr lang="en-IN" sz="2000" b="1" dirty="0"/>
              <a:t>Agents</a:t>
            </a:r>
          </a:p>
        </p:txBody>
      </p:sp>
      <p:sp>
        <p:nvSpPr>
          <p:cNvPr id="4" name="Rectangle 3">
            <a:extLst>
              <a:ext uri="{FF2B5EF4-FFF2-40B4-BE49-F238E27FC236}">
                <a16:creationId xmlns:a16="http://schemas.microsoft.com/office/drawing/2014/main" id="{4B7DA16C-C0C4-964F-BA16-E62C2E144675}"/>
              </a:ext>
            </a:extLst>
          </p:cNvPr>
          <p:cNvSpPr/>
          <p:nvPr/>
        </p:nvSpPr>
        <p:spPr>
          <a:xfrm>
            <a:off x="190500" y="566364"/>
            <a:ext cx="2542309" cy="1808018"/>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FF078668-B174-78ED-AA80-072800147FF1}"/>
              </a:ext>
            </a:extLst>
          </p:cNvPr>
          <p:cNvSpPr/>
          <p:nvPr/>
        </p:nvSpPr>
        <p:spPr>
          <a:xfrm>
            <a:off x="2784763" y="566364"/>
            <a:ext cx="9216737"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sz="1600" dirty="0"/>
              <a:t>RAG Agent: Tasks</a:t>
            </a:r>
          </a:p>
        </p:txBody>
      </p:sp>
      <p:sp>
        <p:nvSpPr>
          <p:cNvPr id="7" name="Rectangle 6">
            <a:extLst>
              <a:ext uri="{FF2B5EF4-FFF2-40B4-BE49-F238E27FC236}">
                <a16:creationId xmlns:a16="http://schemas.microsoft.com/office/drawing/2014/main" id="{C474A56E-7873-769E-AC4A-053D3D48B1D3}"/>
              </a:ext>
            </a:extLst>
          </p:cNvPr>
          <p:cNvSpPr/>
          <p:nvPr/>
        </p:nvSpPr>
        <p:spPr>
          <a:xfrm>
            <a:off x="2784763" y="1018308"/>
            <a:ext cx="9216737" cy="1356074"/>
          </a:xfrm>
          <a:prstGeom prst="rect">
            <a:avLst/>
          </a:prstGeom>
          <a:solidFill>
            <a:schemeClr val="bg1">
              <a:lumMod val="95000"/>
            </a:schemeClr>
          </a:solidFill>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t"/>
          <a:lstStyle/>
          <a:p>
            <a:pPr marL="342900" indent="-342900">
              <a:buAutoNum type="arabicPeriod"/>
            </a:pPr>
            <a:r>
              <a:rPr lang="en-IN" sz="1600" dirty="0"/>
              <a:t>It gets summary from the Summarizer Agent and critics from the Critics Agent</a:t>
            </a:r>
          </a:p>
          <a:p>
            <a:pPr marL="342900" indent="-342900">
              <a:buAutoNum type="arabicPeriod"/>
            </a:pPr>
            <a:r>
              <a:rPr lang="en-IN" sz="1600" dirty="0"/>
              <a:t>Builds a RAG pipeline to answer any questions that user may ask</a:t>
            </a:r>
          </a:p>
        </p:txBody>
      </p:sp>
      <p:pic>
        <p:nvPicPr>
          <p:cNvPr id="3" name="Picture 16" descr="Idea - Free user icons">
            <a:extLst>
              <a:ext uri="{FF2B5EF4-FFF2-40B4-BE49-F238E27FC236}">
                <a16:creationId xmlns:a16="http://schemas.microsoft.com/office/drawing/2014/main" id="{E1B6CE72-D4F0-875E-2F61-A9C9D1B7B594}"/>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5018" y="665137"/>
            <a:ext cx="1600199" cy="1600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37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41924-F348-6658-84AF-69A2A0ACD3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F15FA7-9083-4130-5294-A4150BB1FCFE}"/>
              </a:ext>
            </a:extLst>
          </p:cNvPr>
          <p:cNvSpPr txBox="1"/>
          <p:nvPr/>
        </p:nvSpPr>
        <p:spPr>
          <a:xfrm>
            <a:off x="190500" y="166254"/>
            <a:ext cx="11811000" cy="400110"/>
          </a:xfrm>
          <a:prstGeom prst="rect">
            <a:avLst/>
          </a:prstGeom>
          <a:noFill/>
        </p:spPr>
        <p:txBody>
          <a:bodyPr wrap="square" rtlCol="0">
            <a:spAutoFit/>
          </a:bodyPr>
          <a:lstStyle/>
          <a:p>
            <a:r>
              <a:rPr lang="en-IN" sz="2000" b="1" dirty="0"/>
              <a:t>Tools: Semantic Scholar API</a:t>
            </a:r>
          </a:p>
        </p:txBody>
      </p:sp>
      <p:pic>
        <p:nvPicPr>
          <p:cNvPr id="2052" name="Picture 4" descr="Progress in Neurobiology (PNEURO) | Open Access">
            <a:extLst>
              <a:ext uri="{FF2B5EF4-FFF2-40B4-BE49-F238E27FC236}">
                <a16:creationId xmlns:a16="http://schemas.microsoft.com/office/drawing/2014/main" id="{04BBF192-AF6C-639F-4396-640BAE153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158" y="566364"/>
            <a:ext cx="3420342" cy="16417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B16B3C-4A4D-41A3-5A9F-637022EDF5D0}"/>
              </a:ext>
            </a:extLst>
          </p:cNvPr>
          <p:cNvSpPr txBox="1"/>
          <p:nvPr/>
        </p:nvSpPr>
        <p:spPr>
          <a:xfrm>
            <a:off x="190500" y="725526"/>
            <a:ext cx="8390658" cy="1323439"/>
          </a:xfrm>
          <a:prstGeom prst="rect">
            <a:avLst/>
          </a:prstGeom>
          <a:noFill/>
        </p:spPr>
        <p:txBody>
          <a:bodyPr wrap="square" rtlCol="0">
            <a:spAutoFit/>
          </a:bodyPr>
          <a:lstStyle/>
          <a:p>
            <a:r>
              <a:rPr lang="en-IN" sz="1600" b="1" dirty="0"/>
              <a:t>Semantic Scholar</a:t>
            </a:r>
          </a:p>
          <a:p>
            <a:pPr marL="285750" indent="-285750">
              <a:buFont typeface="Arial" panose="020B0604020202020204" pitchFamily="34" charset="0"/>
              <a:buChar char="•"/>
            </a:pPr>
            <a:r>
              <a:rPr lang="en-IN" sz="1600" dirty="0"/>
              <a:t>Semantic Scholar provides free, AI-driven search and discovery tools, and open resources for the global research community.</a:t>
            </a:r>
          </a:p>
          <a:p>
            <a:pPr marL="285750" indent="-285750">
              <a:buFont typeface="Arial" panose="020B0604020202020204" pitchFamily="34" charset="0"/>
              <a:buChar char="•"/>
            </a:pPr>
            <a:r>
              <a:rPr lang="en-IN" sz="1600" dirty="0"/>
              <a:t>Semantic Scholar index over 200 million academic papers sourced from </a:t>
            </a:r>
            <a:r>
              <a:rPr lang="en-IN" sz="1600" dirty="0">
                <a:hlinkClick r:id="rId3"/>
              </a:rPr>
              <a:t>publisher partners</a:t>
            </a:r>
            <a:r>
              <a:rPr lang="en-IN" sz="1600" dirty="0"/>
              <a:t>, data providers, and web crawls.</a:t>
            </a:r>
          </a:p>
        </p:txBody>
      </p:sp>
      <p:graphicFrame>
        <p:nvGraphicFramePr>
          <p:cNvPr id="6" name="Table 5">
            <a:extLst>
              <a:ext uri="{FF2B5EF4-FFF2-40B4-BE49-F238E27FC236}">
                <a16:creationId xmlns:a16="http://schemas.microsoft.com/office/drawing/2014/main" id="{73BE18FF-8E82-AB13-589F-311D7E537F23}"/>
              </a:ext>
            </a:extLst>
          </p:cNvPr>
          <p:cNvGraphicFramePr>
            <a:graphicFrameLocks noGrp="1"/>
          </p:cNvGraphicFramePr>
          <p:nvPr>
            <p:extLst>
              <p:ext uri="{D42A27DB-BD31-4B8C-83A1-F6EECF244321}">
                <p14:modId xmlns:p14="http://schemas.microsoft.com/office/powerpoint/2010/main" val="1929275587"/>
              </p:ext>
            </p:extLst>
          </p:nvPr>
        </p:nvGraphicFramePr>
        <p:xfrm>
          <a:off x="190500" y="2208127"/>
          <a:ext cx="11811000" cy="1584960"/>
        </p:xfrm>
        <a:graphic>
          <a:graphicData uri="http://schemas.openxmlformats.org/drawingml/2006/table">
            <a:tbl>
              <a:tblPr firstRow="1" bandRow="1">
                <a:tableStyleId>{073A0DAA-6AF3-43AB-8588-CEC1D06C72B9}</a:tableStyleId>
              </a:tblPr>
              <a:tblGrid>
                <a:gridCol w="651164">
                  <a:extLst>
                    <a:ext uri="{9D8B030D-6E8A-4147-A177-3AD203B41FA5}">
                      <a16:colId xmlns:a16="http://schemas.microsoft.com/office/drawing/2014/main" val="2139974626"/>
                    </a:ext>
                  </a:extLst>
                </a:gridCol>
                <a:gridCol w="5642263">
                  <a:extLst>
                    <a:ext uri="{9D8B030D-6E8A-4147-A177-3AD203B41FA5}">
                      <a16:colId xmlns:a16="http://schemas.microsoft.com/office/drawing/2014/main" val="1219789741"/>
                    </a:ext>
                  </a:extLst>
                </a:gridCol>
                <a:gridCol w="5517573">
                  <a:extLst>
                    <a:ext uri="{9D8B030D-6E8A-4147-A177-3AD203B41FA5}">
                      <a16:colId xmlns:a16="http://schemas.microsoft.com/office/drawing/2014/main" val="193198907"/>
                    </a:ext>
                  </a:extLst>
                </a:gridCol>
              </a:tblGrid>
              <a:tr h="235080">
                <a:tc>
                  <a:txBody>
                    <a:bodyPr/>
                    <a:lstStyle/>
                    <a:p>
                      <a:pPr algn="ctr"/>
                      <a:r>
                        <a:rPr lang="en-IN" sz="1600" dirty="0"/>
                        <a:t>#</a:t>
                      </a:r>
                    </a:p>
                  </a:txBody>
                  <a:tcPr/>
                </a:tc>
                <a:tc>
                  <a:txBody>
                    <a:bodyPr/>
                    <a:lstStyle/>
                    <a:p>
                      <a:pPr algn="ctr"/>
                      <a:r>
                        <a:rPr lang="en-IN" sz="1600" dirty="0"/>
                        <a:t>API</a:t>
                      </a:r>
                    </a:p>
                  </a:txBody>
                  <a:tcPr/>
                </a:tc>
                <a:tc>
                  <a:txBody>
                    <a:bodyPr/>
                    <a:lstStyle/>
                    <a:p>
                      <a:pPr algn="ctr"/>
                      <a:r>
                        <a:rPr lang="en-IN" sz="1600" dirty="0"/>
                        <a:t>Description</a:t>
                      </a:r>
                    </a:p>
                  </a:txBody>
                  <a:tcPr/>
                </a:tc>
                <a:extLst>
                  <a:ext uri="{0D108BD9-81ED-4DB2-BD59-A6C34878D82A}">
                    <a16:rowId xmlns:a16="http://schemas.microsoft.com/office/drawing/2014/main" val="919128788"/>
                  </a:ext>
                </a:extLst>
              </a:tr>
              <a:tr h="235080">
                <a:tc>
                  <a:txBody>
                    <a:bodyPr/>
                    <a:lstStyle/>
                    <a:p>
                      <a:pPr algn="ctr"/>
                      <a:r>
                        <a:rPr lang="en-IN" sz="1600" dirty="0"/>
                        <a:t>1</a:t>
                      </a:r>
                    </a:p>
                  </a:txBody>
                  <a:tcPr/>
                </a:tc>
                <a:tc>
                  <a:txBody>
                    <a:bodyPr/>
                    <a:lstStyle/>
                    <a:p>
                      <a:r>
                        <a:rPr lang="en-IN" sz="1600" dirty="0"/>
                        <a:t>https://api.semanticscholar.org/graph/v1/paper/search</a:t>
                      </a:r>
                    </a:p>
                  </a:txBody>
                  <a:tcPr/>
                </a:tc>
                <a:tc>
                  <a:txBody>
                    <a:bodyPr/>
                    <a:lstStyle/>
                    <a:p>
                      <a:r>
                        <a:rPr lang="en-IN" sz="1600" dirty="0"/>
                        <a:t>Lets user search relevant papers for their query</a:t>
                      </a:r>
                    </a:p>
                  </a:txBody>
                  <a:tcPr/>
                </a:tc>
                <a:extLst>
                  <a:ext uri="{0D108BD9-81ED-4DB2-BD59-A6C34878D82A}">
                    <a16:rowId xmlns:a16="http://schemas.microsoft.com/office/drawing/2014/main" val="3769029517"/>
                  </a:ext>
                </a:extLst>
              </a:tr>
              <a:tr h="235080">
                <a:tc>
                  <a:txBody>
                    <a:bodyPr/>
                    <a:lstStyle/>
                    <a:p>
                      <a:pPr algn="ctr"/>
                      <a:r>
                        <a:rPr lang="en-IN" sz="1600" dirty="0"/>
                        <a:t>2</a:t>
                      </a:r>
                    </a:p>
                  </a:txBody>
                  <a:tcPr/>
                </a:tc>
                <a:tc>
                  <a:txBody>
                    <a:bodyPr/>
                    <a:lstStyle/>
                    <a:p>
                      <a:r>
                        <a:rPr lang="en-IN" sz="1600" dirty="0"/>
                        <a:t>https://api.semanticscholar.org/graph/v1/paper/{paper_id}</a:t>
                      </a:r>
                    </a:p>
                  </a:txBody>
                  <a:tcPr/>
                </a:tc>
                <a:tc>
                  <a:txBody>
                    <a:bodyPr/>
                    <a:lstStyle/>
                    <a:p>
                      <a:r>
                        <a:rPr lang="en-IN" sz="1600" dirty="0"/>
                        <a:t>Lets user find detail of a particular paper with paper ID {</a:t>
                      </a:r>
                      <a:r>
                        <a:rPr lang="en-IN" sz="1600" dirty="0" err="1"/>
                        <a:t>paper_id</a:t>
                      </a:r>
                      <a:r>
                        <a:rPr lang="en-IN" sz="1600" dirty="0"/>
                        <a:t>}</a:t>
                      </a:r>
                    </a:p>
                  </a:txBody>
                  <a:tcPr/>
                </a:tc>
                <a:extLst>
                  <a:ext uri="{0D108BD9-81ED-4DB2-BD59-A6C34878D82A}">
                    <a16:rowId xmlns:a16="http://schemas.microsoft.com/office/drawing/2014/main" val="401728881"/>
                  </a:ext>
                </a:extLst>
              </a:tr>
              <a:tr h="235080">
                <a:tc gridSpan="3">
                  <a:txBody>
                    <a:bodyPr/>
                    <a:lstStyle/>
                    <a:p>
                      <a:pPr algn="l"/>
                      <a:r>
                        <a:rPr lang="en-IN" sz="1600" dirty="0"/>
                        <a:t>Some more APIs. Please check </a:t>
                      </a:r>
                      <a:r>
                        <a:rPr lang="en-IN" sz="1600" dirty="0">
                          <a:hlinkClick r:id="rId4"/>
                        </a:rPr>
                        <a:t>here</a:t>
                      </a:r>
                      <a:r>
                        <a:rPr lang="en-IN" sz="1600" dirty="0"/>
                        <a:t>.</a:t>
                      </a:r>
                    </a:p>
                  </a:txBody>
                  <a:tcPr/>
                </a:tc>
                <a:tc hMerge="1">
                  <a:txBody>
                    <a:bodyPr/>
                    <a:lstStyle/>
                    <a:p>
                      <a:endParaRPr lang="en-IN" sz="1600" dirty="0"/>
                    </a:p>
                  </a:txBody>
                  <a:tcPr/>
                </a:tc>
                <a:tc hMerge="1">
                  <a:txBody>
                    <a:bodyPr/>
                    <a:lstStyle/>
                    <a:p>
                      <a:endParaRPr lang="en-IN" sz="1600" dirty="0"/>
                    </a:p>
                  </a:txBody>
                  <a:tcPr/>
                </a:tc>
                <a:extLst>
                  <a:ext uri="{0D108BD9-81ED-4DB2-BD59-A6C34878D82A}">
                    <a16:rowId xmlns:a16="http://schemas.microsoft.com/office/drawing/2014/main" val="4024382372"/>
                  </a:ext>
                </a:extLst>
              </a:tr>
            </a:tbl>
          </a:graphicData>
        </a:graphic>
      </p:graphicFrame>
      <p:sp>
        <p:nvSpPr>
          <p:cNvPr id="7" name="TextBox 6">
            <a:extLst>
              <a:ext uri="{FF2B5EF4-FFF2-40B4-BE49-F238E27FC236}">
                <a16:creationId xmlns:a16="http://schemas.microsoft.com/office/drawing/2014/main" id="{F0A2E447-EF63-616D-DB57-A4DA082CDFDB}"/>
              </a:ext>
            </a:extLst>
          </p:cNvPr>
          <p:cNvSpPr txBox="1"/>
          <p:nvPr/>
        </p:nvSpPr>
        <p:spPr>
          <a:xfrm>
            <a:off x="190500" y="3869121"/>
            <a:ext cx="11811000" cy="1569660"/>
          </a:xfrm>
          <a:prstGeom prst="rect">
            <a:avLst/>
          </a:prstGeom>
          <a:noFill/>
        </p:spPr>
        <p:txBody>
          <a:bodyPr wrap="square" rtlCol="0">
            <a:spAutoFit/>
          </a:bodyPr>
          <a:lstStyle/>
          <a:p>
            <a:r>
              <a:rPr lang="en-IN" sz="1600" b="1" dirty="0"/>
              <a:t>API Usage</a:t>
            </a:r>
          </a:p>
          <a:p>
            <a:pPr marL="285750" indent="-285750">
              <a:buFont typeface="Arial" panose="020B0604020202020204" pitchFamily="34" charset="0"/>
              <a:buChar char="•"/>
            </a:pPr>
            <a:r>
              <a:rPr lang="en-IN" sz="1600" dirty="0"/>
              <a:t>Most Semantic Scholar endpoints are available to the public without authentication (means no API key is required), but they are limited to 1,000 requests per second shared across all unauthenticated users. At any particular moment, only first 1,000 unauthenticated requests would be served and others would be refused by the server.</a:t>
            </a:r>
          </a:p>
          <a:p>
            <a:pPr marL="285750" indent="-285750">
              <a:buFont typeface="Arial" panose="020B0604020202020204" pitchFamily="34" charset="0"/>
              <a:buChar char="•"/>
            </a:pPr>
            <a:r>
              <a:rPr lang="en-IN" sz="1600" dirty="0"/>
              <a:t>Thus, it is advised to acquire an API key which is free of cost but with a restriction of 1 request per second. All requests after the first request in a particular second of time would be refused by the server.</a:t>
            </a:r>
          </a:p>
        </p:txBody>
      </p:sp>
      <p:sp>
        <p:nvSpPr>
          <p:cNvPr id="8" name="TextBox 7">
            <a:extLst>
              <a:ext uri="{FF2B5EF4-FFF2-40B4-BE49-F238E27FC236}">
                <a16:creationId xmlns:a16="http://schemas.microsoft.com/office/drawing/2014/main" id="{141075FA-AAC1-8921-3F82-C1B11525CDCE}"/>
              </a:ext>
            </a:extLst>
          </p:cNvPr>
          <p:cNvSpPr txBox="1"/>
          <p:nvPr/>
        </p:nvSpPr>
        <p:spPr>
          <a:xfrm>
            <a:off x="190503" y="5438781"/>
            <a:ext cx="11810997" cy="584775"/>
          </a:xfrm>
          <a:prstGeom prst="rect">
            <a:avLst/>
          </a:prstGeom>
          <a:noFill/>
        </p:spPr>
        <p:txBody>
          <a:bodyPr wrap="square" rtlCol="0">
            <a:spAutoFit/>
          </a:bodyPr>
          <a:lstStyle/>
          <a:p>
            <a:r>
              <a:rPr lang="en-IN" sz="1600" b="1" dirty="0"/>
              <a:t>NOTE</a:t>
            </a:r>
          </a:p>
          <a:p>
            <a:pPr marL="800100" lvl="1" indent="-342900">
              <a:buFont typeface="+mj-lt"/>
              <a:buAutoNum type="arabicPeriod"/>
            </a:pPr>
            <a:r>
              <a:rPr lang="en-IN" sz="1600" dirty="0"/>
              <a:t>Since it is a POC, thus only API #1 is used</a:t>
            </a:r>
          </a:p>
        </p:txBody>
      </p:sp>
    </p:spTree>
    <p:extLst>
      <p:ext uri="{BB962C8B-B14F-4D97-AF65-F5344CB8AC3E}">
        <p14:creationId xmlns:p14="http://schemas.microsoft.com/office/powerpoint/2010/main" val="1308563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35D82-81AF-5EB1-4737-C6CFEBB16D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5BE087-6BD4-0729-15AA-20787A37D02D}"/>
              </a:ext>
            </a:extLst>
          </p:cNvPr>
          <p:cNvSpPr txBox="1"/>
          <p:nvPr/>
        </p:nvSpPr>
        <p:spPr>
          <a:xfrm>
            <a:off x="190500" y="166254"/>
            <a:ext cx="11811000" cy="400110"/>
          </a:xfrm>
          <a:prstGeom prst="rect">
            <a:avLst/>
          </a:prstGeom>
          <a:noFill/>
        </p:spPr>
        <p:txBody>
          <a:bodyPr wrap="square" rtlCol="0">
            <a:spAutoFit/>
          </a:bodyPr>
          <a:lstStyle/>
          <a:p>
            <a:r>
              <a:rPr lang="en-IN" sz="2000" b="1" dirty="0"/>
              <a:t>Tools: Perplexity API</a:t>
            </a:r>
          </a:p>
        </p:txBody>
      </p:sp>
      <p:pic>
        <p:nvPicPr>
          <p:cNvPr id="6146" name="Picture 2" descr="Perplexity Ai Icon SVG Vector &amp; PNG Free Download | UXWing">
            <a:extLst>
              <a:ext uri="{FF2B5EF4-FFF2-40B4-BE49-F238E27FC236}">
                <a16:creationId xmlns:a16="http://schemas.microsoft.com/office/drawing/2014/main" id="{F414D761-D7FB-E7E5-E156-34FDFAF606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1082" y="566364"/>
            <a:ext cx="1960418" cy="196041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429FD8F-47E7-C0A6-A37E-700A7C5CAABF}"/>
              </a:ext>
            </a:extLst>
          </p:cNvPr>
          <p:cNvSpPr txBox="1"/>
          <p:nvPr/>
        </p:nvSpPr>
        <p:spPr>
          <a:xfrm>
            <a:off x="190500" y="884853"/>
            <a:ext cx="9850582" cy="1323439"/>
          </a:xfrm>
          <a:prstGeom prst="rect">
            <a:avLst/>
          </a:prstGeom>
          <a:noFill/>
        </p:spPr>
        <p:txBody>
          <a:bodyPr wrap="square" rtlCol="0">
            <a:spAutoFit/>
          </a:bodyPr>
          <a:lstStyle/>
          <a:p>
            <a:r>
              <a:rPr lang="en-IN" sz="1600" b="1" dirty="0"/>
              <a:t>Perplexity AI</a:t>
            </a:r>
          </a:p>
          <a:p>
            <a:pPr marL="285750" indent="-285750">
              <a:buFont typeface="Arial" panose="020B0604020202020204" pitchFamily="34" charset="0"/>
              <a:buChar char="•"/>
            </a:pPr>
            <a:r>
              <a:rPr lang="en-US" sz="1600" dirty="0"/>
              <a:t>Perplexity AI is an "answer engine" that provides clear, conversational answers to user queries by searching the web in real-time and summarizing the information it finds. </a:t>
            </a:r>
          </a:p>
          <a:p>
            <a:pPr marL="285750" indent="-285750">
              <a:buFont typeface="Arial" panose="020B0604020202020204" pitchFamily="34" charset="0"/>
              <a:buChar char="•"/>
            </a:pPr>
            <a:r>
              <a:rPr lang="en-US" sz="1600" dirty="0"/>
              <a:t>Unlike a traditional search engine that returns a list of links, Perplexity uses large language models (LLMs) to provide a synthesized response with clear, inline citations to the original sources.</a:t>
            </a:r>
            <a:endParaRPr lang="en-IN" sz="1600" dirty="0"/>
          </a:p>
        </p:txBody>
      </p:sp>
      <p:sp>
        <p:nvSpPr>
          <p:cNvPr id="4" name="TextBox 3">
            <a:extLst>
              <a:ext uri="{FF2B5EF4-FFF2-40B4-BE49-F238E27FC236}">
                <a16:creationId xmlns:a16="http://schemas.microsoft.com/office/drawing/2014/main" id="{C60E7F26-6A36-E20E-DBB1-DA8D39C12795}"/>
              </a:ext>
            </a:extLst>
          </p:cNvPr>
          <p:cNvSpPr txBox="1"/>
          <p:nvPr/>
        </p:nvSpPr>
        <p:spPr>
          <a:xfrm>
            <a:off x="190500" y="2526781"/>
            <a:ext cx="11811000" cy="1077218"/>
          </a:xfrm>
          <a:prstGeom prst="rect">
            <a:avLst/>
          </a:prstGeom>
          <a:noFill/>
        </p:spPr>
        <p:txBody>
          <a:bodyPr wrap="square" rtlCol="0">
            <a:spAutoFit/>
          </a:bodyPr>
          <a:lstStyle/>
          <a:p>
            <a:r>
              <a:rPr lang="en-IN" sz="1600" b="1" dirty="0"/>
              <a:t>API</a:t>
            </a:r>
          </a:p>
          <a:p>
            <a:pPr marL="285750" indent="-285750">
              <a:buFont typeface="Arial" panose="020B0604020202020204" pitchFamily="34" charset="0"/>
              <a:buChar char="•"/>
            </a:pPr>
            <a:r>
              <a:rPr lang="en-US" sz="1600" dirty="0"/>
              <a:t>Perplexity API lets user submit a search query and get results from all the Perplexity supported sources.</a:t>
            </a:r>
          </a:p>
          <a:p>
            <a:pPr marL="285750" indent="-285750">
              <a:buFont typeface="Arial" panose="020B0604020202020204" pitchFamily="34" charset="0"/>
              <a:buChar char="•"/>
            </a:pPr>
            <a:r>
              <a:rPr lang="en-US" sz="1600" dirty="0"/>
              <a:t>The API is paid, and the charges depend on the number tokens and model used. Following are the per token pricing of different Perplexity models along with their description.</a:t>
            </a:r>
            <a:endParaRPr lang="en-IN" sz="1600" dirty="0"/>
          </a:p>
        </p:txBody>
      </p:sp>
      <p:graphicFrame>
        <p:nvGraphicFramePr>
          <p:cNvPr id="5" name="Table 4">
            <a:extLst>
              <a:ext uri="{FF2B5EF4-FFF2-40B4-BE49-F238E27FC236}">
                <a16:creationId xmlns:a16="http://schemas.microsoft.com/office/drawing/2014/main" id="{7B617ABB-7782-82EE-3269-A3855D9679F2}"/>
              </a:ext>
            </a:extLst>
          </p:cNvPr>
          <p:cNvGraphicFramePr>
            <a:graphicFrameLocks noGrp="1"/>
          </p:cNvGraphicFramePr>
          <p:nvPr>
            <p:extLst>
              <p:ext uri="{D42A27DB-BD31-4B8C-83A1-F6EECF244321}">
                <p14:modId xmlns:p14="http://schemas.microsoft.com/office/powerpoint/2010/main" val="1009215434"/>
              </p:ext>
            </p:extLst>
          </p:nvPr>
        </p:nvGraphicFramePr>
        <p:xfrm>
          <a:off x="190500" y="3603999"/>
          <a:ext cx="11810997" cy="2255520"/>
        </p:xfrm>
        <a:graphic>
          <a:graphicData uri="http://schemas.openxmlformats.org/drawingml/2006/table">
            <a:tbl>
              <a:tblPr firstRow="1" bandRow="1">
                <a:tableStyleId>{073A0DAA-6AF3-43AB-8588-CEC1D06C72B9}</a:tableStyleId>
              </a:tblPr>
              <a:tblGrid>
                <a:gridCol w="391391">
                  <a:extLst>
                    <a:ext uri="{9D8B030D-6E8A-4147-A177-3AD203B41FA5}">
                      <a16:colId xmlns:a16="http://schemas.microsoft.com/office/drawing/2014/main" val="3126118330"/>
                    </a:ext>
                  </a:extLst>
                </a:gridCol>
                <a:gridCol w="2119745">
                  <a:extLst>
                    <a:ext uri="{9D8B030D-6E8A-4147-A177-3AD203B41FA5}">
                      <a16:colId xmlns:a16="http://schemas.microsoft.com/office/drawing/2014/main" val="3706969558"/>
                    </a:ext>
                  </a:extLst>
                </a:gridCol>
                <a:gridCol w="519546">
                  <a:extLst>
                    <a:ext uri="{9D8B030D-6E8A-4147-A177-3AD203B41FA5}">
                      <a16:colId xmlns:a16="http://schemas.microsoft.com/office/drawing/2014/main" val="1253817238"/>
                    </a:ext>
                  </a:extLst>
                </a:gridCol>
                <a:gridCol w="540327">
                  <a:extLst>
                    <a:ext uri="{9D8B030D-6E8A-4147-A177-3AD203B41FA5}">
                      <a16:colId xmlns:a16="http://schemas.microsoft.com/office/drawing/2014/main" val="35359504"/>
                    </a:ext>
                  </a:extLst>
                </a:gridCol>
                <a:gridCol w="976746">
                  <a:extLst>
                    <a:ext uri="{9D8B030D-6E8A-4147-A177-3AD203B41FA5}">
                      <a16:colId xmlns:a16="http://schemas.microsoft.com/office/drawing/2014/main" val="2427336983"/>
                    </a:ext>
                  </a:extLst>
                </a:gridCol>
                <a:gridCol w="966354">
                  <a:extLst>
                    <a:ext uri="{9D8B030D-6E8A-4147-A177-3AD203B41FA5}">
                      <a16:colId xmlns:a16="http://schemas.microsoft.com/office/drawing/2014/main" val="1129739526"/>
                    </a:ext>
                  </a:extLst>
                </a:gridCol>
                <a:gridCol w="1226127">
                  <a:extLst>
                    <a:ext uri="{9D8B030D-6E8A-4147-A177-3AD203B41FA5}">
                      <a16:colId xmlns:a16="http://schemas.microsoft.com/office/drawing/2014/main" val="3863612712"/>
                    </a:ext>
                  </a:extLst>
                </a:gridCol>
                <a:gridCol w="5070761">
                  <a:extLst>
                    <a:ext uri="{9D8B030D-6E8A-4147-A177-3AD203B41FA5}">
                      <a16:colId xmlns:a16="http://schemas.microsoft.com/office/drawing/2014/main" val="3700313419"/>
                    </a:ext>
                  </a:extLst>
                </a:gridCol>
              </a:tblGrid>
              <a:tr h="179536">
                <a:tc>
                  <a:txBody>
                    <a:bodyPr/>
                    <a:lstStyle/>
                    <a:p>
                      <a:pPr algn="ctr"/>
                      <a:r>
                        <a:rPr lang="en-IN" sz="1600" dirty="0"/>
                        <a:t>#</a:t>
                      </a:r>
                    </a:p>
                  </a:txBody>
                  <a:tcPr anchor="ctr"/>
                </a:tc>
                <a:tc>
                  <a:txBody>
                    <a:bodyPr/>
                    <a:lstStyle/>
                    <a:p>
                      <a:pPr algn="ctr"/>
                      <a:r>
                        <a:rPr lang="en-IN" sz="1600" dirty="0"/>
                        <a:t>Model</a:t>
                      </a:r>
                    </a:p>
                  </a:txBody>
                  <a:tcPr anchor="ctr"/>
                </a:tc>
                <a:tc>
                  <a:txBody>
                    <a:bodyPr/>
                    <a:lstStyle/>
                    <a:p>
                      <a:pPr algn="ctr"/>
                      <a:r>
                        <a:rPr lang="en-IN" sz="1600" dirty="0"/>
                        <a:t>I/P</a:t>
                      </a:r>
                    </a:p>
                  </a:txBody>
                  <a:tcPr anchor="ctr"/>
                </a:tc>
                <a:tc>
                  <a:txBody>
                    <a:bodyPr/>
                    <a:lstStyle/>
                    <a:p>
                      <a:pPr algn="ctr"/>
                      <a:r>
                        <a:rPr lang="en-IN" sz="1600" dirty="0"/>
                        <a:t>O/P</a:t>
                      </a:r>
                    </a:p>
                  </a:txBody>
                  <a:tcPr anchor="ctr"/>
                </a:tc>
                <a:tc>
                  <a:txBody>
                    <a:bodyPr/>
                    <a:lstStyle/>
                    <a:p>
                      <a:pPr algn="ctr"/>
                      <a:r>
                        <a:rPr lang="en-IN" sz="1600" dirty="0"/>
                        <a:t>Citation</a:t>
                      </a:r>
                    </a:p>
                  </a:txBody>
                  <a:tcPr anchor="ctr"/>
                </a:tc>
                <a:tc>
                  <a:txBody>
                    <a:bodyPr/>
                    <a:lstStyle/>
                    <a:p>
                      <a:pPr algn="ctr"/>
                      <a:r>
                        <a:rPr lang="en-IN" sz="1600" dirty="0"/>
                        <a:t>Search Queries</a:t>
                      </a:r>
                    </a:p>
                  </a:txBody>
                  <a:tcPr/>
                </a:tc>
                <a:tc>
                  <a:txBody>
                    <a:bodyPr/>
                    <a:lstStyle/>
                    <a:p>
                      <a:pPr algn="ctr"/>
                      <a:r>
                        <a:rPr lang="en-IN" sz="1600" dirty="0"/>
                        <a:t>Reasoning Tokens</a:t>
                      </a:r>
                    </a:p>
                  </a:txBody>
                  <a:tcPr/>
                </a:tc>
                <a:tc>
                  <a:txBody>
                    <a:bodyPr/>
                    <a:lstStyle/>
                    <a:p>
                      <a:pPr algn="ctr"/>
                      <a:r>
                        <a:rPr lang="en-IN" sz="1600" dirty="0"/>
                        <a:t>Best For</a:t>
                      </a:r>
                    </a:p>
                  </a:txBody>
                  <a:tcPr anchor="ctr"/>
                </a:tc>
                <a:extLst>
                  <a:ext uri="{0D108BD9-81ED-4DB2-BD59-A6C34878D82A}">
                    <a16:rowId xmlns:a16="http://schemas.microsoft.com/office/drawing/2014/main" val="655921306"/>
                  </a:ext>
                </a:extLst>
              </a:tr>
              <a:tr h="179536">
                <a:tc>
                  <a:txBody>
                    <a:bodyPr/>
                    <a:lstStyle/>
                    <a:p>
                      <a:pPr algn="ctr"/>
                      <a:r>
                        <a:rPr lang="en-IN" sz="1600" dirty="0"/>
                        <a:t>1</a:t>
                      </a:r>
                    </a:p>
                  </a:txBody>
                  <a:tcPr/>
                </a:tc>
                <a:tc>
                  <a:txBody>
                    <a:bodyPr/>
                    <a:lstStyle/>
                    <a:p>
                      <a:r>
                        <a:rPr lang="en-IN" sz="1600" dirty="0"/>
                        <a:t>Sonar</a:t>
                      </a:r>
                    </a:p>
                  </a:txBody>
                  <a:tcPr/>
                </a:tc>
                <a:tc>
                  <a:txBody>
                    <a:bodyPr/>
                    <a:lstStyle/>
                    <a:p>
                      <a:pPr algn="ctr"/>
                      <a:r>
                        <a:rPr lang="en-IN" sz="1600" dirty="0"/>
                        <a:t>1</a:t>
                      </a:r>
                    </a:p>
                  </a:txBody>
                  <a:tcPr/>
                </a:tc>
                <a:tc>
                  <a:txBody>
                    <a:bodyPr/>
                    <a:lstStyle/>
                    <a:p>
                      <a:pPr algn="ctr"/>
                      <a:r>
                        <a:rPr lang="en-IN" sz="1600" dirty="0"/>
                        <a:t>1</a:t>
                      </a:r>
                    </a:p>
                  </a:txBody>
                  <a:tcPr/>
                </a:tc>
                <a:tc>
                  <a:txBody>
                    <a:bodyPr/>
                    <a:lstStyle/>
                    <a:p>
                      <a:pPr algn="ctr"/>
                      <a:r>
                        <a:rPr lang="en-IN" sz="1600" dirty="0"/>
                        <a:t>-</a:t>
                      </a:r>
                    </a:p>
                  </a:txBody>
                  <a:tcPr/>
                </a:tc>
                <a:tc>
                  <a:txBody>
                    <a:bodyPr/>
                    <a:lstStyle/>
                    <a:p>
                      <a:pPr algn="ctr"/>
                      <a:r>
                        <a:rPr lang="en-IN" sz="1600" dirty="0"/>
                        <a:t>-</a:t>
                      </a:r>
                    </a:p>
                  </a:txBody>
                  <a:tcPr/>
                </a:tc>
                <a:tc>
                  <a:txBody>
                    <a:bodyPr/>
                    <a:lstStyle/>
                    <a:p>
                      <a:pPr algn="ctr"/>
                      <a:r>
                        <a:rPr lang="en-IN" sz="1600" dirty="0"/>
                        <a:t>-</a:t>
                      </a:r>
                    </a:p>
                  </a:txBody>
                  <a:tcPr/>
                </a:tc>
                <a:tc>
                  <a:txBody>
                    <a:bodyPr/>
                    <a:lstStyle/>
                    <a:p>
                      <a:r>
                        <a:rPr lang="en-US" sz="1600" dirty="0"/>
                        <a:t>Quick facts, news updates, simple Q&amp;A</a:t>
                      </a:r>
                      <a:endParaRPr lang="en-IN" sz="1600" dirty="0"/>
                    </a:p>
                  </a:txBody>
                  <a:tcPr/>
                </a:tc>
                <a:extLst>
                  <a:ext uri="{0D108BD9-81ED-4DB2-BD59-A6C34878D82A}">
                    <a16:rowId xmlns:a16="http://schemas.microsoft.com/office/drawing/2014/main" val="3241919724"/>
                  </a:ext>
                </a:extLst>
              </a:tr>
              <a:tr h="179536">
                <a:tc>
                  <a:txBody>
                    <a:bodyPr/>
                    <a:lstStyle/>
                    <a:p>
                      <a:pPr algn="ctr"/>
                      <a:r>
                        <a:rPr lang="en-IN" sz="1600" dirty="0"/>
                        <a:t>2</a:t>
                      </a:r>
                    </a:p>
                  </a:txBody>
                  <a:tcPr/>
                </a:tc>
                <a:tc>
                  <a:txBody>
                    <a:bodyPr/>
                    <a:lstStyle/>
                    <a:p>
                      <a:r>
                        <a:rPr lang="en-IN" sz="1600" dirty="0"/>
                        <a:t>Sonar Pro</a:t>
                      </a:r>
                    </a:p>
                  </a:txBody>
                  <a:tcPr/>
                </a:tc>
                <a:tc>
                  <a:txBody>
                    <a:bodyPr/>
                    <a:lstStyle/>
                    <a:p>
                      <a:pPr algn="ctr"/>
                      <a:r>
                        <a:rPr lang="en-IN" sz="1600" dirty="0"/>
                        <a:t>3</a:t>
                      </a:r>
                    </a:p>
                  </a:txBody>
                  <a:tcPr/>
                </a:tc>
                <a:tc>
                  <a:txBody>
                    <a:bodyPr/>
                    <a:lstStyle/>
                    <a:p>
                      <a:pPr algn="ctr"/>
                      <a:r>
                        <a:rPr lang="en-IN" sz="1600" dirty="0"/>
                        <a:t>15</a:t>
                      </a:r>
                    </a:p>
                  </a:txBody>
                  <a:tcPr/>
                </a:tc>
                <a:tc>
                  <a:txBody>
                    <a:bodyPr/>
                    <a:lstStyle/>
                    <a:p>
                      <a:pPr algn="ctr"/>
                      <a:r>
                        <a:rPr lang="en-IN" sz="1600" dirty="0"/>
                        <a:t>-</a:t>
                      </a:r>
                    </a:p>
                  </a:txBody>
                  <a:tcPr/>
                </a:tc>
                <a:tc>
                  <a:txBody>
                    <a:bodyPr/>
                    <a:lstStyle/>
                    <a:p>
                      <a:pPr algn="ctr"/>
                      <a:r>
                        <a:rPr lang="en-IN" sz="1600" dirty="0"/>
                        <a:t>-</a:t>
                      </a:r>
                    </a:p>
                  </a:txBody>
                  <a:tcPr/>
                </a:tc>
                <a:tc>
                  <a:txBody>
                    <a:bodyPr/>
                    <a:lstStyle/>
                    <a:p>
                      <a:pPr algn="ctr"/>
                      <a:r>
                        <a:rPr lang="en-IN" sz="1600" dirty="0"/>
                        <a:t>-</a:t>
                      </a:r>
                    </a:p>
                  </a:txBody>
                  <a:tcPr/>
                </a:tc>
                <a:tc>
                  <a:txBody>
                    <a:bodyPr/>
                    <a:lstStyle/>
                    <a:p>
                      <a:r>
                        <a:rPr lang="en-US" sz="1600" dirty="0"/>
                        <a:t>Complex queries, competitive analysis, deep research</a:t>
                      </a:r>
                      <a:endParaRPr lang="en-IN" sz="1600" dirty="0"/>
                    </a:p>
                  </a:txBody>
                  <a:tcPr/>
                </a:tc>
                <a:extLst>
                  <a:ext uri="{0D108BD9-81ED-4DB2-BD59-A6C34878D82A}">
                    <a16:rowId xmlns:a16="http://schemas.microsoft.com/office/drawing/2014/main" val="1434497072"/>
                  </a:ext>
                </a:extLst>
              </a:tr>
              <a:tr h="179536">
                <a:tc>
                  <a:txBody>
                    <a:bodyPr/>
                    <a:lstStyle/>
                    <a:p>
                      <a:pPr algn="ctr"/>
                      <a:r>
                        <a:rPr lang="en-IN" sz="1600" dirty="0"/>
                        <a:t>3</a:t>
                      </a:r>
                    </a:p>
                  </a:txBody>
                  <a:tcPr/>
                </a:tc>
                <a:tc>
                  <a:txBody>
                    <a:bodyPr/>
                    <a:lstStyle/>
                    <a:p>
                      <a:r>
                        <a:rPr lang="en-IN" sz="1600" dirty="0"/>
                        <a:t>Sonar Reasoning</a:t>
                      </a:r>
                    </a:p>
                  </a:txBody>
                  <a:tcPr/>
                </a:tc>
                <a:tc>
                  <a:txBody>
                    <a:bodyPr/>
                    <a:lstStyle/>
                    <a:p>
                      <a:pPr algn="ctr"/>
                      <a:r>
                        <a:rPr lang="en-IN" sz="1600" dirty="0"/>
                        <a:t>1</a:t>
                      </a:r>
                    </a:p>
                  </a:txBody>
                  <a:tcPr/>
                </a:tc>
                <a:tc>
                  <a:txBody>
                    <a:bodyPr/>
                    <a:lstStyle/>
                    <a:p>
                      <a:pPr algn="ctr"/>
                      <a:r>
                        <a:rPr lang="en-IN" sz="1600" dirty="0"/>
                        <a:t>5</a:t>
                      </a:r>
                    </a:p>
                  </a:txBody>
                  <a:tcPr/>
                </a:tc>
                <a:tc>
                  <a:txBody>
                    <a:bodyPr/>
                    <a:lstStyle/>
                    <a:p>
                      <a:pPr algn="ctr"/>
                      <a:r>
                        <a:rPr lang="en-IN" sz="1600" dirty="0"/>
                        <a:t>-</a:t>
                      </a:r>
                    </a:p>
                  </a:txBody>
                  <a:tcPr/>
                </a:tc>
                <a:tc>
                  <a:txBody>
                    <a:bodyPr/>
                    <a:lstStyle/>
                    <a:p>
                      <a:pPr algn="ctr"/>
                      <a:r>
                        <a:rPr lang="en-IN" sz="1600" dirty="0"/>
                        <a:t>-</a:t>
                      </a:r>
                    </a:p>
                  </a:txBody>
                  <a:tcPr/>
                </a:tc>
                <a:tc>
                  <a:txBody>
                    <a:bodyPr/>
                    <a:lstStyle/>
                    <a:p>
                      <a:pPr algn="ctr"/>
                      <a:r>
                        <a:rPr lang="en-IN" sz="1600" dirty="0"/>
                        <a:t>-</a:t>
                      </a:r>
                    </a:p>
                  </a:txBody>
                  <a:tcPr/>
                </a:tc>
                <a:tc>
                  <a:txBody>
                    <a:bodyPr/>
                    <a:lstStyle/>
                    <a:p>
                      <a:r>
                        <a:rPr lang="en-US" sz="1600" dirty="0"/>
                        <a:t>Logic puzzles, math problems, transparent reasoning</a:t>
                      </a:r>
                      <a:endParaRPr lang="en-IN" sz="1600" dirty="0"/>
                    </a:p>
                  </a:txBody>
                  <a:tcPr/>
                </a:tc>
                <a:extLst>
                  <a:ext uri="{0D108BD9-81ED-4DB2-BD59-A6C34878D82A}">
                    <a16:rowId xmlns:a16="http://schemas.microsoft.com/office/drawing/2014/main" val="498907361"/>
                  </a:ext>
                </a:extLst>
              </a:tr>
              <a:tr h="179536">
                <a:tc>
                  <a:txBody>
                    <a:bodyPr/>
                    <a:lstStyle/>
                    <a:p>
                      <a:pPr algn="ctr"/>
                      <a:r>
                        <a:rPr lang="en-IN" sz="1600" dirty="0"/>
                        <a:t>4</a:t>
                      </a:r>
                    </a:p>
                  </a:txBody>
                  <a:tcPr/>
                </a:tc>
                <a:tc>
                  <a:txBody>
                    <a:bodyPr/>
                    <a:lstStyle/>
                    <a:p>
                      <a:r>
                        <a:rPr lang="en-IN" sz="1600" dirty="0"/>
                        <a:t>Sonar Reasoning Pro</a:t>
                      </a:r>
                    </a:p>
                  </a:txBody>
                  <a:tcPr/>
                </a:tc>
                <a:tc>
                  <a:txBody>
                    <a:bodyPr/>
                    <a:lstStyle/>
                    <a:p>
                      <a:pPr algn="ctr"/>
                      <a:r>
                        <a:rPr lang="en-IN" sz="1600" dirty="0"/>
                        <a:t>2</a:t>
                      </a:r>
                    </a:p>
                  </a:txBody>
                  <a:tcPr/>
                </a:tc>
                <a:tc>
                  <a:txBody>
                    <a:bodyPr/>
                    <a:lstStyle/>
                    <a:p>
                      <a:pPr algn="ctr"/>
                      <a:r>
                        <a:rPr lang="en-IN" sz="1600" dirty="0"/>
                        <a:t>8</a:t>
                      </a:r>
                    </a:p>
                  </a:txBody>
                  <a:tcPr/>
                </a:tc>
                <a:tc>
                  <a:txBody>
                    <a:bodyPr/>
                    <a:lstStyle/>
                    <a:p>
                      <a:pPr algn="ctr"/>
                      <a:r>
                        <a:rPr lang="en-IN" sz="1600" dirty="0"/>
                        <a:t>-</a:t>
                      </a:r>
                    </a:p>
                  </a:txBody>
                  <a:tcPr/>
                </a:tc>
                <a:tc>
                  <a:txBody>
                    <a:bodyPr/>
                    <a:lstStyle/>
                    <a:p>
                      <a:pPr algn="ctr"/>
                      <a:r>
                        <a:rPr lang="en-IN" sz="1600" dirty="0"/>
                        <a:t>-</a:t>
                      </a:r>
                    </a:p>
                  </a:txBody>
                  <a:tcPr/>
                </a:tc>
                <a:tc>
                  <a:txBody>
                    <a:bodyPr/>
                    <a:lstStyle/>
                    <a:p>
                      <a:pPr algn="ctr"/>
                      <a:r>
                        <a:rPr lang="en-IN" sz="1600" dirty="0"/>
                        <a:t>-</a:t>
                      </a:r>
                    </a:p>
                  </a:txBody>
                  <a:tcPr/>
                </a:tc>
                <a:tc>
                  <a:txBody>
                    <a:bodyPr/>
                    <a:lstStyle/>
                    <a:p>
                      <a:r>
                        <a:rPr lang="en-US" sz="1600" dirty="0"/>
                        <a:t>Complex problem-solving, research analysis, planning</a:t>
                      </a:r>
                      <a:endParaRPr lang="en-IN" sz="1600" dirty="0"/>
                    </a:p>
                  </a:txBody>
                  <a:tcPr/>
                </a:tc>
                <a:extLst>
                  <a:ext uri="{0D108BD9-81ED-4DB2-BD59-A6C34878D82A}">
                    <a16:rowId xmlns:a16="http://schemas.microsoft.com/office/drawing/2014/main" val="197506361"/>
                  </a:ext>
                </a:extLst>
              </a:tr>
              <a:tr h="179536">
                <a:tc>
                  <a:txBody>
                    <a:bodyPr/>
                    <a:lstStyle/>
                    <a:p>
                      <a:pPr algn="ctr"/>
                      <a:r>
                        <a:rPr lang="en-IN" sz="1600" dirty="0"/>
                        <a:t>5</a:t>
                      </a:r>
                    </a:p>
                  </a:txBody>
                  <a:tcPr/>
                </a:tc>
                <a:tc>
                  <a:txBody>
                    <a:bodyPr/>
                    <a:lstStyle/>
                    <a:p>
                      <a:r>
                        <a:rPr lang="en-IN" sz="1600" dirty="0"/>
                        <a:t>Sonar Deep Research</a:t>
                      </a:r>
                    </a:p>
                  </a:txBody>
                  <a:tcPr/>
                </a:tc>
                <a:tc>
                  <a:txBody>
                    <a:bodyPr/>
                    <a:lstStyle/>
                    <a:p>
                      <a:pPr algn="ctr"/>
                      <a:r>
                        <a:rPr lang="en-IN" sz="1600" dirty="0"/>
                        <a:t>2</a:t>
                      </a:r>
                    </a:p>
                  </a:txBody>
                  <a:tcPr/>
                </a:tc>
                <a:tc>
                  <a:txBody>
                    <a:bodyPr/>
                    <a:lstStyle/>
                    <a:p>
                      <a:pPr algn="ctr"/>
                      <a:r>
                        <a:rPr lang="en-IN" sz="1600" dirty="0"/>
                        <a:t>8</a:t>
                      </a:r>
                    </a:p>
                  </a:txBody>
                  <a:tcPr/>
                </a:tc>
                <a:tc>
                  <a:txBody>
                    <a:bodyPr/>
                    <a:lstStyle/>
                    <a:p>
                      <a:pPr algn="ctr"/>
                      <a:r>
                        <a:rPr lang="en-IN" sz="1600" dirty="0"/>
                        <a:t>2</a:t>
                      </a:r>
                    </a:p>
                  </a:txBody>
                  <a:tcPr/>
                </a:tc>
                <a:tc>
                  <a:txBody>
                    <a:bodyPr/>
                    <a:lstStyle/>
                    <a:p>
                      <a:pPr algn="ctr"/>
                      <a:r>
                        <a:rPr lang="en-IN" sz="1600" dirty="0"/>
                        <a:t>5</a:t>
                      </a:r>
                    </a:p>
                  </a:txBody>
                  <a:tcPr/>
                </a:tc>
                <a:tc>
                  <a:txBody>
                    <a:bodyPr/>
                    <a:lstStyle/>
                    <a:p>
                      <a:pPr algn="ctr"/>
                      <a:r>
                        <a:rPr lang="en-IN" sz="1600" dirty="0"/>
                        <a:t>3</a:t>
                      </a:r>
                    </a:p>
                  </a:txBody>
                  <a:tcPr/>
                </a:tc>
                <a:tc>
                  <a:txBody>
                    <a:bodyPr/>
                    <a:lstStyle/>
                    <a:p>
                      <a:r>
                        <a:rPr lang="en-US" sz="1600" dirty="0"/>
                        <a:t>Academic research, market analysis &amp; reports</a:t>
                      </a:r>
                      <a:endParaRPr lang="en-IN" sz="1600" dirty="0"/>
                    </a:p>
                  </a:txBody>
                  <a:tcPr/>
                </a:tc>
                <a:extLst>
                  <a:ext uri="{0D108BD9-81ED-4DB2-BD59-A6C34878D82A}">
                    <a16:rowId xmlns:a16="http://schemas.microsoft.com/office/drawing/2014/main" val="3008304071"/>
                  </a:ext>
                </a:extLst>
              </a:tr>
            </a:tbl>
          </a:graphicData>
        </a:graphic>
      </p:graphicFrame>
      <p:sp>
        <p:nvSpPr>
          <p:cNvPr id="6" name="TextBox 5">
            <a:extLst>
              <a:ext uri="{FF2B5EF4-FFF2-40B4-BE49-F238E27FC236}">
                <a16:creationId xmlns:a16="http://schemas.microsoft.com/office/drawing/2014/main" id="{8C757C7E-40B4-7D79-37F3-CCAB1CA2519C}"/>
              </a:ext>
            </a:extLst>
          </p:cNvPr>
          <p:cNvSpPr txBox="1"/>
          <p:nvPr/>
        </p:nvSpPr>
        <p:spPr>
          <a:xfrm>
            <a:off x="190500" y="5870862"/>
            <a:ext cx="11810997" cy="830997"/>
          </a:xfrm>
          <a:prstGeom prst="rect">
            <a:avLst/>
          </a:prstGeom>
          <a:noFill/>
        </p:spPr>
        <p:txBody>
          <a:bodyPr wrap="square" rtlCol="0">
            <a:spAutoFit/>
          </a:bodyPr>
          <a:lstStyle/>
          <a:p>
            <a:r>
              <a:rPr lang="en-IN" sz="1600" b="1" dirty="0"/>
              <a:t>NOTE</a:t>
            </a:r>
          </a:p>
          <a:p>
            <a:pPr marL="800100" lvl="1" indent="-342900">
              <a:buFont typeface="+mj-lt"/>
              <a:buAutoNum type="arabicPeriod"/>
            </a:pPr>
            <a:r>
              <a:rPr lang="en-IN" sz="1600" dirty="0"/>
              <a:t>Above prices are in US Dollars per million tokens</a:t>
            </a:r>
          </a:p>
          <a:p>
            <a:pPr marL="800100" lvl="1" indent="-342900">
              <a:buFont typeface="+mj-lt"/>
              <a:buAutoNum type="arabicPeriod"/>
            </a:pPr>
            <a:r>
              <a:rPr lang="en-IN" sz="1600" dirty="0"/>
              <a:t>Since it is a POC, thus only Sonar is used</a:t>
            </a:r>
          </a:p>
        </p:txBody>
      </p:sp>
    </p:spTree>
    <p:extLst>
      <p:ext uri="{BB962C8B-B14F-4D97-AF65-F5344CB8AC3E}">
        <p14:creationId xmlns:p14="http://schemas.microsoft.com/office/powerpoint/2010/main" val="2109769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1E04C-2A07-A524-B2F0-EBB188F616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044555-0521-AFF6-618F-0EA129474A0B}"/>
              </a:ext>
            </a:extLst>
          </p:cNvPr>
          <p:cNvSpPr txBox="1"/>
          <p:nvPr/>
        </p:nvSpPr>
        <p:spPr>
          <a:xfrm>
            <a:off x="190500" y="166254"/>
            <a:ext cx="11811000" cy="400110"/>
          </a:xfrm>
          <a:prstGeom prst="rect">
            <a:avLst/>
          </a:prstGeom>
          <a:noFill/>
        </p:spPr>
        <p:txBody>
          <a:bodyPr wrap="square" rtlCol="0">
            <a:spAutoFit/>
          </a:bodyPr>
          <a:lstStyle/>
          <a:p>
            <a:r>
              <a:rPr lang="en-IN" sz="2000" b="1" dirty="0"/>
              <a:t>&lt;Template&gt;</a:t>
            </a:r>
          </a:p>
        </p:txBody>
      </p:sp>
    </p:spTree>
    <p:extLst>
      <p:ext uri="{BB962C8B-B14F-4D97-AF65-F5344CB8AC3E}">
        <p14:creationId xmlns:p14="http://schemas.microsoft.com/office/powerpoint/2010/main" val="187207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TotalTime>
  <Words>955</Words>
  <Application>Microsoft Office PowerPoint</Application>
  <PresentationFormat>Widescreen</PresentationFormat>
  <Paragraphs>137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Sanjay Singh</dc:creator>
  <cp:lastModifiedBy>Sanjay Singh</cp:lastModifiedBy>
  <cp:revision>26</cp:revision>
  <dcterms:created xsi:type="dcterms:W3CDTF">2025-09-15T13:54:25Z</dcterms:created>
  <dcterms:modified xsi:type="dcterms:W3CDTF">2025-09-15T19:04:41Z</dcterms:modified>
</cp:coreProperties>
</file>