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1" r:id="rId6"/>
    <p:sldId id="262" r:id="rId7"/>
    <p:sldId id="260" r:id="rId8"/>
    <p:sldId id="263" r:id="rId9"/>
    <p:sldId id="264" r:id="rId10"/>
    <p:sldId id="265" r:id="rId11"/>
    <p:sldId id="266" r:id="rId12"/>
    <p:sldId id="267" r:id="rId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5033" autoAdjust="0"/>
  </p:normalViewPr>
  <p:slideViewPr>
    <p:cSldViewPr snapToGrid="0">
      <p:cViewPr varScale="1">
        <p:scale>
          <a:sx n="74" d="100"/>
          <a:sy n="74" d="100"/>
        </p:scale>
        <p:origin x="1042" y="283"/>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F4F063-369A-2DE3-BC26-610C4759C24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ED89145C-F62B-C2C0-AE41-35CB9010DE3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D3837211-0DE7-0F04-3E8E-95DB028CAE6B}"/>
              </a:ext>
            </a:extLst>
          </p:cNvPr>
          <p:cNvSpPr>
            <a:spLocks noGrp="1"/>
          </p:cNvSpPr>
          <p:nvPr>
            <p:ph type="dt" sz="half" idx="10"/>
          </p:nvPr>
        </p:nvSpPr>
        <p:spPr/>
        <p:txBody>
          <a:bodyPr/>
          <a:lstStyle/>
          <a:p>
            <a:fld id="{2C57049F-C3F2-45A2-9009-4EC8DC398F67}" type="datetimeFigureOut">
              <a:rPr lang="en-IN" smtClean="0"/>
              <a:t>18-09-2025</a:t>
            </a:fld>
            <a:endParaRPr lang="en-IN"/>
          </a:p>
        </p:txBody>
      </p:sp>
      <p:sp>
        <p:nvSpPr>
          <p:cNvPr id="5" name="Footer Placeholder 4">
            <a:extLst>
              <a:ext uri="{FF2B5EF4-FFF2-40B4-BE49-F238E27FC236}">
                <a16:creationId xmlns:a16="http://schemas.microsoft.com/office/drawing/2014/main" id="{903F0B7A-5583-775C-7A28-5316123C7189}"/>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72010B61-B880-1BD4-0D10-443398EFB80B}"/>
              </a:ext>
            </a:extLst>
          </p:cNvPr>
          <p:cNvSpPr>
            <a:spLocks noGrp="1"/>
          </p:cNvSpPr>
          <p:nvPr>
            <p:ph type="sldNum" sz="quarter" idx="12"/>
          </p:nvPr>
        </p:nvSpPr>
        <p:spPr/>
        <p:txBody>
          <a:bodyPr/>
          <a:lstStyle/>
          <a:p>
            <a:fld id="{CE05245D-24E4-4773-8A6A-27433DB6F1CB}" type="slidenum">
              <a:rPr lang="en-IN" smtClean="0"/>
              <a:t>‹#›</a:t>
            </a:fld>
            <a:endParaRPr lang="en-IN"/>
          </a:p>
        </p:txBody>
      </p:sp>
    </p:spTree>
    <p:extLst>
      <p:ext uri="{BB962C8B-B14F-4D97-AF65-F5344CB8AC3E}">
        <p14:creationId xmlns:p14="http://schemas.microsoft.com/office/powerpoint/2010/main" val="76059628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7D227A-FCCB-8EF1-1F42-9FAD53B8F0FB}"/>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FC5237B1-24AB-526E-7CC7-9D381FF9C51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5023DDDD-62FC-6356-68BD-95E42E0337E4}"/>
              </a:ext>
            </a:extLst>
          </p:cNvPr>
          <p:cNvSpPr>
            <a:spLocks noGrp="1"/>
          </p:cNvSpPr>
          <p:nvPr>
            <p:ph type="dt" sz="half" idx="10"/>
          </p:nvPr>
        </p:nvSpPr>
        <p:spPr/>
        <p:txBody>
          <a:bodyPr/>
          <a:lstStyle/>
          <a:p>
            <a:fld id="{2C57049F-C3F2-45A2-9009-4EC8DC398F67}" type="datetimeFigureOut">
              <a:rPr lang="en-IN" smtClean="0"/>
              <a:t>18-09-2025</a:t>
            </a:fld>
            <a:endParaRPr lang="en-IN"/>
          </a:p>
        </p:txBody>
      </p:sp>
      <p:sp>
        <p:nvSpPr>
          <p:cNvPr id="5" name="Footer Placeholder 4">
            <a:extLst>
              <a:ext uri="{FF2B5EF4-FFF2-40B4-BE49-F238E27FC236}">
                <a16:creationId xmlns:a16="http://schemas.microsoft.com/office/drawing/2014/main" id="{89B01227-6EC1-C960-0CDF-C19B4FF46C08}"/>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88EC7F25-8020-BDA9-73D7-CE56135701B6}"/>
              </a:ext>
            </a:extLst>
          </p:cNvPr>
          <p:cNvSpPr>
            <a:spLocks noGrp="1"/>
          </p:cNvSpPr>
          <p:nvPr>
            <p:ph type="sldNum" sz="quarter" idx="12"/>
          </p:nvPr>
        </p:nvSpPr>
        <p:spPr/>
        <p:txBody>
          <a:bodyPr/>
          <a:lstStyle/>
          <a:p>
            <a:fld id="{CE05245D-24E4-4773-8A6A-27433DB6F1CB}" type="slidenum">
              <a:rPr lang="en-IN" smtClean="0"/>
              <a:t>‹#›</a:t>
            </a:fld>
            <a:endParaRPr lang="en-IN"/>
          </a:p>
        </p:txBody>
      </p:sp>
    </p:spTree>
    <p:extLst>
      <p:ext uri="{BB962C8B-B14F-4D97-AF65-F5344CB8AC3E}">
        <p14:creationId xmlns:p14="http://schemas.microsoft.com/office/powerpoint/2010/main" val="34261638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A7F4EA-2F3D-26EF-CAB9-E32560EE57E2}"/>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930288B4-12EC-DC6A-4BA9-6B4E68089DA1}"/>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BB9BB5B-8A35-06CB-22A7-6BEB2A992DCC}"/>
              </a:ext>
            </a:extLst>
          </p:cNvPr>
          <p:cNvSpPr>
            <a:spLocks noGrp="1"/>
          </p:cNvSpPr>
          <p:nvPr>
            <p:ph type="dt" sz="half" idx="10"/>
          </p:nvPr>
        </p:nvSpPr>
        <p:spPr/>
        <p:txBody>
          <a:bodyPr/>
          <a:lstStyle/>
          <a:p>
            <a:fld id="{2C57049F-C3F2-45A2-9009-4EC8DC398F67}" type="datetimeFigureOut">
              <a:rPr lang="en-IN" smtClean="0"/>
              <a:t>18-09-2025</a:t>
            </a:fld>
            <a:endParaRPr lang="en-IN"/>
          </a:p>
        </p:txBody>
      </p:sp>
      <p:sp>
        <p:nvSpPr>
          <p:cNvPr id="5" name="Footer Placeholder 4">
            <a:extLst>
              <a:ext uri="{FF2B5EF4-FFF2-40B4-BE49-F238E27FC236}">
                <a16:creationId xmlns:a16="http://schemas.microsoft.com/office/drawing/2014/main" id="{A76F8EDD-B9F7-697A-F958-EC47366F6037}"/>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349B69F8-93EF-0F8F-EB4D-76118C1545DD}"/>
              </a:ext>
            </a:extLst>
          </p:cNvPr>
          <p:cNvSpPr>
            <a:spLocks noGrp="1"/>
          </p:cNvSpPr>
          <p:nvPr>
            <p:ph type="sldNum" sz="quarter" idx="12"/>
          </p:nvPr>
        </p:nvSpPr>
        <p:spPr/>
        <p:txBody>
          <a:bodyPr/>
          <a:lstStyle/>
          <a:p>
            <a:fld id="{CE05245D-24E4-4773-8A6A-27433DB6F1CB}" type="slidenum">
              <a:rPr lang="en-IN" smtClean="0"/>
              <a:t>‹#›</a:t>
            </a:fld>
            <a:endParaRPr lang="en-IN"/>
          </a:p>
        </p:txBody>
      </p:sp>
    </p:spTree>
    <p:extLst>
      <p:ext uri="{BB962C8B-B14F-4D97-AF65-F5344CB8AC3E}">
        <p14:creationId xmlns:p14="http://schemas.microsoft.com/office/powerpoint/2010/main" val="19366679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0C6EBF-6EE4-3BAC-2CA4-891AEF3B3034}"/>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69183F3A-7837-2B10-34A1-B9F5FBA6BBAE}"/>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7E0758D0-66D2-1103-B4B1-154E029F63B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6FBC5E86-FC21-A3FD-7F63-03227F4EA27B}"/>
              </a:ext>
            </a:extLst>
          </p:cNvPr>
          <p:cNvSpPr>
            <a:spLocks noGrp="1"/>
          </p:cNvSpPr>
          <p:nvPr>
            <p:ph type="dt" sz="half" idx="10"/>
          </p:nvPr>
        </p:nvSpPr>
        <p:spPr/>
        <p:txBody>
          <a:bodyPr/>
          <a:lstStyle/>
          <a:p>
            <a:fld id="{2C57049F-C3F2-45A2-9009-4EC8DC398F67}" type="datetimeFigureOut">
              <a:rPr lang="en-IN" smtClean="0"/>
              <a:t>18-09-2025</a:t>
            </a:fld>
            <a:endParaRPr lang="en-IN"/>
          </a:p>
        </p:txBody>
      </p:sp>
      <p:sp>
        <p:nvSpPr>
          <p:cNvPr id="6" name="Footer Placeholder 5">
            <a:extLst>
              <a:ext uri="{FF2B5EF4-FFF2-40B4-BE49-F238E27FC236}">
                <a16:creationId xmlns:a16="http://schemas.microsoft.com/office/drawing/2014/main" id="{2050E200-7254-B265-6F78-C67ACBCA745D}"/>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6BF0E35E-8CCB-6FDA-4463-C7F1C020EC03}"/>
              </a:ext>
            </a:extLst>
          </p:cNvPr>
          <p:cNvSpPr>
            <a:spLocks noGrp="1"/>
          </p:cNvSpPr>
          <p:nvPr>
            <p:ph type="sldNum" sz="quarter" idx="12"/>
          </p:nvPr>
        </p:nvSpPr>
        <p:spPr/>
        <p:txBody>
          <a:bodyPr/>
          <a:lstStyle/>
          <a:p>
            <a:fld id="{CE05245D-24E4-4773-8A6A-27433DB6F1CB}" type="slidenum">
              <a:rPr lang="en-IN" smtClean="0"/>
              <a:t>‹#›</a:t>
            </a:fld>
            <a:endParaRPr lang="en-IN"/>
          </a:p>
        </p:txBody>
      </p:sp>
    </p:spTree>
    <p:extLst>
      <p:ext uri="{BB962C8B-B14F-4D97-AF65-F5344CB8AC3E}">
        <p14:creationId xmlns:p14="http://schemas.microsoft.com/office/powerpoint/2010/main" val="381549015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E44BDA-22EA-2B4D-F946-7022829489D9}"/>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77BB0B3D-C287-0F54-2140-27BECE6818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F0B30A0-90DB-3CB1-F5F3-D6FC13D48716}"/>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E5C53E59-2048-0B89-2E50-CC39FDCF0DD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98C0531-81C9-FCB4-C758-904FD8F9BA85}"/>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44C897FC-9B9F-3D7A-978E-C1B014B82199}"/>
              </a:ext>
            </a:extLst>
          </p:cNvPr>
          <p:cNvSpPr>
            <a:spLocks noGrp="1"/>
          </p:cNvSpPr>
          <p:nvPr>
            <p:ph type="dt" sz="half" idx="10"/>
          </p:nvPr>
        </p:nvSpPr>
        <p:spPr/>
        <p:txBody>
          <a:bodyPr/>
          <a:lstStyle/>
          <a:p>
            <a:fld id="{2C57049F-C3F2-45A2-9009-4EC8DC398F67}" type="datetimeFigureOut">
              <a:rPr lang="en-IN" smtClean="0"/>
              <a:t>18-09-2025</a:t>
            </a:fld>
            <a:endParaRPr lang="en-IN"/>
          </a:p>
        </p:txBody>
      </p:sp>
      <p:sp>
        <p:nvSpPr>
          <p:cNvPr id="8" name="Footer Placeholder 7">
            <a:extLst>
              <a:ext uri="{FF2B5EF4-FFF2-40B4-BE49-F238E27FC236}">
                <a16:creationId xmlns:a16="http://schemas.microsoft.com/office/drawing/2014/main" id="{AF91FBBB-A408-F5E7-3E29-36123DAE5465}"/>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DC2AB52D-4977-3011-F536-C31D24FDEEC0}"/>
              </a:ext>
            </a:extLst>
          </p:cNvPr>
          <p:cNvSpPr>
            <a:spLocks noGrp="1"/>
          </p:cNvSpPr>
          <p:nvPr>
            <p:ph type="sldNum" sz="quarter" idx="12"/>
          </p:nvPr>
        </p:nvSpPr>
        <p:spPr/>
        <p:txBody>
          <a:bodyPr/>
          <a:lstStyle/>
          <a:p>
            <a:fld id="{CE05245D-24E4-4773-8A6A-27433DB6F1CB}" type="slidenum">
              <a:rPr lang="en-IN" smtClean="0"/>
              <a:t>‹#›</a:t>
            </a:fld>
            <a:endParaRPr lang="en-IN"/>
          </a:p>
        </p:txBody>
      </p:sp>
    </p:spTree>
    <p:extLst>
      <p:ext uri="{BB962C8B-B14F-4D97-AF65-F5344CB8AC3E}">
        <p14:creationId xmlns:p14="http://schemas.microsoft.com/office/powerpoint/2010/main" val="228916552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10FFCC-419F-68C0-7C32-4C3DBE73BBA2}"/>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6A4CD2A7-E5A5-E4E8-770F-6606982D9931}"/>
              </a:ext>
            </a:extLst>
          </p:cNvPr>
          <p:cNvSpPr>
            <a:spLocks noGrp="1"/>
          </p:cNvSpPr>
          <p:nvPr>
            <p:ph type="dt" sz="half" idx="10"/>
          </p:nvPr>
        </p:nvSpPr>
        <p:spPr/>
        <p:txBody>
          <a:bodyPr/>
          <a:lstStyle/>
          <a:p>
            <a:fld id="{2C57049F-C3F2-45A2-9009-4EC8DC398F67}" type="datetimeFigureOut">
              <a:rPr lang="en-IN" smtClean="0"/>
              <a:t>18-09-2025</a:t>
            </a:fld>
            <a:endParaRPr lang="en-IN"/>
          </a:p>
        </p:txBody>
      </p:sp>
      <p:sp>
        <p:nvSpPr>
          <p:cNvPr id="4" name="Footer Placeholder 3">
            <a:extLst>
              <a:ext uri="{FF2B5EF4-FFF2-40B4-BE49-F238E27FC236}">
                <a16:creationId xmlns:a16="http://schemas.microsoft.com/office/drawing/2014/main" id="{DE5581EB-5EE2-0C5B-23CF-BE1E79196886}"/>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08C067D0-9FC6-E796-DE84-0E0C4FA944F1}"/>
              </a:ext>
            </a:extLst>
          </p:cNvPr>
          <p:cNvSpPr>
            <a:spLocks noGrp="1"/>
          </p:cNvSpPr>
          <p:nvPr>
            <p:ph type="sldNum" sz="quarter" idx="12"/>
          </p:nvPr>
        </p:nvSpPr>
        <p:spPr/>
        <p:txBody>
          <a:bodyPr/>
          <a:lstStyle/>
          <a:p>
            <a:fld id="{CE05245D-24E4-4773-8A6A-27433DB6F1CB}" type="slidenum">
              <a:rPr lang="en-IN" smtClean="0"/>
              <a:t>‹#›</a:t>
            </a:fld>
            <a:endParaRPr lang="en-IN"/>
          </a:p>
        </p:txBody>
      </p:sp>
    </p:spTree>
    <p:extLst>
      <p:ext uri="{BB962C8B-B14F-4D97-AF65-F5344CB8AC3E}">
        <p14:creationId xmlns:p14="http://schemas.microsoft.com/office/powerpoint/2010/main" val="269743022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16618F1-99B0-3AB6-F5EE-AA95140A928E}"/>
              </a:ext>
            </a:extLst>
          </p:cNvPr>
          <p:cNvSpPr>
            <a:spLocks noGrp="1"/>
          </p:cNvSpPr>
          <p:nvPr>
            <p:ph type="dt" sz="half" idx="10"/>
          </p:nvPr>
        </p:nvSpPr>
        <p:spPr/>
        <p:txBody>
          <a:bodyPr/>
          <a:lstStyle/>
          <a:p>
            <a:fld id="{2C57049F-C3F2-45A2-9009-4EC8DC398F67}" type="datetimeFigureOut">
              <a:rPr lang="en-IN" smtClean="0"/>
              <a:t>18-09-2025</a:t>
            </a:fld>
            <a:endParaRPr lang="en-IN"/>
          </a:p>
        </p:txBody>
      </p:sp>
      <p:sp>
        <p:nvSpPr>
          <p:cNvPr id="3" name="Footer Placeholder 2">
            <a:extLst>
              <a:ext uri="{FF2B5EF4-FFF2-40B4-BE49-F238E27FC236}">
                <a16:creationId xmlns:a16="http://schemas.microsoft.com/office/drawing/2014/main" id="{25D456F8-7724-C46E-A0FD-504C1CE16967}"/>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B6F243DF-DEE1-73B2-3F9B-E9304338A0D4}"/>
              </a:ext>
            </a:extLst>
          </p:cNvPr>
          <p:cNvSpPr>
            <a:spLocks noGrp="1"/>
          </p:cNvSpPr>
          <p:nvPr>
            <p:ph type="sldNum" sz="quarter" idx="12"/>
          </p:nvPr>
        </p:nvSpPr>
        <p:spPr/>
        <p:txBody>
          <a:bodyPr/>
          <a:lstStyle/>
          <a:p>
            <a:fld id="{CE05245D-24E4-4773-8A6A-27433DB6F1CB}" type="slidenum">
              <a:rPr lang="en-IN" smtClean="0"/>
              <a:t>‹#›</a:t>
            </a:fld>
            <a:endParaRPr lang="en-IN"/>
          </a:p>
        </p:txBody>
      </p:sp>
    </p:spTree>
    <p:extLst>
      <p:ext uri="{BB962C8B-B14F-4D97-AF65-F5344CB8AC3E}">
        <p14:creationId xmlns:p14="http://schemas.microsoft.com/office/powerpoint/2010/main" val="16641424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3FB8D7-B13A-0A0A-85A7-45968C93316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E49914EA-3DC9-9C94-19A1-3DDEE21CFC0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E8408DAF-6FDC-38D9-ACAE-473513A3777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4BB9E83-692A-95BE-30E0-634E4AA79EB2}"/>
              </a:ext>
            </a:extLst>
          </p:cNvPr>
          <p:cNvSpPr>
            <a:spLocks noGrp="1"/>
          </p:cNvSpPr>
          <p:nvPr>
            <p:ph type="dt" sz="half" idx="10"/>
          </p:nvPr>
        </p:nvSpPr>
        <p:spPr/>
        <p:txBody>
          <a:bodyPr/>
          <a:lstStyle/>
          <a:p>
            <a:fld id="{2C57049F-C3F2-45A2-9009-4EC8DC398F67}" type="datetimeFigureOut">
              <a:rPr lang="en-IN" smtClean="0"/>
              <a:t>18-09-2025</a:t>
            </a:fld>
            <a:endParaRPr lang="en-IN"/>
          </a:p>
        </p:txBody>
      </p:sp>
      <p:sp>
        <p:nvSpPr>
          <p:cNvPr id="6" name="Footer Placeholder 5">
            <a:extLst>
              <a:ext uri="{FF2B5EF4-FFF2-40B4-BE49-F238E27FC236}">
                <a16:creationId xmlns:a16="http://schemas.microsoft.com/office/drawing/2014/main" id="{B7714D00-A1F5-2F04-6852-0E292702BC74}"/>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B2CB8819-20BC-A885-679D-8F4321D98ECE}"/>
              </a:ext>
            </a:extLst>
          </p:cNvPr>
          <p:cNvSpPr>
            <a:spLocks noGrp="1"/>
          </p:cNvSpPr>
          <p:nvPr>
            <p:ph type="sldNum" sz="quarter" idx="12"/>
          </p:nvPr>
        </p:nvSpPr>
        <p:spPr/>
        <p:txBody>
          <a:bodyPr/>
          <a:lstStyle/>
          <a:p>
            <a:fld id="{CE05245D-24E4-4773-8A6A-27433DB6F1CB}" type="slidenum">
              <a:rPr lang="en-IN" smtClean="0"/>
              <a:t>‹#›</a:t>
            </a:fld>
            <a:endParaRPr lang="en-IN"/>
          </a:p>
        </p:txBody>
      </p:sp>
    </p:spTree>
    <p:extLst>
      <p:ext uri="{BB962C8B-B14F-4D97-AF65-F5344CB8AC3E}">
        <p14:creationId xmlns:p14="http://schemas.microsoft.com/office/powerpoint/2010/main" val="334985073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597720-EBAE-F2A7-7837-949F8A8B931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C7D1B92E-8B14-9776-D8A5-35E0922899C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B431ADCE-5373-EFD7-7FEF-ED85FC503D0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5BD72E2-C8E0-3E1E-AAA9-3987F2E20174}"/>
              </a:ext>
            </a:extLst>
          </p:cNvPr>
          <p:cNvSpPr>
            <a:spLocks noGrp="1"/>
          </p:cNvSpPr>
          <p:nvPr>
            <p:ph type="dt" sz="half" idx="10"/>
          </p:nvPr>
        </p:nvSpPr>
        <p:spPr/>
        <p:txBody>
          <a:bodyPr/>
          <a:lstStyle/>
          <a:p>
            <a:fld id="{2C57049F-C3F2-45A2-9009-4EC8DC398F67}" type="datetimeFigureOut">
              <a:rPr lang="en-IN" smtClean="0"/>
              <a:t>18-09-2025</a:t>
            </a:fld>
            <a:endParaRPr lang="en-IN"/>
          </a:p>
        </p:txBody>
      </p:sp>
      <p:sp>
        <p:nvSpPr>
          <p:cNvPr id="6" name="Footer Placeholder 5">
            <a:extLst>
              <a:ext uri="{FF2B5EF4-FFF2-40B4-BE49-F238E27FC236}">
                <a16:creationId xmlns:a16="http://schemas.microsoft.com/office/drawing/2014/main" id="{2B59FF10-36B7-4E3C-2925-9D8F485CD67C}"/>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858B64F8-DCB9-5DFF-34C8-A2525BE33016}"/>
              </a:ext>
            </a:extLst>
          </p:cNvPr>
          <p:cNvSpPr>
            <a:spLocks noGrp="1"/>
          </p:cNvSpPr>
          <p:nvPr>
            <p:ph type="sldNum" sz="quarter" idx="12"/>
          </p:nvPr>
        </p:nvSpPr>
        <p:spPr/>
        <p:txBody>
          <a:bodyPr/>
          <a:lstStyle/>
          <a:p>
            <a:fld id="{CE05245D-24E4-4773-8A6A-27433DB6F1CB}" type="slidenum">
              <a:rPr lang="en-IN" smtClean="0"/>
              <a:t>‹#›</a:t>
            </a:fld>
            <a:endParaRPr lang="en-IN"/>
          </a:p>
        </p:txBody>
      </p:sp>
    </p:spTree>
    <p:extLst>
      <p:ext uri="{BB962C8B-B14F-4D97-AF65-F5344CB8AC3E}">
        <p14:creationId xmlns:p14="http://schemas.microsoft.com/office/powerpoint/2010/main" val="77662956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38B874-34A3-6DCE-2C86-B467FCFE8708}"/>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B14FF6AB-5712-3B3D-115E-AFB37EF9A78A}"/>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67C3D87E-88AF-EAD8-BDF0-24F2E610498E}"/>
              </a:ext>
            </a:extLst>
          </p:cNvPr>
          <p:cNvSpPr>
            <a:spLocks noGrp="1"/>
          </p:cNvSpPr>
          <p:nvPr>
            <p:ph type="dt" sz="half" idx="10"/>
          </p:nvPr>
        </p:nvSpPr>
        <p:spPr/>
        <p:txBody>
          <a:bodyPr/>
          <a:lstStyle/>
          <a:p>
            <a:fld id="{2C57049F-C3F2-45A2-9009-4EC8DC398F67}" type="datetimeFigureOut">
              <a:rPr lang="en-IN" smtClean="0"/>
              <a:t>18-09-2025</a:t>
            </a:fld>
            <a:endParaRPr lang="en-IN"/>
          </a:p>
        </p:txBody>
      </p:sp>
      <p:sp>
        <p:nvSpPr>
          <p:cNvPr id="5" name="Footer Placeholder 4">
            <a:extLst>
              <a:ext uri="{FF2B5EF4-FFF2-40B4-BE49-F238E27FC236}">
                <a16:creationId xmlns:a16="http://schemas.microsoft.com/office/drawing/2014/main" id="{C501A227-C681-5A2D-145E-2BD39CA39C54}"/>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64AB33A6-C5E5-02D1-8529-CE13B30FBBD7}"/>
              </a:ext>
            </a:extLst>
          </p:cNvPr>
          <p:cNvSpPr>
            <a:spLocks noGrp="1"/>
          </p:cNvSpPr>
          <p:nvPr>
            <p:ph type="sldNum" sz="quarter" idx="12"/>
          </p:nvPr>
        </p:nvSpPr>
        <p:spPr/>
        <p:txBody>
          <a:bodyPr/>
          <a:lstStyle/>
          <a:p>
            <a:fld id="{CE05245D-24E4-4773-8A6A-27433DB6F1CB}" type="slidenum">
              <a:rPr lang="en-IN" smtClean="0"/>
              <a:t>‹#›</a:t>
            </a:fld>
            <a:endParaRPr lang="en-IN"/>
          </a:p>
        </p:txBody>
      </p:sp>
    </p:spTree>
    <p:extLst>
      <p:ext uri="{BB962C8B-B14F-4D97-AF65-F5344CB8AC3E}">
        <p14:creationId xmlns:p14="http://schemas.microsoft.com/office/powerpoint/2010/main" val="190457892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2554F232-5E32-43FB-5644-EE672B2F5BC7}"/>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BFD6556E-1CE0-3BC7-8B02-51ABF88D5B7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A384B829-EE4E-E41E-FB52-6FD8DCB98B63}"/>
              </a:ext>
            </a:extLst>
          </p:cNvPr>
          <p:cNvSpPr>
            <a:spLocks noGrp="1"/>
          </p:cNvSpPr>
          <p:nvPr>
            <p:ph type="dt" sz="half" idx="10"/>
          </p:nvPr>
        </p:nvSpPr>
        <p:spPr/>
        <p:txBody>
          <a:bodyPr/>
          <a:lstStyle/>
          <a:p>
            <a:fld id="{2C57049F-C3F2-45A2-9009-4EC8DC398F67}" type="datetimeFigureOut">
              <a:rPr lang="en-IN" smtClean="0"/>
              <a:t>18-09-2025</a:t>
            </a:fld>
            <a:endParaRPr lang="en-IN"/>
          </a:p>
        </p:txBody>
      </p:sp>
      <p:sp>
        <p:nvSpPr>
          <p:cNvPr id="5" name="Footer Placeholder 4">
            <a:extLst>
              <a:ext uri="{FF2B5EF4-FFF2-40B4-BE49-F238E27FC236}">
                <a16:creationId xmlns:a16="http://schemas.microsoft.com/office/drawing/2014/main" id="{81D77738-96FA-EEA6-4031-6368520999ED}"/>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8075F213-2A20-8604-6C51-4E594B35DB72}"/>
              </a:ext>
            </a:extLst>
          </p:cNvPr>
          <p:cNvSpPr>
            <a:spLocks noGrp="1"/>
          </p:cNvSpPr>
          <p:nvPr>
            <p:ph type="sldNum" sz="quarter" idx="12"/>
          </p:nvPr>
        </p:nvSpPr>
        <p:spPr/>
        <p:txBody>
          <a:bodyPr/>
          <a:lstStyle/>
          <a:p>
            <a:fld id="{CE05245D-24E4-4773-8A6A-27433DB6F1CB}" type="slidenum">
              <a:rPr lang="en-IN" smtClean="0"/>
              <a:t>‹#›</a:t>
            </a:fld>
            <a:endParaRPr lang="en-IN"/>
          </a:p>
        </p:txBody>
      </p:sp>
    </p:spTree>
    <p:extLst>
      <p:ext uri="{BB962C8B-B14F-4D97-AF65-F5344CB8AC3E}">
        <p14:creationId xmlns:p14="http://schemas.microsoft.com/office/powerpoint/2010/main" val="30856280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3E36BF4-0C09-F37B-8D8D-6296EB637CB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EB50F728-FBCC-16FD-62DC-596D615E8B9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DDE00D71-09AE-513F-526C-1D0C89E541F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2C57049F-C3F2-45A2-9009-4EC8DC398F67}" type="datetimeFigureOut">
              <a:rPr lang="en-IN" smtClean="0"/>
              <a:t>18-09-2025</a:t>
            </a:fld>
            <a:endParaRPr lang="en-IN"/>
          </a:p>
        </p:txBody>
      </p:sp>
      <p:sp>
        <p:nvSpPr>
          <p:cNvPr id="5" name="Footer Placeholder 4">
            <a:extLst>
              <a:ext uri="{FF2B5EF4-FFF2-40B4-BE49-F238E27FC236}">
                <a16:creationId xmlns:a16="http://schemas.microsoft.com/office/drawing/2014/main" id="{F30A5287-4D2D-498A-E86B-8C3F7D900F1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IN"/>
          </a:p>
        </p:txBody>
      </p:sp>
      <p:sp>
        <p:nvSpPr>
          <p:cNvPr id="6" name="Slide Number Placeholder 5">
            <a:extLst>
              <a:ext uri="{FF2B5EF4-FFF2-40B4-BE49-F238E27FC236}">
                <a16:creationId xmlns:a16="http://schemas.microsoft.com/office/drawing/2014/main" id="{27626914-65C8-138B-6710-214CEA46C55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E05245D-24E4-4773-8A6A-27433DB6F1CB}" type="slidenum">
              <a:rPr lang="en-IN" smtClean="0"/>
              <a:t>‹#›</a:t>
            </a:fld>
            <a:endParaRPr lang="en-IN"/>
          </a:p>
        </p:txBody>
      </p:sp>
    </p:spTree>
    <p:extLst>
      <p:ext uri="{BB962C8B-B14F-4D97-AF65-F5344CB8AC3E}">
        <p14:creationId xmlns:p14="http://schemas.microsoft.com/office/powerpoint/2010/main" val="20157519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4.png"/><Relationship Id="rId7" Type="http://schemas.openxmlformats.org/officeDocument/2006/relationships/image" Target="../media/image8.png"/><Relationship Id="rId2" Type="http://schemas.openxmlformats.org/officeDocument/2006/relationships/image" Target="../media/image3.png"/><Relationship Id="rId1" Type="http://schemas.openxmlformats.org/officeDocument/2006/relationships/slideLayout" Target="../slideLayouts/slideLayout7.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7.xml"/><Relationship Id="rId4" Type="http://schemas.openxmlformats.org/officeDocument/2006/relationships/image" Target="../media/image9.png"/></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7.xml"/><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hyperlink" Target="https://www.semanticscholar.org/about/publishers" TargetMode="External"/><Relationship Id="rId2" Type="http://schemas.openxmlformats.org/officeDocument/2006/relationships/image" Target="../media/image10.png"/><Relationship Id="rId1" Type="http://schemas.openxmlformats.org/officeDocument/2006/relationships/slideLayout" Target="../slideLayouts/slideLayout7.xml"/><Relationship Id="rId4" Type="http://schemas.openxmlformats.org/officeDocument/2006/relationships/hyperlink" Target="https://www.semanticscholar.org/product/api/tutorial" TargetMode="External"/></Relationships>
</file>

<file path=ppt/slides/_rels/slide8.xml.rels><?xml version="1.0" encoding="UTF-8" standalone="yes"?>
<Relationships xmlns="http://schemas.openxmlformats.org/package/2006/relationships"><Relationship Id="rId3" Type="http://schemas.openxmlformats.org/officeDocument/2006/relationships/hyperlink" Target="https://docs.perplexity.ai/getting-started/pricing" TargetMode="External"/><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hyperlink" Target="https://openai.com/api/pricing/" TargetMode="External"/><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6.svg"/><Relationship Id="rId2" Type="http://schemas.openxmlformats.org/officeDocument/2006/relationships/image" Target="../media/image15.png"/><Relationship Id="rId1" Type="http://schemas.openxmlformats.org/officeDocument/2006/relationships/slideLayout" Target="../slideLayouts/slideLayout7.xml"/><Relationship Id="rId5" Type="http://schemas.openxmlformats.org/officeDocument/2006/relationships/image" Target="../media/image17.png"/><Relationship Id="rId4" Type="http://schemas.openxmlformats.org/officeDocument/2006/relationships/image" Target="../media/image1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5E748C2A-D821-D3A4-72D2-0A4664B06C81}"/>
              </a:ext>
            </a:extLst>
          </p:cNvPr>
          <p:cNvSpPr txBox="1"/>
          <p:nvPr/>
        </p:nvSpPr>
        <p:spPr>
          <a:xfrm>
            <a:off x="4704484" y="3105834"/>
            <a:ext cx="2783031" cy="646331"/>
          </a:xfrm>
          <a:prstGeom prst="rect">
            <a:avLst/>
          </a:prstGeom>
          <a:noFill/>
        </p:spPr>
        <p:txBody>
          <a:bodyPr wrap="square" rtlCol="0">
            <a:spAutoFit/>
          </a:bodyPr>
          <a:lstStyle/>
          <a:p>
            <a:pPr algn="ctr"/>
            <a:r>
              <a:rPr lang="en-IN" sz="3600" dirty="0">
                <a:latin typeface="Calibri" panose="020F0502020204030204" pitchFamily="34" charset="0"/>
                <a:ea typeface="Calibri" panose="020F0502020204030204" pitchFamily="34" charset="0"/>
                <a:cs typeface="Calibri" panose="020F0502020204030204" pitchFamily="34" charset="0"/>
              </a:rPr>
              <a:t>PaperPal</a:t>
            </a:r>
          </a:p>
        </p:txBody>
      </p:sp>
      <p:pic>
        <p:nvPicPr>
          <p:cNvPr id="3" name="Graphic 2" descr="Search Inventory with solid fill">
            <a:extLst>
              <a:ext uri="{FF2B5EF4-FFF2-40B4-BE49-F238E27FC236}">
                <a16:creationId xmlns:a16="http://schemas.microsoft.com/office/drawing/2014/main" id="{070EDB11-6EFE-27D7-6F1E-E5576B10D20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247284" y="2971799"/>
            <a:ext cx="914400" cy="914400"/>
          </a:xfrm>
          <a:prstGeom prst="rect">
            <a:avLst/>
          </a:prstGeom>
        </p:spPr>
      </p:pic>
    </p:spTree>
    <p:extLst>
      <p:ext uri="{BB962C8B-B14F-4D97-AF65-F5344CB8AC3E}">
        <p14:creationId xmlns:p14="http://schemas.microsoft.com/office/powerpoint/2010/main" val="90518726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F46D0C8-963E-6DA4-92E4-5A0D70620590}"/>
              </a:ext>
            </a:extLst>
          </p:cNvPr>
          <p:cNvSpPr txBox="1"/>
          <p:nvPr/>
        </p:nvSpPr>
        <p:spPr>
          <a:xfrm>
            <a:off x="190500" y="166254"/>
            <a:ext cx="11811000" cy="400110"/>
          </a:xfrm>
          <a:prstGeom prst="rect">
            <a:avLst/>
          </a:prstGeom>
          <a:noFill/>
        </p:spPr>
        <p:txBody>
          <a:bodyPr wrap="square" rtlCol="0">
            <a:spAutoFit/>
          </a:bodyPr>
          <a:lstStyle/>
          <a:p>
            <a:r>
              <a:rPr lang="en-IN" sz="2000" b="1" dirty="0"/>
              <a:t>Introduction</a:t>
            </a:r>
            <a:endParaRPr lang="en-IN" b="1" dirty="0"/>
          </a:p>
        </p:txBody>
      </p:sp>
      <p:sp>
        <p:nvSpPr>
          <p:cNvPr id="3" name="TextBox 2">
            <a:extLst>
              <a:ext uri="{FF2B5EF4-FFF2-40B4-BE49-F238E27FC236}">
                <a16:creationId xmlns:a16="http://schemas.microsoft.com/office/drawing/2014/main" id="{0DBDE1AA-FD4A-8F04-8936-76091A52F997}"/>
              </a:ext>
            </a:extLst>
          </p:cNvPr>
          <p:cNvSpPr txBox="1"/>
          <p:nvPr/>
        </p:nvSpPr>
        <p:spPr>
          <a:xfrm>
            <a:off x="190500" y="870717"/>
            <a:ext cx="10080046" cy="1077218"/>
          </a:xfrm>
          <a:prstGeom prst="rect">
            <a:avLst/>
          </a:prstGeom>
          <a:noFill/>
        </p:spPr>
        <p:txBody>
          <a:bodyPr wrap="square" rtlCol="0">
            <a:spAutoFit/>
          </a:bodyPr>
          <a:lstStyle/>
          <a:p>
            <a:r>
              <a:rPr lang="en-US" sz="1600" dirty="0"/>
              <a:t>PaperPal is a multi-agent AI assistant built to streamline academic and technical research workflows. Given a topic, it autonomously searches, summarizes, critiques, and simplifies recent literature — delivering insights that are both deep and accessible. It's designed to help users, from researchers to non-experts, stay informed without being overwhelmed.</a:t>
            </a:r>
            <a:endParaRPr lang="en-IN" sz="1600" dirty="0"/>
          </a:p>
        </p:txBody>
      </p:sp>
      <p:grpSp>
        <p:nvGrpSpPr>
          <p:cNvPr id="8" name="Group 7">
            <a:extLst>
              <a:ext uri="{FF2B5EF4-FFF2-40B4-BE49-F238E27FC236}">
                <a16:creationId xmlns:a16="http://schemas.microsoft.com/office/drawing/2014/main" id="{0EC8A568-F956-75C2-1928-083EA4B04CD6}"/>
              </a:ext>
            </a:extLst>
          </p:cNvPr>
          <p:cNvGrpSpPr/>
          <p:nvPr/>
        </p:nvGrpSpPr>
        <p:grpSpPr>
          <a:xfrm>
            <a:off x="10280938" y="566364"/>
            <a:ext cx="1720562" cy="1685925"/>
            <a:chOff x="10280938" y="566364"/>
            <a:chExt cx="1720562" cy="1685925"/>
          </a:xfrm>
        </p:grpSpPr>
        <p:sp>
          <p:nvSpPr>
            <p:cNvPr id="5" name="Rectangle 4">
              <a:extLst>
                <a:ext uri="{FF2B5EF4-FFF2-40B4-BE49-F238E27FC236}">
                  <a16:creationId xmlns:a16="http://schemas.microsoft.com/office/drawing/2014/main" id="{6591384A-02E3-5AE1-FD44-46C993A3C074}"/>
                </a:ext>
              </a:extLst>
            </p:cNvPr>
            <p:cNvSpPr/>
            <p:nvPr/>
          </p:nvSpPr>
          <p:spPr>
            <a:xfrm>
              <a:off x="10280938" y="566364"/>
              <a:ext cx="1720562" cy="1685925"/>
            </a:xfrm>
            <a:prstGeom prst="rect">
              <a:avLst/>
            </a:prstGeom>
            <a:ln w="38100">
              <a:solidFill>
                <a:schemeClr val="bg1">
                  <a:lumMod val="85000"/>
                </a:schemeClr>
              </a:solidFill>
            </a:ln>
          </p:spPr>
          <p:style>
            <a:lnRef idx="2">
              <a:schemeClr val="dk1"/>
            </a:lnRef>
            <a:fillRef idx="1">
              <a:schemeClr val="lt1"/>
            </a:fillRef>
            <a:effectRef idx="0">
              <a:schemeClr val="dk1"/>
            </a:effectRef>
            <a:fontRef idx="minor">
              <a:schemeClr val="dk1"/>
            </a:fontRef>
          </p:style>
          <p:txBody>
            <a:bodyPr rtlCol="0" anchor="ctr"/>
            <a:lstStyle/>
            <a:p>
              <a:pPr algn="ctr"/>
              <a:endParaRPr lang="en-IN"/>
            </a:p>
          </p:txBody>
        </p:sp>
        <p:pic>
          <p:nvPicPr>
            <p:cNvPr id="4" name="Graphic 3" descr="Search Inventory with solid fill">
              <a:extLst>
                <a:ext uri="{FF2B5EF4-FFF2-40B4-BE49-F238E27FC236}">
                  <a16:creationId xmlns:a16="http://schemas.microsoft.com/office/drawing/2014/main" id="{77F1149C-BD5B-7E8E-96D1-557CCBA0886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305183" y="566364"/>
              <a:ext cx="1685925" cy="1685925"/>
            </a:xfrm>
            <a:prstGeom prst="rect">
              <a:avLst/>
            </a:prstGeom>
          </p:spPr>
        </p:pic>
      </p:grpSp>
    </p:spTree>
    <p:extLst>
      <p:ext uri="{BB962C8B-B14F-4D97-AF65-F5344CB8AC3E}">
        <p14:creationId xmlns:p14="http://schemas.microsoft.com/office/powerpoint/2010/main" val="274651075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D95CEB-044D-DA5E-5623-4F922C6CD0CF}"/>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B896657F-9324-BA3D-CC3C-F300FD473352}"/>
              </a:ext>
            </a:extLst>
          </p:cNvPr>
          <p:cNvSpPr txBox="1"/>
          <p:nvPr/>
        </p:nvSpPr>
        <p:spPr>
          <a:xfrm>
            <a:off x="190500" y="166254"/>
            <a:ext cx="11811000" cy="400110"/>
          </a:xfrm>
          <a:prstGeom prst="rect">
            <a:avLst/>
          </a:prstGeom>
          <a:noFill/>
        </p:spPr>
        <p:txBody>
          <a:bodyPr wrap="square" rtlCol="0">
            <a:spAutoFit/>
          </a:bodyPr>
          <a:lstStyle/>
          <a:p>
            <a:r>
              <a:rPr lang="en-IN" sz="2000" b="1" dirty="0"/>
              <a:t>Agents</a:t>
            </a:r>
          </a:p>
        </p:txBody>
      </p:sp>
      <p:graphicFrame>
        <p:nvGraphicFramePr>
          <p:cNvPr id="7" name="Table 6">
            <a:extLst>
              <a:ext uri="{FF2B5EF4-FFF2-40B4-BE49-F238E27FC236}">
                <a16:creationId xmlns:a16="http://schemas.microsoft.com/office/drawing/2014/main" id="{4441EB09-3FF9-3611-9693-4A644DC1202B}"/>
              </a:ext>
            </a:extLst>
          </p:cNvPr>
          <p:cNvGraphicFramePr>
            <a:graphicFrameLocks noGrp="1"/>
          </p:cNvGraphicFramePr>
          <p:nvPr>
            <p:extLst>
              <p:ext uri="{D42A27DB-BD31-4B8C-83A1-F6EECF244321}">
                <p14:modId xmlns:p14="http://schemas.microsoft.com/office/powerpoint/2010/main" val="2954027840"/>
              </p:ext>
            </p:extLst>
          </p:nvPr>
        </p:nvGraphicFramePr>
        <p:xfrm>
          <a:off x="190500" y="566364"/>
          <a:ext cx="11811000" cy="6096000"/>
        </p:xfrm>
        <a:graphic>
          <a:graphicData uri="http://schemas.openxmlformats.org/drawingml/2006/table">
            <a:tbl>
              <a:tblPr firstRow="1" bandRow="1">
                <a:tableStyleId>{073A0DAA-6AF3-43AB-8588-CEC1D06C72B9}</a:tableStyleId>
              </a:tblPr>
              <a:tblGrid>
                <a:gridCol w="412173">
                  <a:extLst>
                    <a:ext uri="{9D8B030D-6E8A-4147-A177-3AD203B41FA5}">
                      <a16:colId xmlns:a16="http://schemas.microsoft.com/office/drawing/2014/main" val="2139829072"/>
                    </a:ext>
                  </a:extLst>
                </a:gridCol>
                <a:gridCol w="1662545">
                  <a:extLst>
                    <a:ext uri="{9D8B030D-6E8A-4147-A177-3AD203B41FA5}">
                      <a16:colId xmlns:a16="http://schemas.microsoft.com/office/drawing/2014/main" val="4041739519"/>
                    </a:ext>
                  </a:extLst>
                </a:gridCol>
                <a:gridCol w="2389909">
                  <a:extLst>
                    <a:ext uri="{9D8B030D-6E8A-4147-A177-3AD203B41FA5}">
                      <a16:colId xmlns:a16="http://schemas.microsoft.com/office/drawing/2014/main" val="3797963409"/>
                    </a:ext>
                  </a:extLst>
                </a:gridCol>
                <a:gridCol w="7346373">
                  <a:extLst>
                    <a:ext uri="{9D8B030D-6E8A-4147-A177-3AD203B41FA5}">
                      <a16:colId xmlns:a16="http://schemas.microsoft.com/office/drawing/2014/main" val="2723441734"/>
                    </a:ext>
                  </a:extLst>
                </a:gridCol>
              </a:tblGrid>
              <a:tr h="227286">
                <a:tc>
                  <a:txBody>
                    <a:bodyPr/>
                    <a:lstStyle/>
                    <a:p>
                      <a:pPr algn="ctr"/>
                      <a:r>
                        <a:rPr lang="en-IN" sz="1600" dirty="0"/>
                        <a:t>#</a:t>
                      </a:r>
                    </a:p>
                  </a:txBody>
                  <a:tcPr anchor="ctr"/>
                </a:tc>
                <a:tc>
                  <a:txBody>
                    <a:bodyPr/>
                    <a:lstStyle/>
                    <a:p>
                      <a:pPr algn="ctr"/>
                      <a:r>
                        <a:rPr lang="en-IN" sz="1600" dirty="0"/>
                        <a:t>Agent</a:t>
                      </a:r>
                    </a:p>
                  </a:txBody>
                  <a:tcPr/>
                </a:tc>
                <a:tc>
                  <a:txBody>
                    <a:bodyPr/>
                    <a:lstStyle/>
                    <a:p>
                      <a:pPr algn="ctr"/>
                      <a:r>
                        <a:rPr lang="en-IN" sz="1600" dirty="0"/>
                        <a:t>Agent Name</a:t>
                      </a:r>
                    </a:p>
                  </a:txBody>
                  <a:tcPr/>
                </a:tc>
                <a:tc>
                  <a:txBody>
                    <a:bodyPr/>
                    <a:lstStyle/>
                    <a:p>
                      <a:pPr algn="ctr"/>
                      <a:r>
                        <a:rPr lang="en-IN" sz="1600" dirty="0"/>
                        <a:t>Agent Goal</a:t>
                      </a:r>
                    </a:p>
                  </a:txBody>
                  <a:tcPr/>
                </a:tc>
                <a:extLst>
                  <a:ext uri="{0D108BD9-81ED-4DB2-BD59-A6C34878D82A}">
                    <a16:rowId xmlns:a16="http://schemas.microsoft.com/office/drawing/2014/main" val="1320776505"/>
                  </a:ext>
                </a:extLst>
              </a:tr>
              <a:tr h="227286">
                <a:tc>
                  <a:txBody>
                    <a:bodyPr/>
                    <a:lstStyle/>
                    <a:p>
                      <a:pPr algn="ctr"/>
                      <a:r>
                        <a:rPr lang="en-IN" sz="1600" dirty="0"/>
                        <a:t>1</a:t>
                      </a:r>
                    </a:p>
                  </a:txBody>
                  <a:tcPr anchor="ctr"/>
                </a:tc>
                <a:tc>
                  <a:txBody>
                    <a:bodyPr/>
                    <a:lstStyle/>
                    <a:p>
                      <a:endParaRPr lang="en-IN" sz="1600" dirty="0"/>
                    </a:p>
                    <a:p>
                      <a:endParaRPr lang="en-IN" sz="1600" dirty="0"/>
                    </a:p>
                    <a:p>
                      <a:endParaRPr lang="en-IN" sz="1600" dirty="0"/>
                    </a:p>
                  </a:txBody>
                  <a:tcPr/>
                </a:tc>
                <a:tc>
                  <a:txBody>
                    <a:bodyPr/>
                    <a:lstStyle/>
                    <a:p>
                      <a:pPr marL="0" indent="0">
                        <a:buNone/>
                      </a:pPr>
                      <a:r>
                        <a:rPr lang="en-IN" sz="1600" dirty="0"/>
                        <a:t>Orchestrator Agent</a:t>
                      </a:r>
                    </a:p>
                  </a:txBody>
                  <a:tcPr anchor="ctr"/>
                </a:tc>
                <a:tc>
                  <a:txBody>
                    <a:bodyPr/>
                    <a:lstStyle/>
                    <a:p>
                      <a:pPr marL="0" indent="0">
                        <a:buNone/>
                      </a:pPr>
                      <a:r>
                        <a:rPr lang="en-IN" sz="1600" dirty="0"/>
                        <a:t>It coordinates the workflow by assigning the task to the right agent and managing the flow of information between them. </a:t>
                      </a:r>
                    </a:p>
                  </a:txBody>
                  <a:tcPr anchor="ctr"/>
                </a:tc>
                <a:extLst>
                  <a:ext uri="{0D108BD9-81ED-4DB2-BD59-A6C34878D82A}">
                    <a16:rowId xmlns:a16="http://schemas.microsoft.com/office/drawing/2014/main" val="3293509073"/>
                  </a:ext>
                </a:extLst>
              </a:tr>
              <a:tr h="227286">
                <a:tc>
                  <a:txBody>
                    <a:bodyPr/>
                    <a:lstStyle/>
                    <a:p>
                      <a:pPr algn="ctr"/>
                      <a:r>
                        <a:rPr lang="en-IN" sz="1600" dirty="0"/>
                        <a:t>2</a:t>
                      </a:r>
                    </a:p>
                  </a:txBody>
                  <a:tcPr anchor="ctr"/>
                </a:tc>
                <a:tc>
                  <a:txBody>
                    <a:bodyPr/>
                    <a:lstStyle/>
                    <a:p>
                      <a:endParaRPr lang="en-IN" sz="1600" dirty="0"/>
                    </a:p>
                    <a:p>
                      <a:endParaRPr lang="en-IN" sz="1600" dirty="0"/>
                    </a:p>
                    <a:p>
                      <a:endParaRPr lang="en-IN" sz="1600" dirty="0"/>
                    </a:p>
                  </a:txBody>
                  <a:tcPr anchor="ctr"/>
                </a:tc>
                <a:tc>
                  <a:txBody>
                    <a:bodyPr/>
                    <a:lstStyle/>
                    <a:p>
                      <a:pPr marL="0" indent="0">
                        <a:buNone/>
                      </a:pPr>
                      <a:r>
                        <a:rPr lang="en-IN" sz="1600" dirty="0"/>
                        <a:t>Scholar Agent</a:t>
                      </a:r>
                    </a:p>
                  </a:txBody>
                  <a:tcPr anchor="ctr"/>
                </a:tc>
                <a:tc>
                  <a:txBody>
                    <a:bodyPr/>
                    <a:lstStyle/>
                    <a:p>
                      <a:pPr marL="0" indent="0">
                        <a:buNone/>
                      </a:pPr>
                      <a:r>
                        <a:rPr lang="en-IN" sz="1600" dirty="0"/>
                        <a:t>It is expert in retrieving relevant academic papers and its metadata which would be helpful in the next stages of the pipeline.</a:t>
                      </a:r>
                    </a:p>
                  </a:txBody>
                  <a:tcPr anchor="ctr"/>
                </a:tc>
                <a:extLst>
                  <a:ext uri="{0D108BD9-81ED-4DB2-BD59-A6C34878D82A}">
                    <a16:rowId xmlns:a16="http://schemas.microsoft.com/office/drawing/2014/main" val="2002841731"/>
                  </a:ext>
                </a:extLst>
              </a:tr>
              <a:tr h="227286">
                <a:tc>
                  <a:txBody>
                    <a:bodyPr/>
                    <a:lstStyle/>
                    <a:p>
                      <a:pPr algn="ctr"/>
                      <a:r>
                        <a:rPr lang="en-IN" sz="1600" dirty="0"/>
                        <a:t>3</a:t>
                      </a:r>
                    </a:p>
                  </a:txBody>
                  <a:tcPr anchor="ctr"/>
                </a:tc>
                <a:tc>
                  <a:txBody>
                    <a:bodyPr/>
                    <a:lstStyle/>
                    <a:p>
                      <a:endParaRPr lang="en-IN" sz="1600" dirty="0"/>
                    </a:p>
                    <a:p>
                      <a:endParaRPr lang="en-IN" sz="1600" dirty="0"/>
                    </a:p>
                    <a:p>
                      <a:endParaRPr lang="en-IN" sz="1600" dirty="0"/>
                    </a:p>
                  </a:txBody>
                  <a:tcPr anchor="ctr"/>
                </a:tc>
                <a:tc>
                  <a:txBody>
                    <a:bodyPr/>
                    <a:lstStyle/>
                    <a:p>
                      <a:pPr marL="0" indent="0">
                        <a:buNone/>
                      </a:pPr>
                      <a:r>
                        <a:rPr lang="en-IN" sz="1600" dirty="0"/>
                        <a:t>Market Agent</a:t>
                      </a:r>
                    </a:p>
                  </a:txBody>
                  <a:tcPr anchor="ctr"/>
                </a:tc>
                <a:tc>
                  <a:txBody>
                    <a:bodyPr/>
                    <a:lstStyle/>
                    <a:p>
                      <a:pPr marL="0" indent="0">
                        <a:buNone/>
                      </a:pPr>
                      <a:r>
                        <a:rPr lang="en-IN" sz="1600" dirty="0"/>
                        <a:t>It finds the market impact of the research area / topic / technology mentioned in the user query by looking at the trending news and products / services.</a:t>
                      </a:r>
                    </a:p>
                  </a:txBody>
                  <a:tcPr anchor="ctr"/>
                </a:tc>
                <a:extLst>
                  <a:ext uri="{0D108BD9-81ED-4DB2-BD59-A6C34878D82A}">
                    <a16:rowId xmlns:a16="http://schemas.microsoft.com/office/drawing/2014/main" val="416328950"/>
                  </a:ext>
                </a:extLst>
              </a:tr>
              <a:tr h="227286">
                <a:tc>
                  <a:txBody>
                    <a:bodyPr/>
                    <a:lstStyle/>
                    <a:p>
                      <a:pPr algn="ctr"/>
                      <a:r>
                        <a:rPr lang="en-IN" sz="1600" dirty="0"/>
                        <a:t>4</a:t>
                      </a:r>
                    </a:p>
                  </a:txBody>
                  <a:tcPr anchor="ctr"/>
                </a:tc>
                <a:tc>
                  <a:txBody>
                    <a:bodyPr/>
                    <a:lstStyle/>
                    <a:p>
                      <a:endParaRPr lang="en-IN" sz="1600" dirty="0"/>
                    </a:p>
                    <a:p>
                      <a:endParaRPr lang="en-IN" sz="1600" dirty="0"/>
                    </a:p>
                    <a:p>
                      <a:endParaRPr lang="en-IN" sz="1600" dirty="0"/>
                    </a:p>
                  </a:txBody>
                  <a:tcPr anchor="ctr"/>
                </a:tc>
                <a:tc>
                  <a:txBody>
                    <a:bodyPr/>
                    <a:lstStyle/>
                    <a:p>
                      <a:r>
                        <a:rPr lang="en-IN" sz="1600" dirty="0"/>
                        <a:t>Summarizer Agent</a:t>
                      </a:r>
                    </a:p>
                  </a:txBody>
                  <a:tcPr anchor="ctr"/>
                </a:tc>
                <a:tc>
                  <a:txBody>
                    <a:bodyPr/>
                    <a:lstStyle/>
                    <a:p>
                      <a:r>
                        <a:rPr lang="en-IN" sz="1600" dirty="0"/>
                        <a:t>It summarizes all the content collected by Scholar and Market Agent so that there won’t be any redundancy in the data.</a:t>
                      </a:r>
                    </a:p>
                  </a:txBody>
                  <a:tcPr anchor="ctr"/>
                </a:tc>
                <a:extLst>
                  <a:ext uri="{0D108BD9-81ED-4DB2-BD59-A6C34878D82A}">
                    <a16:rowId xmlns:a16="http://schemas.microsoft.com/office/drawing/2014/main" val="2715080601"/>
                  </a:ext>
                </a:extLst>
              </a:tr>
              <a:tr h="227286">
                <a:tc>
                  <a:txBody>
                    <a:bodyPr/>
                    <a:lstStyle/>
                    <a:p>
                      <a:pPr algn="ctr"/>
                      <a:r>
                        <a:rPr lang="en-IN" sz="1600" dirty="0"/>
                        <a:t>5</a:t>
                      </a:r>
                    </a:p>
                  </a:txBody>
                  <a:tcPr anchor="ctr"/>
                </a:tc>
                <a:tc>
                  <a:txBody>
                    <a:bodyPr/>
                    <a:lstStyle/>
                    <a:p>
                      <a:endParaRPr lang="en-IN" sz="1600" dirty="0"/>
                    </a:p>
                    <a:p>
                      <a:endParaRPr lang="en-IN" sz="1600" dirty="0"/>
                    </a:p>
                    <a:p>
                      <a:endParaRPr lang="en-IN" sz="1600" dirty="0"/>
                    </a:p>
                  </a:txBody>
                  <a:tcPr anchor="ctr"/>
                </a:tc>
                <a:tc>
                  <a:txBody>
                    <a:bodyPr/>
                    <a:lstStyle/>
                    <a:p>
                      <a:r>
                        <a:rPr lang="en-IN" sz="1600" dirty="0"/>
                        <a:t>Critic Agent</a:t>
                      </a:r>
                    </a:p>
                  </a:txBody>
                  <a:tcPr anchor="ctr"/>
                </a:tc>
                <a:tc>
                  <a:txBody>
                    <a:bodyPr/>
                    <a:lstStyle/>
                    <a:p>
                      <a:r>
                        <a:rPr lang="en-US" sz="1600" b="0" dirty="0"/>
                        <a:t>The Critic Agent </a:t>
                      </a:r>
                      <a:r>
                        <a:rPr lang="en-US" sz="1600" dirty="0"/>
                        <a:t>evaluates research outputs by identifying gaps, biases, and limitations, ensuring the analysis is balanced and credible.</a:t>
                      </a:r>
                      <a:endParaRPr lang="en-IN" sz="1600" dirty="0"/>
                    </a:p>
                  </a:txBody>
                  <a:tcPr anchor="ctr"/>
                </a:tc>
                <a:extLst>
                  <a:ext uri="{0D108BD9-81ED-4DB2-BD59-A6C34878D82A}">
                    <a16:rowId xmlns:a16="http://schemas.microsoft.com/office/drawing/2014/main" val="1406227481"/>
                  </a:ext>
                </a:extLst>
              </a:tr>
              <a:tr h="227286">
                <a:tc>
                  <a:txBody>
                    <a:bodyPr/>
                    <a:lstStyle/>
                    <a:p>
                      <a:pPr algn="ctr"/>
                      <a:r>
                        <a:rPr lang="en-IN" sz="1600" dirty="0"/>
                        <a:t>6</a:t>
                      </a:r>
                    </a:p>
                  </a:txBody>
                  <a:tcPr anchor="ctr"/>
                </a:tc>
                <a:tc>
                  <a:txBody>
                    <a:bodyPr/>
                    <a:lstStyle/>
                    <a:p>
                      <a:endParaRPr lang="en-IN" sz="1600" dirty="0"/>
                    </a:p>
                    <a:p>
                      <a:endParaRPr lang="en-IN" sz="1600" dirty="0"/>
                    </a:p>
                    <a:p>
                      <a:endParaRPr lang="en-IN" sz="1600" dirty="0"/>
                    </a:p>
                  </a:txBody>
                  <a:tcPr anchor="ctr"/>
                </a:tc>
                <a:tc>
                  <a:txBody>
                    <a:bodyPr/>
                    <a:lstStyle/>
                    <a:p>
                      <a:r>
                        <a:rPr lang="en-IN" sz="1600" dirty="0"/>
                        <a:t>Report Generation Agent</a:t>
                      </a:r>
                    </a:p>
                  </a:txBody>
                  <a:tcPr anchor="ctr"/>
                </a:tc>
                <a:tc>
                  <a:txBody>
                    <a:bodyPr/>
                    <a:lstStyle/>
                    <a:p>
                      <a:r>
                        <a:rPr lang="en-US" sz="1600" dirty="0"/>
                        <a:t>The Report Generation Agent compiles insights from all agents into a well-structured, reader-friendly report with clear sections and subtopics.</a:t>
                      </a:r>
                      <a:endParaRPr lang="en-IN" sz="1600" dirty="0"/>
                    </a:p>
                  </a:txBody>
                  <a:tcPr anchor="ctr"/>
                </a:tc>
                <a:extLst>
                  <a:ext uri="{0D108BD9-81ED-4DB2-BD59-A6C34878D82A}">
                    <a16:rowId xmlns:a16="http://schemas.microsoft.com/office/drawing/2014/main" val="46206864"/>
                  </a:ext>
                </a:extLst>
              </a:tr>
              <a:tr h="227286">
                <a:tc>
                  <a:txBody>
                    <a:bodyPr/>
                    <a:lstStyle/>
                    <a:p>
                      <a:pPr algn="ctr"/>
                      <a:r>
                        <a:rPr lang="en-IN" sz="1600" dirty="0"/>
                        <a:t>7</a:t>
                      </a:r>
                    </a:p>
                  </a:txBody>
                  <a:tcPr anchor="ctr"/>
                </a:tc>
                <a:tc>
                  <a:txBody>
                    <a:bodyPr/>
                    <a:lstStyle/>
                    <a:p>
                      <a:endParaRPr lang="en-IN" sz="1600" dirty="0"/>
                    </a:p>
                    <a:p>
                      <a:endParaRPr lang="en-IN" sz="1600" dirty="0"/>
                    </a:p>
                    <a:p>
                      <a:endParaRPr lang="en-IN" sz="1600" dirty="0"/>
                    </a:p>
                  </a:txBody>
                  <a:tcPr anchor="ctr"/>
                </a:tc>
                <a:tc>
                  <a:txBody>
                    <a:bodyPr/>
                    <a:lstStyle/>
                    <a:p>
                      <a:r>
                        <a:rPr lang="en-IN" sz="1600" dirty="0"/>
                        <a:t>RAG Agent</a:t>
                      </a:r>
                    </a:p>
                  </a:txBody>
                  <a:tcPr anchor="ctr"/>
                </a:tc>
                <a:tc>
                  <a:txBody>
                    <a:bodyPr/>
                    <a:lstStyle/>
                    <a:p>
                      <a:r>
                        <a:rPr lang="en-US" sz="1600" dirty="0"/>
                        <a:t>The RAG Agent leverages the summaries as a knowledge base and uses retrieval-augmented generation to answer user questions with accurate, context-aware responses.</a:t>
                      </a:r>
                      <a:endParaRPr lang="en-IN" sz="1600" dirty="0"/>
                    </a:p>
                  </a:txBody>
                  <a:tcPr anchor="ctr"/>
                </a:tc>
                <a:extLst>
                  <a:ext uri="{0D108BD9-81ED-4DB2-BD59-A6C34878D82A}">
                    <a16:rowId xmlns:a16="http://schemas.microsoft.com/office/drawing/2014/main" val="938536065"/>
                  </a:ext>
                </a:extLst>
              </a:tr>
            </a:tbl>
          </a:graphicData>
        </a:graphic>
      </p:graphicFrame>
      <p:pic>
        <p:nvPicPr>
          <p:cNvPr id="1026" name="Picture 2" descr="Conductor Icon #279749 - Free Icons Library">
            <a:extLst>
              <a:ext uri="{FF2B5EF4-FFF2-40B4-BE49-F238E27FC236}">
                <a16:creationId xmlns:a16="http://schemas.microsoft.com/office/drawing/2014/main" id="{AA4EB262-FCE1-9218-2BBE-BA739F642A8E}"/>
              </a:ext>
            </a:extLst>
          </p:cNvPr>
          <p:cNvPicPr>
            <a:picLocks noChangeAspect="1" noChangeArrowheads="1"/>
          </p:cNvPicPr>
          <p:nvPr/>
        </p:nvPicPr>
        <p:blipFill>
          <a:blip r:embed="rId2">
            <a:duotone>
              <a:schemeClr val="accent4">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101437" y="966474"/>
            <a:ext cx="644236" cy="644236"/>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Graduation Icon PNG Transparent Background, Free Download #7826 -  FreeIconsPNG">
            <a:extLst>
              <a:ext uri="{FF2B5EF4-FFF2-40B4-BE49-F238E27FC236}">
                <a16:creationId xmlns:a16="http://schemas.microsoft.com/office/drawing/2014/main" id="{E03164DB-D118-48DD-5F28-A9496DF9785D}"/>
              </a:ext>
            </a:extLst>
          </p:cNvPr>
          <p:cNvPicPr>
            <a:picLocks noChangeAspect="1" noChangeArrowheads="1"/>
          </p:cNvPicPr>
          <p:nvPr/>
        </p:nvPicPr>
        <p:blipFill>
          <a:blip r:embed="rId3">
            <a:duotone>
              <a:schemeClr val="accent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101437" y="1803719"/>
            <a:ext cx="644236" cy="644236"/>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descr="Writing - Free people icons">
            <a:extLst>
              <a:ext uri="{FF2B5EF4-FFF2-40B4-BE49-F238E27FC236}">
                <a16:creationId xmlns:a16="http://schemas.microsoft.com/office/drawing/2014/main" id="{1FB03903-5824-3551-8D5C-2877A6D6B873}"/>
              </a:ext>
            </a:extLst>
          </p:cNvPr>
          <p:cNvPicPr>
            <a:picLocks noChangeAspect="1" noChangeArrowheads="1"/>
          </p:cNvPicPr>
          <p:nvPr/>
        </p:nvPicPr>
        <p:blipFill>
          <a:blip r:embed="rId4">
            <a:duotone>
              <a:schemeClr val="accent6">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101437" y="3467936"/>
            <a:ext cx="644236" cy="644236"/>
          </a:xfrm>
          <a:prstGeom prst="rect">
            <a:avLst/>
          </a:prstGeom>
          <a:noFill/>
          <a:extLst>
            <a:ext uri="{909E8E84-426E-40DD-AFC4-6F175D3DCCD1}">
              <a14:hiddenFill xmlns:a14="http://schemas.microsoft.com/office/drawing/2010/main">
                <a:solidFill>
                  <a:srgbClr val="FFFFFF"/>
                </a:solidFill>
              </a14:hiddenFill>
            </a:ext>
          </a:extLst>
        </p:spPr>
      </p:pic>
      <p:pic>
        <p:nvPicPr>
          <p:cNvPr id="1036" name="Picture 12" descr="Secret Agent Free Download PNG HD Transparent HQ PNG Download | FreePNGimg">
            <a:extLst>
              <a:ext uri="{FF2B5EF4-FFF2-40B4-BE49-F238E27FC236}">
                <a16:creationId xmlns:a16="http://schemas.microsoft.com/office/drawing/2014/main" id="{1FFE441B-841D-CB2C-BCF1-BF992F99B51D}"/>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101437" y="4274008"/>
            <a:ext cx="644236" cy="644236"/>
          </a:xfrm>
          <a:prstGeom prst="rect">
            <a:avLst/>
          </a:prstGeom>
          <a:noFill/>
          <a:extLst>
            <a:ext uri="{909E8E84-426E-40DD-AFC4-6F175D3DCCD1}">
              <a14:hiddenFill xmlns:a14="http://schemas.microsoft.com/office/drawing/2010/main">
                <a:solidFill>
                  <a:srgbClr val="FFFFFF"/>
                </a:solidFill>
              </a14:hiddenFill>
            </a:ext>
          </a:extLst>
        </p:spPr>
      </p:pic>
      <p:pic>
        <p:nvPicPr>
          <p:cNvPr id="1038" name="Picture 14" descr="Businessman showing stats graphic - Free business icons">
            <a:extLst>
              <a:ext uri="{FF2B5EF4-FFF2-40B4-BE49-F238E27FC236}">
                <a16:creationId xmlns:a16="http://schemas.microsoft.com/office/drawing/2014/main" id="{9F13FCAF-B201-F450-4DF3-92C9DC0687FE}"/>
              </a:ext>
            </a:extLst>
          </p:cNvPr>
          <p:cNvPicPr>
            <a:picLocks noChangeAspect="1" noChangeArrowheads="1"/>
          </p:cNvPicPr>
          <p:nvPr/>
        </p:nvPicPr>
        <p:blipFill>
          <a:blip r:embed="rId6">
            <a:duotone>
              <a:schemeClr val="accent3">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101437" y="5104504"/>
            <a:ext cx="644236" cy="644236"/>
          </a:xfrm>
          <a:prstGeom prst="rect">
            <a:avLst/>
          </a:prstGeom>
          <a:noFill/>
          <a:extLst>
            <a:ext uri="{909E8E84-426E-40DD-AFC4-6F175D3DCCD1}">
              <a14:hiddenFill xmlns:a14="http://schemas.microsoft.com/office/drawing/2010/main">
                <a:solidFill>
                  <a:srgbClr val="FFFFFF"/>
                </a:solidFill>
              </a14:hiddenFill>
            </a:ext>
          </a:extLst>
        </p:spPr>
      </p:pic>
      <p:pic>
        <p:nvPicPr>
          <p:cNvPr id="1040" name="Picture 16" descr="Idea - Free user icons">
            <a:extLst>
              <a:ext uri="{FF2B5EF4-FFF2-40B4-BE49-F238E27FC236}">
                <a16:creationId xmlns:a16="http://schemas.microsoft.com/office/drawing/2014/main" id="{E29EBD16-5DE2-6945-7A7E-023900AB6BDB}"/>
              </a:ext>
            </a:extLst>
          </p:cNvPr>
          <p:cNvPicPr>
            <a:picLocks noChangeAspect="1" noChangeArrowheads="1"/>
          </p:cNvPicPr>
          <p:nvPr/>
        </p:nvPicPr>
        <p:blipFill>
          <a:blip r:embed="rId7">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101437" y="5935000"/>
            <a:ext cx="644236" cy="644236"/>
          </a:xfrm>
          <a:prstGeom prst="rect">
            <a:avLst/>
          </a:prstGeom>
          <a:noFill/>
          <a:extLst>
            <a:ext uri="{909E8E84-426E-40DD-AFC4-6F175D3DCCD1}">
              <a14:hiddenFill xmlns:a14="http://schemas.microsoft.com/office/drawing/2010/main">
                <a:solidFill>
                  <a:srgbClr val="FFFFFF"/>
                </a:solidFill>
              </a14:hiddenFill>
            </a:ext>
          </a:extLst>
        </p:spPr>
      </p:pic>
      <p:pic>
        <p:nvPicPr>
          <p:cNvPr id="1042" name="Picture 18" descr="Man with Sunglasses and Suit icon | Freepik">
            <a:extLst>
              <a:ext uri="{FF2B5EF4-FFF2-40B4-BE49-F238E27FC236}">
                <a16:creationId xmlns:a16="http://schemas.microsoft.com/office/drawing/2014/main" id="{B7ED0D09-5CB1-D104-249B-06024BC56BDF}"/>
              </a:ext>
            </a:extLst>
          </p:cNvPr>
          <p:cNvPicPr>
            <a:picLocks noChangeAspect="1" noChangeArrowheads="1"/>
          </p:cNvPicPr>
          <p:nvPr/>
        </p:nvPicPr>
        <p:blipFill>
          <a:blip r:embed="rId8">
            <a:duotone>
              <a:schemeClr val="accent5">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101437" y="2648010"/>
            <a:ext cx="644236" cy="64423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7648148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566038-A363-4E52-E33B-E9CD50D54719}"/>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AEC0DC91-E5CD-17D5-6EC8-04796A8D8A9D}"/>
              </a:ext>
            </a:extLst>
          </p:cNvPr>
          <p:cNvSpPr txBox="1"/>
          <p:nvPr/>
        </p:nvSpPr>
        <p:spPr>
          <a:xfrm>
            <a:off x="190500" y="166254"/>
            <a:ext cx="11811000" cy="400110"/>
          </a:xfrm>
          <a:prstGeom prst="rect">
            <a:avLst/>
          </a:prstGeom>
          <a:noFill/>
        </p:spPr>
        <p:txBody>
          <a:bodyPr wrap="square" rtlCol="0">
            <a:spAutoFit/>
          </a:bodyPr>
          <a:lstStyle/>
          <a:p>
            <a:r>
              <a:rPr lang="en-IN" sz="2000" b="1" dirty="0"/>
              <a:t>Agents</a:t>
            </a:r>
          </a:p>
        </p:txBody>
      </p:sp>
      <p:sp>
        <p:nvSpPr>
          <p:cNvPr id="4" name="Rectangle 3">
            <a:extLst>
              <a:ext uri="{FF2B5EF4-FFF2-40B4-BE49-F238E27FC236}">
                <a16:creationId xmlns:a16="http://schemas.microsoft.com/office/drawing/2014/main" id="{6F8FBCA5-7B95-E1AD-9ED7-B7038A8BABB5}"/>
              </a:ext>
            </a:extLst>
          </p:cNvPr>
          <p:cNvSpPr/>
          <p:nvPr/>
        </p:nvSpPr>
        <p:spPr>
          <a:xfrm>
            <a:off x="190500" y="566364"/>
            <a:ext cx="2542309" cy="1808018"/>
          </a:xfrm>
          <a:prstGeom prst="rect">
            <a:avLst/>
          </a:prstGeom>
          <a:solidFill>
            <a:schemeClr val="bg1">
              <a:lumMod val="95000"/>
            </a:schemeClr>
          </a:solidFill>
          <a:ln>
            <a:solidFill>
              <a:schemeClr val="bg1">
                <a:lumMod val="95000"/>
              </a:schemeClr>
            </a:solidFill>
          </a:ln>
        </p:spPr>
        <p:style>
          <a:lnRef idx="2">
            <a:schemeClr val="dk1"/>
          </a:lnRef>
          <a:fillRef idx="1">
            <a:schemeClr val="lt1"/>
          </a:fillRef>
          <a:effectRef idx="0">
            <a:schemeClr val="dk1"/>
          </a:effectRef>
          <a:fontRef idx="minor">
            <a:schemeClr val="dk1"/>
          </a:fontRef>
        </p:style>
        <p:txBody>
          <a:bodyPr rtlCol="0" anchor="ctr"/>
          <a:lstStyle/>
          <a:p>
            <a:pPr algn="ctr"/>
            <a:endParaRPr lang="en-IN"/>
          </a:p>
        </p:txBody>
      </p:sp>
      <p:pic>
        <p:nvPicPr>
          <p:cNvPr id="5" name="Picture 2" descr="Conductor Icon #279749 - Free Icons Library">
            <a:extLst>
              <a:ext uri="{FF2B5EF4-FFF2-40B4-BE49-F238E27FC236}">
                <a16:creationId xmlns:a16="http://schemas.microsoft.com/office/drawing/2014/main" id="{DF1867A1-D7DC-B6A1-5F1D-CE9F967AA9EF}"/>
              </a:ext>
            </a:extLst>
          </p:cNvPr>
          <p:cNvPicPr>
            <a:picLocks noChangeAspect="1" noChangeArrowheads="1"/>
          </p:cNvPicPr>
          <p:nvPr/>
        </p:nvPicPr>
        <p:blipFill>
          <a:blip r:embed="rId2">
            <a:duotone>
              <a:schemeClr val="accent4">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35577" y="644296"/>
            <a:ext cx="1652154" cy="1652154"/>
          </a:xfrm>
          <a:prstGeom prst="rect">
            <a:avLst/>
          </a:prstGeom>
          <a:noFill/>
          <a:extLst>
            <a:ext uri="{909E8E84-426E-40DD-AFC4-6F175D3DCCD1}">
              <a14:hiddenFill xmlns:a14="http://schemas.microsoft.com/office/drawing/2010/main">
                <a:solidFill>
                  <a:srgbClr val="FFFFFF"/>
                </a:solidFill>
              </a14:hiddenFill>
            </a:ext>
          </a:extLst>
        </p:spPr>
      </p:pic>
      <p:sp>
        <p:nvSpPr>
          <p:cNvPr id="7" name="Rectangle 6">
            <a:extLst>
              <a:ext uri="{FF2B5EF4-FFF2-40B4-BE49-F238E27FC236}">
                <a16:creationId xmlns:a16="http://schemas.microsoft.com/office/drawing/2014/main" id="{E208A3DF-CE4B-8D61-9539-8CD2D0B84AE5}"/>
              </a:ext>
            </a:extLst>
          </p:cNvPr>
          <p:cNvSpPr/>
          <p:nvPr/>
        </p:nvSpPr>
        <p:spPr>
          <a:xfrm>
            <a:off x="2784763" y="566364"/>
            <a:ext cx="9216737" cy="400110"/>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IN" sz="1600" dirty="0"/>
              <a:t>Orchestrator Agent: Tasks</a:t>
            </a:r>
          </a:p>
        </p:txBody>
      </p:sp>
      <p:sp>
        <p:nvSpPr>
          <p:cNvPr id="8" name="Rectangle 7">
            <a:extLst>
              <a:ext uri="{FF2B5EF4-FFF2-40B4-BE49-F238E27FC236}">
                <a16:creationId xmlns:a16="http://schemas.microsoft.com/office/drawing/2014/main" id="{29D4F4BD-4BF9-7AEE-43EF-107425C2CF8B}"/>
              </a:ext>
            </a:extLst>
          </p:cNvPr>
          <p:cNvSpPr/>
          <p:nvPr/>
        </p:nvSpPr>
        <p:spPr>
          <a:xfrm>
            <a:off x="2784763" y="1018308"/>
            <a:ext cx="9216737" cy="1356074"/>
          </a:xfrm>
          <a:prstGeom prst="rect">
            <a:avLst/>
          </a:prstGeom>
          <a:solidFill>
            <a:schemeClr val="bg1">
              <a:lumMod val="95000"/>
            </a:schemeClr>
          </a:solidFill>
          <a:ln>
            <a:solidFill>
              <a:schemeClr val="bg1">
                <a:lumMod val="95000"/>
              </a:schemeClr>
            </a:solidFill>
          </a:ln>
        </p:spPr>
        <p:style>
          <a:lnRef idx="2">
            <a:schemeClr val="dk1"/>
          </a:lnRef>
          <a:fillRef idx="1">
            <a:schemeClr val="lt1"/>
          </a:fillRef>
          <a:effectRef idx="0">
            <a:schemeClr val="dk1"/>
          </a:effectRef>
          <a:fontRef idx="minor">
            <a:schemeClr val="dk1"/>
          </a:fontRef>
        </p:style>
        <p:txBody>
          <a:bodyPr rtlCol="0" anchor="t"/>
          <a:lstStyle/>
          <a:p>
            <a:pPr marL="342900" indent="-342900">
              <a:buAutoNum type="arabicPeriod"/>
            </a:pPr>
            <a:r>
              <a:rPr lang="en-IN" sz="1600" dirty="0"/>
              <a:t>Directly interacts with the user</a:t>
            </a:r>
          </a:p>
          <a:p>
            <a:pPr marL="342900" indent="-342900">
              <a:buAutoNum type="arabicPeriod"/>
            </a:pPr>
            <a:r>
              <a:rPr lang="en-IN" sz="1600" dirty="0"/>
              <a:t>Identify the user query and decides which agent to call</a:t>
            </a:r>
          </a:p>
        </p:txBody>
      </p:sp>
      <p:sp>
        <p:nvSpPr>
          <p:cNvPr id="12" name="Rectangle 11">
            <a:extLst>
              <a:ext uri="{FF2B5EF4-FFF2-40B4-BE49-F238E27FC236}">
                <a16:creationId xmlns:a16="http://schemas.microsoft.com/office/drawing/2014/main" id="{508966E9-87DC-414A-1561-B347F15F7D42}"/>
              </a:ext>
            </a:extLst>
          </p:cNvPr>
          <p:cNvSpPr/>
          <p:nvPr/>
        </p:nvSpPr>
        <p:spPr>
          <a:xfrm>
            <a:off x="190500" y="2516391"/>
            <a:ext cx="2542309" cy="1808018"/>
          </a:xfrm>
          <a:prstGeom prst="rect">
            <a:avLst/>
          </a:prstGeom>
          <a:solidFill>
            <a:schemeClr val="bg1">
              <a:lumMod val="95000"/>
            </a:schemeClr>
          </a:solidFill>
          <a:ln>
            <a:solidFill>
              <a:schemeClr val="bg1">
                <a:lumMod val="95000"/>
              </a:schemeClr>
            </a:solidFill>
          </a:ln>
        </p:spPr>
        <p:style>
          <a:lnRef idx="2">
            <a:schemeClr val="dk1"/>
          </a:lnRef>
          <a:fillRef idx="1">
            <a:schemeClr val="lt1"/>
          </a:fillRef>
          <a:effectRef idx="0">
            <a:schemeClr val="dk1"/>
          </a:effectRef>
          <a:fontRef idx="minor">
            <a:schemeClr val="dk1"/>
          </a:fontRef>
        </p:style>
        <p:txBody>
          <a:bodyPr rtlCol="0" anchor="ctr"/>
          <a:lstStyle/>
          <a:p>
            <a:pPr algn="ctr"/>
            <a:endParaRPr lang="en-IN"/>
          </a:p>
        </p:txBody>
      </p:sp>
      <p:sp>
        <p:nvSpPr>
          <p:cNvPr id="14" name="Rectangle 13">
            <a:extLst>
              <a:ext uri="{FF2B5EF4-FFF2-40B4-BE49-F238E27FC236}">
                <a16:creationId xmlns:a16="http://schemas.microsoft.com/office/drawing/2014/main" id="{30C99837-B331-CF87-0B63-5BAF1372044E}"/>
              </a:ext>
            </a:extLst>
          </p:cNvPr>
          <p:cNvSpPr/>
          <p:nvPr/>
        </p:nvSpPr>
        <p:spPr>
          <a:xfrm>
            <a:off x="2784763" y="2516391"/>
            <a:ext cx="9216737" cy="400110"/>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IN" sz="1600" dirty="0"/>
              <a:t>Scholar Agent: Tasks</a:t>
            </a:r>
          </a:p>
        </p:txBody>
      </p:sp>
      <p:sp>
        <p:nvSpPr>
          <p:cNvPr id="15" name="Rectangle 14">
            <a:extLst>
              <a:ext uri="{FF2B5EF4-FFF2-40B4-BE49-F238E27FC236}">
                <a16:creationId xmlns:a16="http://schemas.microsoft.com/office/drawing/2014/main" id="{0ECCB131-2E1D-A283-6D1D-A532F1D6FF17}"/>
              </a:ext>
            </a:extLst>
          </p:cNvPr>
          <p:cNvSpPr/>
          <p:nvPr/>
        </p:nvSpPr>
        <p:spPr>
          <a:xfrm>
            <a:off x="2784763" y="2968335"/>
            <a:ext cx="9216737" cy="1356074"/>
          </a:xfrm>
          <a:prstGeom prst="rect">
            <a:avLst/>
          </a:prstGeom>
          <a:solidFill>
            <a:schemeClr val="bg1">
              <a:lumMod val="95000"/>
            </a:schemeClr>
          </a:solidFill>
          <a:ln>
            <a:solidFill>
              <a:schemeClr val="bg1">
                <a:lumMod val="95000"/>
              </a:schemeClr>
            </a:solidFill>
          </a:ln>
        </p:spPr>
        <p:style>
          <a:lnRef idx="2">
            <a:schemeClr val="dk1"/>
          </a:lnRef>
          <a:fillRef idx="1">
            <a:schemeClr val="lt1"/>
          </a:fillRef>
          <a:effectRef idx="0">
            <a:schemeClr val="dk1"/>
          </a:effectRef>
          <a:fontRef idx="minor">
            <a:schemeClr val="dk1"/>
          </a:fontRef>
        </p:style>
        <p:txBody>
          <a:bodyPr rtlCol="0" anchor="t"/>
          <a:lstStyle/>
          <a:p>
            <a:pPr marL="342900" indent="-342900">
              <a:buAutoNum type="arabicPeriod"/>
            </a:pPr>
            <a:r>
              <a:rPr lang="en-IN" sz="1600" dirty="0"/>
              <a:t>Breaks / rephrases the user query to improve the search in scholar data</a:t>
            </a:r>
          </a:p>
          <a:p>
            <a:pPr marL="342900" indent="-342900">
              <a:buAutoNum type="arabicPeriod"/>
            </a:pPr>
            <a:r>
              <a:rPr lang="en-IN" sz="1600" dirty="0"/>
              <a:t>It has a tool, Semantic Scholar API, to search and return the title, citations, publication year and abstract of relevant research papers</a:t>
            </a:r>
          </a:p>
        </p:txBody>
      </p:sp>
      <p:sp>
        <p:nvSpPr>
          <p:cNvPr id="16" name="Rectangle 15">
            <a:extLst>
              <a:ext uri="{FF2B5EF4-FFF2-40B4-BE49-F238E27FC236}">
                <a16:creationId xmlns:a16="http://schemas.microsoft.com/office/drawing/2014/main" id="{E2533A46-F6C4-9BF8-2BE2-AD051EB74F76}"/>
              </a:ext>
            </a:extLst>
          </p:cNvPr>
          <p:cNvSpPr/>
          <p:nvPr/>
        </p:nvSpPr>
        <p:spPr>
          <a:xfrm>
            <a:off x="190500" y="4466418"/>
            <a:ext cx="2542309" cy="1808018"/>
          </a:xfrm>
          <a:prstGeom prst="rect">
            <a:avLst/>
          </a:prstGeom>
          <a:solidFill>
            <a:schemeClr val="bg1">
              <a:lumMod val="95000"/>
            </a:schemeClr>
          </a:solidFill>
          <a:ln>
            <a:solidFill>
              <a:schemeClr val="bg1">
                <a:lumMod val="95000"/>
              </a:schemeClr>
            </a:solidFill>
          </a:ln>
        </p:spPr>
        <p:style>
          <a:lnRef idx="2">
            <a:schemeClr val="dk1"/>
          </a:lnRef>
          <a:fillRef idx="1">
            <a:schemeClr val="lt1"/>
          </a:fillRef>
          <a:effectRef idx="0">
            <a:schemeClr val="dk1"/>
          </a:effectRef>
          <a:fontRef idx="minor">
            <a:schemeClr val="dk1"/>
          </a:fontRef>
        </p:style>
        <p:txBody>
          <a:bodyPr rtlCol="0" anchor="ctr"/>
          <a:lstStyle/>
          <a:p>
            <a:pPr algn="ctr"/>
            <a:endParaRPr lang="en-IN"/>
          </a:p>
        </p:txBody>
      </p:sp>
      <p:sp>
        <p:nvSpPr>
          <p:cNvPr id="18" name="Rectangle 17">
            <a:extLst>
              <a:ext uri="{FF2B5EF4-FFF2-40B4-BE49-F238E27FC236}">
                <a16:creationId xmlns:a16="http://schemas.microsoft.com/office/drawing/2014/main" id="{4BDDD5F6-BA31-2AA9-DA55-87D3E88484A2}"/>
              </a:ext>
            </a:extLst>
          </p:cNvPr>
          <p:cNvSpPr/>
          <p:nvPr/>
        </p:nvSpPr>
        <p:spPr>
          <a:xfrm>
            <a:off x="2784763" y="4466418"/>
            <a:ext cx="9216737" cy="400110"/>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IN" sz="1600" dirty="0"/>
              <a:t>Market Agent: Tasks</a:t>
            </a:r>
          </a:p>
        </p:txBody>
      </p:sp>
      <p:sp>
        <p:nvSpPr>
          <p:cNvPr id="19" name="Rectangle 18">
            <a:extLst>
              <a:ext uri="{FF2B5EF4-FFF2-40B4-BE49-F238E27FC236}">
                <a16:creationId xmlns:a16="http://schemas.microsoft.com/office/drawing/2014/main" id="{D2F3A7EC-E22E-7883-14EE-F00A2B173C27}"/>
              </a:ext>
            </a:extLst>
          </p:cNvPr>
          <p:cNvSpPr/>
          <p:nvPr/>
        </p:nvSpPr>
        <p:spPr>
          <a:xfrm>
            <a:off x="2784763" y="4918362"/>
            <a:ext cx="9216737" cy="1356074"/>
          </a:xfrm>
          <a:prstGeom prst="rect">
            <a:avLst/>
          </a:prstGeom>
          <a:solidFill>
            <a:schemeClr val="bg1">
              <a:lumMod val="95000"/>
            </a:schemeClr>
          </a:solidFill>
          <a:ln>
            <a:solidFill>
              <a:schemeClr val="bg1">
                <a:lumMod val="95000"/>
              </a:schemeClr>
            </a:solidFill>
          </a:ln>
        </p:spPr>
        <p:style>
          <a:lnRef idx="2">
            <a:schemeClr val="dk1"/>
          </a:lnRef>
          <a:fillRef idx="1">
            <a:schemeClr val="lt1"/>
          </a:fillRef>
          <a:effectRef idx="0">
            <a:schemeClr val="dk1"/>
          </a:effectRef>
          <a:fontRef idx="minor">
            <a:schemeClr val="dk1"/>
          </a:fontRef>
        </p:style>
        <p:txBody>
          <a:bodyPr rtlCol="0" anchor="t"/>
          <a:lstStyle/>
          <a:p>
            <a:pPr marL="342900" indent="-342900">
              <a:buAutoNum type="arabicPeriod"/>
            </a:pPr>
            <a:r>
              <a:rPr lang="en-IN" sz="1600" dirty="0"/>
              <a:t>It breaks / rephrases the user query to improve the search in market data</a:t>
            </a:r>
          </a:p>
          <a:p>
            <a:pPr marL="342900" indent="-342900">
              <a:buAutoNum type="arabicPeriod"/>
            </a:pPr>
            <a:r>
              <a:rPr lang="en-IN" sz="1600" dirty="0"/>
              <a:t>It has a tool, Perplexity API, to search and return the latest news, articles, trending products, services, etc., matching the user query</a:t>
            </a:r>
          </a:p>
        </p:txBody>
      </p:sp>
      <p:pic>
        <p:nvPicPr>
          <p:cNvPr id="20" name="Picture 6" descr="Graduation Icon PNG Transparent Background, Free Download #7826 -  FreeIconsPNG">
            <a:extLst>
              <a:ext uri="{FF2B5EF4-FFF2-40B4-BE49-F238E27FC236}">
                <a16:creationId xmlns:a16="http://schemas.microsoft.com/office/drawing/2014/main" id="{385E506E-6EF9-9590-5350-BEB87F26267A}"/>
              </a:ext>
            </a:extLst>
          </p:cNvPr>
          <p:cNvPicPr>
            <a:picLocks noChangeAspect="1" noChangeArrowheads="1"/>
          </p:cNvPicPr>
          <p:nvPr/>
        </p:nvPicPr>
        <p:blipFill>
          <a:blip r:embed="rId3">
            <a:duotone>
              <a:schemeClr val="accent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35577" y="2602923"/>
            <a:ext cx="1652153" cy="1652153"/>
          </a:xfrm>
          <a:prstGeom prst="rect">
            <a:avLst/>
          </a:prstGeom>
          <a:noFill/>
          <a:extLst>
            <a:ext uri="{909E8E84-426E-40DD-AFC4-6F175D3DCCD1}">
              <a14:hiddenFill xmlns:a14="http://schemas.microsoft.com/office/drawing/2010/main">
                <a:solidFill>
                  <a:srgbClr val="FFFFFF"/>
                </a:solidFill>
              </a14:hiddenFill>
            </a:ext>
          </a:extLst>
        </p:spPr>
      </p:pic>
      <p:pic>
        <p:nvPicPr>
          <p:cNvPr id="21" name="Picture 18" descr="Man with Sunglasses and Suit icon | Freepik">
            <a:extLst>
              <a:ext uri="{FF2B5EF4-FFF2-40B4-BE49-F238E27FC236}">
                <a16:creationId xmlns:a16="http://schemas.microsoft.com/office/drawing/2014/main" id="{3536DC0C-174C-FBEE-EFE8-70196FD2677B}"/>
              </a:ext>
            </a:extLst>
          </p:cNvPr>
          <p:cNvPicPr>
            <a:picLocks noChangeAspect="1" noChangeArrowheads="1"/>
          </p:cNvPicPr>
          <p:nvPr/>
        </p:nvPicPr>
        <p:blipFill>
          <a:blip r:embed="rId4">
            <a:duotone>
              <a:schemeClr val="accent5">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18374" y="4544348"/>
            <a:ext cx="1669356" cy="16693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7707284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279616-9FB2-3DC6-E9CA-671E92ABC96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D343091-E70E-C00D-2063-D1AD1F837E40}"/>
              </a:ext>
            </a:extLst>
          </p:cNvPr>
          <p:cNvSpPr txBox="1"/>
          <p:nvPr/>
        </p:nvSpPr>
        <p:spPr>
          <a:xfrm>
            <a:off x="190500" y="166254"/>
            <a:ext cx="11811000" cy="400110"/>
          </a:xfrm>
          <a:prstGeom prst="rect">
            <a:avLst/>
          </a:prstGeom>
          <a:noFill/>
        </p:spPr>
        <p:txBody>
          <a:bodyPr wrap="square" rtlCol="0">
            <a:spAutoFit/>
          </a:bodyPr>
          <a:lstStyle/>
          <a:p>
            <a:r>
              <a:rPr lang="en-IN" sz="2000" b="1" dirty="0"/>
              <a:t>Agents</a:t>
            </a:r>
          </a:p>
        </p:txBody>
      </p:sp>
      <p:sp>
        <p:nvSpPr>
          <p:cNvPr id="4" name="Rectangle 3">
            <a:extLst>
              <a:ext uri="{FF2B5EF4-FFF2-40B4-BE49-F238E27FC236}">
                <a16:creationId xmlns:a16="http://schemas.microsoft.com/office/drawing/2014/main" id="{ACFA11C5-3082-BF23-677E-95A5FDC1C227}"/>
              </a:ext>
            </a:extLst>
          </p:cNvPr>
          <p:cNvSpPr/>
          <p:nvPr/>
        </p:nvSpPr>
        <p:spPr>
          <a:xfrm>
            <a:off x="190500" y="566364"/>
            <a:ext cx="2542309" cy="1808018"/>
          </a:xfrm>
          <a:prstGeom prst="rect">
            <a:avLst/>
          </a:prstGeom>
          <a:solidFill>
            <a:schemeClr val="bg1">
              <a:lumMod val="95000"/>
            </a:schemeClr>
          </a:solidFill>
          <a:ln>
            <a:solidFill>
              <a:schemeClr val="bg1">
                <a:lumMod val="95000"/>
              </a:schemeClr>
            </a:solidFill>
          </a:ln>
        </p:spPr>
        <p:style>
          <a:lnRef idx="2">
            <a:schemeClr val="dk1"/>
          </a:lnRef>
          <a:fillRef idx="1">
            <a:schemeClr val="lt1"/>
          </a:fillRef>
          <a:effectRef idx="0">
            <a:schemeClr val="dk1"/>
          </a:effectRef>
          <a:fontRef idx="minor">
            <a:schemeClr val="dk1"/>
          </a:fontRef>
        </p:style>
        <p:txBody>
          <a:bodyPr rtlCol="0" anchor="ctr"/>
          <a:lstStyle/>
          <a:p>
            <a:pPr algn="ctr"/>
            <a:endParaRPr lang="en-IN"/>
          </a:p>
        </p:txBody>
      </p:sp>
      <p:sp>
        <p:nvSpPr>
          <p:cNvPr id="6" name="Rectangle 5">
            <a:extLst>
              <a:ext uri="{FF2B5EF4-FFF2-40B4-BE49-F238E27FC236}">
                <a16:creationId xmlns:a16="http://schemas.microsoft.com/office/drawing/2014/main" id="{1A9AA97C-3249-2B21-C669-550A5F5BBFF4}"/>
              </a:ext>
            </a:extLst>
          </p:cNvPr>
          <p:cNvSpPr/>
          <p:nvPr/>
        </p:nvSpPr>
        <p:spPr>
          <a:xfrm>
            <a:off x="2784763" y="566364"/>
            <a:ext cx="9216737" cy="400110"/>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IN" sz="1600" dirty="0"/>
              <a:t>Summarizer Agent: Tasks</a:t>
            </a:r>
          </a:p>
        </p:txBody>
      </p:sp>
      <p:sp>
        <p:nvSpPr>
          <p:cNvPr id="7" name="Rectangle 6">
            <a:extLst>
              <a:ext uri="{FF2B5EF4-FFF2-40B4-BE49-F238E27FC236}">
                <a16:creationId xmlns:a16="http://schemas.microsoft.com/office/drawing/2014/main" id="{6680B007-5E8A-35C8-0D4C-AAC8DD059F6B}"/>
              </a:ext>
            </a:extLst>
          </p:cNvPr>
          <p:cNvSpPr/>
          <p:nvPr/>
        </p:nvSpPr>
        <p:spPr>
          <a:xfrm>
            <a:off x="2784763" y="1018308"/>
            <a:ext cx="9216737" cy="1356074"/>
          </a:xfrm>
          <a:prstGeom prst="rect">
            <a:avLst/>
          </a:prstGeom>
          <a:solidFill>
            <a:schemeClr val="bg1">
              <a:lumMod val="95000"/>
            </a:schemeClr>
          </a:solidFill>
          <a:ln>
            <a:solidFill>
              <a:schemeClr val="bg1">
                <a:lumMod val="95000"/>
              </a:schemeClr>
            </a:solidFill>
          </a:ln>
        </p:spPr>
        <p:style>
          <a:lnRef idx="2">
            <a:schemeClr val="dk1"/>
          </a:lnRef>
          <a:fillRef idx="1">
            <a:schemeClr val="lt1"/>
          </a:fillRef>
          <a:effectRef idx="0">
            <a:schemeClr val="dk1"/>
          </a:effectRef>
          <a:fontRef idx="minor">
            <a:schemeClr val="dk1"/>
          </a:fontRef>
        </p:style>
        <p:txBody>
          <a:bodyPr rtlCol="0" anchor="t"/>
          <a:lstStyle/>
          <a:p>
            <a:pPr marL="342900" indent="-342900">
              <a:buAutoNum type="arabicPeriod"/>
            </a:pPr>
            <a:r>
              <a:rPr lang="en-IN" sz="1600" dirty="0"/>
              <a:t>It gets data from Scholar Agent and Market Agent and summarizes it to eliminate redundancy</a:t>
            </a:r>
          </a:p>
        </p:txBody>
      </p:sp>
      <p:sp>
        <p:nvSpPr>
          <p:cNvPr id="8" name="Rectangle 7">
            <a:extLst>
              <a:ext uri="{FF2B5EF4-FFF2-40B4-BE49-F238E27FC236}">
                <a16:creationId xmlns:a16="http://schemas.microsoft.com/office/drawing/2014/main" id="{B9F1C7C0-F27A-4CEE-34B5-72AB35698670}"/>
              </a:ext>
            </a:extLst>
          </p:cNvPr>
          <p:cNvSpPr/>
          <p:nvPr/>
        </p:nvSpPr>
        <p:spPr>
          <a:xfrm>
            <a:off x="190500" y="2516391"/>
            <a:ext cx="2542309" cy="1808018"/>
          </a:xfrm>
          <a:prstGeom prst="rect">
            <a:avLst/>
          </a:prstGeom>
          <a:solidFill>
            <a:schemeClr val="bg1">
              <a:lumMod val="95000"/>
            </a:schemeClr>
          </a:solidFill>
          <a:ln>
            <a:solidFill>
              <a:schemeClr val="bg1">
                <a:lumMod val="95000"/>
              </a:schemeClr>
            </a:solidFill>
          </a:ln>
        </p:spPr>
        <p:style>
          <a:lnRef idx="2">
            <a:schemeClr val="dk1"/>
          </a:lnRef>
          <a:fillRef idx="1">
            <a:schemeClr val="lt1"/>
          </a:fillRef>
          <a:effectRef idx="0">
            <a:schemeClr val="dk1"/>
          </a:effectRef>
          <a:fontRef idx="minor">
            <a:schemeClr val="dk1"/>
          </a:fontRef>
        </p:style>
        <p:txBody>
          <a:bodyPr rtlCol="0" anchor="ctr"/>
          <a:lstStyle/>
          <a:p>
            <a:pPr algn="ctr"/>
            <a:endParaRPr lang="en-IN"/>
          </a:p>
        </p:txBody>
      </p:sp>
      <p:sp>
        <p:nvSpPr>
          <p:cNvPr id="9" name="Rectangle 8">
            <a:extLst>
              <a:ext uri="{FF2B5EF4-FFF2-40B4-BE49-F238E27FC236}">
                <a16:creationId xmlns:a16="http://schemas.microsoft.com/office/drawing/2014/main" id="{6696B362-1CFD-FCF8-21DE-3742C3E0C859}"/>
              </a:ext>
            </a:extLst>
          </p:cNvPr>
          <p:cNvSpPr/>
          <p:nvPr/>
        </p:nvSpPr>
        <p:spPr>
          <a:xfrm>
            <a:off x="2784763" y="2516391"/>
            <a:ext cx="9216737" cy="400110"/>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IN" sz="1600" dirty="0"/>
              <a:t>Critic Agent: Tasks</a:t>
            </a:r>
          </a:p>
        </p:txBody>
      </p:sp>
      <p:sp>
        <p:nvSpPr>
          <p:cNvPr id="10" name="Rectangle 9">
            <a:extLst>
              <a:ext uri="{FF2B5EF4-FFF2-40B4-BE49-F238E27FC236}">
                <a16:creationId xmlns:a16="http://schemas.microsoft.com/office/drawing/2014/main" id="{DCC85406-1C89-0888-775E-33029B436BD5}"/>
              </a:ext>
            </a:extLst>
          </p:cNvPr>
          <p:cNvSpPr/>
          <p:nvPr/>
        </p:nvSpPr>
        <p:spPr>
          <a:xfrm>
            <a:off x="2784763" y="2968335"/>
            <a:ext cx="9216737" cy="1356074"/>
          </a:xfrm>
          <a:prstGeom prst="rect">
            <a:avLst/>
          </a:prstGeom>
          <a:solidFill>
            <a:schemeClr val="bg1">
              <a:lumMod val="95000"/>
            </a:schemeClr>
          </a:solidFill>
          <a:ln>
            <a:solidFill>
              <a:schemeClr val="bg1">
                <a:lumMod val="95000"/>
              </a:schemeClr>
            </a:solidFill>
          </a:ln>
        </p:spPr>
        <p:style>
          <a:lnRef idx="2">
            <a:schemeClr val="dk1"/>
          </a:lnRef>
          <a:fillRef idx="1">
            <a:schemeClr val="lt1"/>
          </a:fillRef>
          <a:effectRef idx="0">
            <a:schemeClr val="dk1"/>
          </a:effectRef>
          <a:fontRef idx="minor">
            <a:schemeClr val="dk1"/>
          </a:fontRef>
        </p:style>
        <p:txBody>
          <a:bodyPr rtlCol="0" anchor="t"/>
          <a:lstStyle/>
          <a:p>
            <a:pPr marL="342900" indent="-342900">
              <a:buAutoNum type="arabicPeriod"/>
            </a:pPr>
            <a:r>
              <a:rPr lang="en-IN" sz="1600" dirty="0"/>
              <a:t>This agent will get the summary from Summarizer Agent and finds gaps, limitations, biases</a:t>
            </a:r>
          </a:p>
          <a:p>
            <a:pPr marL="342900" indent="-342900">
              <a:buAutoNum type="arabicPeriod"/>
            </a:pPr>
            <a:r>
              <a:rPr lang="en-IN" sz="1600" dirty="0"/>
              <a:t>Share these critics with the user which could help the user to identify a research problem</a:t>
            </a:r>
          </a:p>
        </p:txBody>
      </p:sp>
      <p:sp>
        <p:nvSpPr>
          <p:cNvPr id="11" name="Rectangle 10">
            <a:extLst>
              <a:ext uri="{FF2B5EF4-FFF2-40B4-BE49-F238E27FC236}">
                <a16:creationId xmlns:a16="http://schemas.microsoft.com/office/drawing/2014/main" id="{80BC38D5-40BB-56A7-E456-6923CEFFC5F1}"/>
              </a:ext>
            </a:extLst>
          </p:cNvPr>
          <p:cNvSpPr/>
          <p:nvPr/>
        </p:nvSpPr>
        <p:spPr>
          <a:xfrm>
            <a:off x="190500" y="4466418"/>
            <a:ext cx="2542309" cy="1808018"/>
          </a:xfrm>
          <a:prstGeom prst="rect">
            <a:avLst/>
          </a:prstGeom>
          <a:solidFill>
            <a:schemeClr val="bg1">
              <a:lumMod val="95000"/>
            </a:schemeClr>
          </a:solidFill>
          <a:ln>
            <a:solidFill>
              <a:schemeClr val="bg1">
                <a:lumMod val="95000"/>
              </a:schemeClr>
            </a:solidFill>
          </a:ln>
        </p:spPr>
        <p:style>
          <a:lnRef idx="2">
            <a:schemeClr val="dk1"/>
          </a:lnRef>
          <a:fillRef idx="1">
            <a:schemeClr val="lt1"/>
          </a:fillRef>
          <a:effectRef idx="0">
            <a:schemeClr val="dk1"/>
          </a:effectRef>
          <a:fontRef idx="minor">
            <a:schemeClr val="dk1"/>
          </a:fontRef>
        </p:style>
        <p:txBody>
          <a:bodyPr rtlCol="0" anchor="ctr"/>
          <a:lstStyle/>
          <a:p>
            <a:pPr algn="ctr"/>
            <a:endParaRPr lang="en-IN"/>
          </a:p>
        </p:txBody>
      </p:sp>
      <p:sp>
        <p:nvSpPr>
          <p:cNvPr id="12" name="Rectangle 11">
            <a:extLst>
              <a:ext uri="{FF2B5EF4-FFF2-40B4-BE49-F238E27FC236}">
                <a16:creationId xmlns:a16="http://schemas.microsoft.com/office/drawing/2014/main" id="{85F6787E-BE1F-0A30-580F-F1182396274D}"/>
              </a:ext>
            </a:extLst>
          </p:cNvPr>
          <p:cNvSpPr/>
          <p:nvPr/>
        </p:nvSpPr>
        <p:spPr>
          <a:xfrm>
            <a:off x="2784763" y="4466418"/>
            <a:ext cx="9216737" cy="400110"/>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IN" sz="1600" dirty="0"/>
              <a:t>Report Generation Agent: Tasks</a:t>
            </a:r>
          </a:p>
        </p:txBody>
      </p:sp>
      <p:sp>
        <p:nvSpPr>
          <p:cNvPr id="13" name="Rectangle 12">
            <a:extLst>
              <a:ext uri="{FF2B5EF4-FFF2-40B4-BE49-F238E27FC236}">
                <a16:creationId xmlns:a16="http://schemas.microsoft.com/office/drawing/2014/main" id="{0B58CAAE-2248-C907-F605-4C96AEBB0A7A}"/>
              </a:ext>
            </a:extLst>
          </p:cNvPr>
          <p:cNvSpPr/>
          <p:nvPr/>
        </p:nvSpPr>
        <p:spPr>
          <a:xfrm>
            <a:off x="2784763" y="4918362"/>
            <a:ext cx="9216737" cy="1356074"/>
          </a:xfrm>
          <a:prstGeom prst="rect">
            <a:avLst/>
          </a:prstGeom>
          <a:solidFill>
            <a:schemeClr val="bg1">
              <a:lumMod val="95000"/>
            </a:schemeClr>
          </a:solidFill>
          <a:ln>
            <a:solidFill>
              <a:schemeClr val="bg1">
                <a:lumMod val="95000"/>
              </a:schemeClr>
            </a:solidFill>
          </a:ln>
        </p:spPr>
        <p:style>
          <a:lnRef idx="2">
            <a:schemeClr val="dk1"/>
          </a:lnRef>
          <a:fillRef idx="1">
            <a:schemeClr val="lt1"/>
          </a:fillRef>
          <a:effectRef idx="0">
            <a:schemeClr val="dk1"/>
          </a:effectRef>
          <a:fontRef idx="minor">
            <a:schemeClr val="dk1"/>
          </a:fontRef>
        </p:style>
        <p:txBody>
          <a:bodyPr rtlCol="0" anchor="t"/>
          <a:lstStyle/>
          <a:p>
            <a:pPr marL="342900" indent="-342900">
              <a:buAutoNum type="arabicPeriod"/>
            </a:pPr>
            <a:r>
              <a:rPr lang="en-IN" sz="1600" dirty="0"/>
              <a:t>It takes summary from Summarizer Agent and critics from Critic Agent</a:t>
            </a:r>
          </a:p>
          <a:p>
            <a:pPr marL="342900" indent="-342900">
              <a:buAutoNum type="arabicPeriod"/>
            </a:pPr>
            <a:r>
              <a:rPr lang="en-IN" sz="1600" dirty="0"/>
              <a:t>Builds a well structured (with topics and sub-topics) readable report from the collected data</a:t>
            </a:r>
          </a:p>
        </p:txBody>
      </p:sp>
      <p:pic>
        <p:nvPicPr>
          <p:cNvPr id="16" name="Picture 10" descr="Writing - Free people icons">
            <a:extLst>
              <a:ext uri="{FF2B5EF4-FFF2-40B4-BE49-F238E27FC236}">
                <a16:creationId xmlns:a16="http://schemas.microsoft.com/office/drawing/2014/main" id="{514A176E-AEA6-5288-3D11-6392FF71FF65}"/>
              </a:ext>
            </a:extLst>
          </p:cNvPr>
          <p:cNvPicPr>
            <a:picLocks noChangeAspect="1" noChangeArrowheads="1"/>
          </p:cNvPicPr>
          <p:nvPr/>
        </p:nvPicPr>
        <p:blipFill>
          <a:blip r:embed="rId2">
            <a:duotone>
              <a:schemeClr val="accent6">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35578" y="644294"/>
            <a:ext cx="1652152" cy="1652152"/>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12" descr="Secret Agent Free Download PNG HD Transparent HQ PNG Download | FreePNGimg">
            <a:extLst>
              <a:ext uri="{FF2B5EF4-FFF2-40B4-BE49-F238E27FC236}">
                <a16:creationId xmlns:a16="http://schemas.microsoft.com/office/drawing/2014/main" id="{604D2533-B487-DCC7-62CA-3D36A4960A5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56806" y="2615552"/>
            <a:ext cx="1609695" cy="1609695"/>
          </a:xfrm>
          <a:prstGeom prst="rect">
            <a:avLst/>
          </a:prstGeom>
          <a:noFill/>
          <a:extLst>
            <a:ext uri="{909E8E84-426E-40DD-AFC4-6F175D3DCCD1}">
              <a14:hiddenFill xmlns:a14="http://schemas.microsoft.com/office/drawing/2010/main">
                <a:solidFill>
                  <a:srgbClr val="FFFFFF"/>
                </a:solidFill>
              </a14:hiddenFill>
            </a:ext>
          </a:extLst>
        </p:spPr>
      </p:pic>
      <p:pic>
        <p:nvPicPr>
          <p:cNvPr id="18" name="Picture 14" descr="Businessman showing stats graphic - Free business icons">
            <a:extLst>
              <a:ext uri="{FF2B5EF4-FFF2-40B4-BE49-F238E27FC236}">
                <a16:creationId xmlns:a16="http://schemas.microsoft.com/office/drawing/2014/main" id="{4E2F1042-DEEA-18CE-530F-1DF30FE14FB5}"/>
              </a:ext>
            </a:extLst>
          </p:cNvPr>
          <p:cNvPicPr>
            <a:picLocks noChangeAspect="1" noChangeArrowheads="1"/>
          </p:cNvPicPr>
          <p:nvPr/>
        </p:nvPicPr>
        <p:blipFill>
          <a:blip r:embed="rId4">
            <a:duotone>
              <a:schemeClr val="accent3">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6191" y="4554965"/>
            <a:ext cx="1630923" cy="163092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7961740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E108BC-7BFC-E019-C2CD-35D66D8673A9}"/>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BBE6751-BBB0-2A2E-77D2-005D7BB99659}"/>
              </a:ext>
            </a:extLst>
          </p:cNvPr>
          <p:cNvSpPr txBox="1"/>
          <p:nvPr/>
        </p:nvSpPr>
        <p:spPr>
          <a:xfrm>
            <a:off x="190500" y="166254"/>
            <a:ext cx="11811000" cy="400110"/>
          </a:xfrm>
          <a:prstGeom prst="rect">
            <a:avLst/>
          </a:prstGeom>
          <a:noFill/>
        </p:spPr>
        <p:txBody>
          <a:bodyPr wrap="square" rtlCol="0">
            <a:spAutoFit/>
          </a:bodyPr>
          <a:lstStyle/>
          <a:p>
            <a:r>
              <a:rPr lang="en-IN" sz="2000" b="1" dirty="0"/>
              <a:t>Agents</a:t>
            </a:r>
          </a:p>
        </p:txBody>
      </p:sp>
      <p:sp>
        <p:nvSpPr>
          <p:cNvPr id="4" name="Rectangle 3">
            <a:extLst>
              <a:ext uri="{FF2B5EF4-FFF2-40B4-BE49-F238E27FC236}">
                <a16:creationId xmlns:a16="http://schemas.microsoft.com/office/drawing/2014/main" id="{4B7DA16C-C0C4-964F-BA16-E62C2E144675}"/>
              </a:ext>
            </a:extLst>
          </p:cNvPr>
          <p:cNvSpPr/>
          <p:nvPr/>
        </p:nvSpPr>
        <p:spPr>
          <a:xfrm>
            <a:off x="190500" y="566364"/>
            <a:ext cx="2542309" cy="1808018"/>
          </a:xfrm>
          <a:prstGeom prst="rect">
            <a:avLst/>
          </a:prstGeom>
          <a:solidFill>
            <a:schemeClr val="bg1">
              <a:lumMod val="95000"/>
            </a:schemeClr>
          </a:solidFill>
          <a:ln>
            <a:solidFill>
              <a:schemeClr val="bg1">
                <a:lumMod val="95000"/>
              </a:schemeClr>
            </a:solidFill>
          </a:ln>
        </p:spPr>
        <p:style>
          <a:lnRef idx="2">
            <a:schemeClr val="dk1"/>
          </a:lnRef>
          <a:fillRef idx="1">
            <a:schemeClr val="lt1"/>
          </a:fillRef>
          <a:effectRef idx="0">
            <a:schemeClr val="dk1"/>
          </a:effectRef>
          <a:fontRef idx="minor">
            <a:schemeClr val="dk1"/>
          </a:fontRef>
        </p:style>
        <p:txBody>
          <a:bodyPr rtlCol="0" anchor="ctr"/>
          <a:lstStyle/>
          <a:p>
            <a:pPr algn="ctr"/>
            <a:endParaRPr lang="en-IN"/>
          </a:p>
        </p:txBody>
      </p:sp>
      <p:sp>
        <p:nvSpPr>
          <p:cNvPr id="6" name="Rectangle 5">
            <a:extLst>
              <a:ext uri="{FF2B5EF4-FFF2-40B4-BE49-F238E27FC236}">
                <a16:creationId xmlns:a16="http://schemas.microsoft.com/office/drawing/2014/main" id="{FF078668-B174-78ED-AA80-072800147FF1}"/>
              </a:ext>
            </a:extLst>
          </p:cNvPr>
          <p:cNvSpPr/>
          <p:nvPr/>
        </p:nvSpPr>
        <p:spPr>
          <a:xfrm>
            <a:off x="2784763" y="566364"/>
            <a:ext cx="9216737" cy="400110"/>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IN" sz="1600" dirty="0"/>
              <a:t>RAG Agent: Tasks</a:t>
            </a:r>
          </a:p>
        </p:txBody>
      </p:sp>
      <p:sp>
        <p:nvSpPr>
          <p:cNvPr id="7" name="Rectangle 6">
            <a:extLst>
              <a:ext uri="{FF2B5EF4-FFF2-40B4-BE49-F238E27FC236}">
                <a16:creationId xmlns:a16="http://schemas.microsoft.com/office/drawing/2014/main" id="{C474A56E-7873-769E-AC4A-053D3D48B1D3}"/>
              </a:ext>
            </a:extLst>
          </p:cNvPr>
          <p:cNvSpPr/>
          <p:nvPr/>
        </p:nvSpPr>
        <p:spPr>
          <a:xfrm>
            <a:off x="2784763" y="1018308"/>
            <a:ext cx="9216737" cy="1356074"/>
          </a:xfrm>
          <a:prstGeom prst="rect">
            <a:avLst/>
          </a:prstGeom>
          <a:solidFill>
            <a:schemeClr val="bg1">
              <a:lumMod val="95000"/>
            </a:schemeClr>
          </a:solidFill>
          <a:ln>
            <a:solidFill>
              <a:schemeClr val="bg1">
                <a:lumMod val="95000"/>
              </a:schemeClr>
            </a:solidFill>
          </a:ln>
        </p:spPr>
        <p:style>
          <a:lnRef idx="2">
            <a:schemeClr val="dk1"/>
          </a:lnRef>
          <a:fillRef idx="1">
            <a:schemeClr val="lt1"/>
          </a:fillRef>
          <a:effectRef idx="0">
            <a:schemeClr val="dk1"/>
          </a:effectRef>
          <a:fontRef idx="minor">
            <a:schemeClr val="dk1"/>
          </a:fontRef>
        </p:style>
        <p:txBody>
          <a:bodyPr rtlCol="0" anchor="t"/>
          <a:lstStyle/>
          <a:p>
            <a:pPr marL="342900" indent="-342900">
              <a:buAutoNum type="arabicPeriod"/>
            </a:pPr>
            <a:r>
              <a:rPr lang="en-IN" sz="1600" dirty="0"/>
              <a:t>It gets summary from the Summarizer Agent and critics from the Critics Agent</a:t>
            </a:r>
          </a:p>
          <a:p>
            <a:pPr marL="342900" indent="-342900">
              <a:buAutoNum type="arabicPeriod"/>
            </a:pPr>
            <a:r>
              <a:rPr lang="en-IN" sz="1600" dirty="0"/>
              <a:t>Builds a RAG pipeline to answer any questions that user may ask</a:t>
            </a:r>
          </a:p>
        </p:txBody>
      </p:sp>
      <p:pic>
        <p:nvPicPr>
          <p:cNvPr id="3" name="Picture 16" descr="Idea - Free user icons">
            <a:extLst>
              <a:ext uri="{FF2B5EF4-FFF2-40B4-BE49-F238E27FC236}">
                <a16:creationId xmlns:a16="http://schemas.microsoft.com/office/drawing/2014/main" id="{E1B6CE72-D4F0-875E-2F61-A9C9D1B7B594}"/>
              </a:ext>
            </a:extLst>
          </p:cNvPr>
          <p:cNvPicPr>
            <a:picLocks noChangeAspect="1" noChangeArrowheads="1"/>
          </p:cNvPicPr>
          <p:nvPr/>
        </p:nvPicPr>
        <p:blipFill>
          <a:blip r:embed="rId2">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65018" y="665137"/>
            <a:ext cx="1600199" cy="160019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0513720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841924-F348-6658-84AF-69A2A0ACD3A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BF15FA7-9083-4130-5294-A4150BB1FCFE}"/>
              </a:ext>
            </a:extLst>
          </p:cNvPr>
          <p:cNvSpPr txBox="1"/>
          <p:nvPr/>
        </p:nvSpPr>
        <p:spPr>
          <a:xfrm>
            <a:off x="190500" y="166254"/>
            <a:ext cx="11811000" cy="400110"/>
          </a:xfrm>
          <a:prstGeom prst="rect">
            <a:avLst/>
          </a:prstGeom>
          <a:noFill/>
        </p:spPr>
        <p:txBody>
          <a:bodyPr wrap="square" rtlCol="0">
            <a:spAutoFit/>
          </a:bodyPr>
          <a:lstStyle/>
          <a:p>
            <a:r>
              <a:rPr lang="en-IN" sz="2000" b="1" dirty="0"/>
              <a:t>Tools: Semantic Scholar API</a:t>
            </a:r>
          </a:p>
        </p:txBody>
      </p:sp>
      <p:pic>
        <p:nvPicPr>
          <p:cNvPr id="2052" name="Picture 4" descr="Progress in Neurobiology (PNEURO) | Open Access">
            <a:extLst>
              <a:ext uri="{FF2B5EF4-FFF2-40B4-BE49-F238E27FC236}">
                <a16:creationId xmlns:a16="http://schemas.microsoft.com/office/drawing/2014/main" id="{04BBF192-AF6C-639F-4396-640BAE1533D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581158" y="566364"/>
            <a:ext cx="3420342" cy="1641764"/>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9BB16B3C-4A4D-41A3-5A9F-637022EDF5D0}"/>
              </a:ext>
            </a:extLst>
          </p:cNvPr>
          <p:cNvSpPr txBox="1"/>
          <p:nvPr/>
        </p:nvSpPr>
        <p:spPr>
          <a:xfrm>
            <a:off x="190500" y="725526"/>
            <a:ext cx="8390658" cy="1323439"/>
          </a:xfrm>
          <a:prstGeom prst="rect">
            <a:avLst/>
          </a:prstGeom>
          <a:noFill/>
        </p:spPr>
        <p:txBody>
          <a:bodyPr wrap="square" rtlCol="0">
            <a:spAutoFit/>
          </a:bodyPr>
          <a:lstStyle/>
          <a:p>
            <a:r>
              <a:rPr lang="en-IN" sz="1600" b="1" dirty="0"/>
              <a:t>Semantic Scholar</a:t>
            </a:r>
          </a:p>
          <a:p>
            <a:pPr marL="285750" indent="-285750">
              <a:buFont typeface="Arial" panose="020B0604020202020204" pitchFamily="34" charset="0"/>
              <a:buChar char="•"/>
            </a:pPr>
            <a:r>
              <a:rPr lang="en-IN" sz="1600" dirty="0"/>
              <a:t>Semantic Scholar provides free, AI-driven search and discovery tools, and open resources for the global research community.</a:t>
            </a:r>
          </a:p>
          <a:p>
            <a:pPr marL="285750" indent="-285750">
              <a:buFont typeface="Arial" panose="020B0604020202020204" pitchFamily="34" charset="0"/>
              <a:buChar char="•"/>
            </a:pPr>
            <a:r>
              <a:rPr lang="en-IN" sz="1600" dirty="0"/>
              <a:t>Semantic Scholar index over 200 million academic papers sourced from </a:t>
            </a:r>
            <a:r>
              <a:rPr lang="en-IN" sz="1600" dirty="0">
                <a:hlinkClick r:id="rId3"/>
              </a:rPr>
              <a:t>publisher partners</a:t>
            </a:r>
            <a:r>
              <a:rPr lang="en-IN" sz="1600" dirty="0"/>
              <a:t>, data providers, and web crawls.</a:t>
            </a:r>
          </a:p>
        </p:txBody>
      </p:sp>
      <p:graphicFrame>
        <p:nvGraphicFramePr>
          <p:cNvPr id="6" name="Table 5">
            <a:extLst>
              <a:ext uri="{FF2B5EF4-FFF2-40B4-BE49-F238E27FC236}">
                <a16:creationId xmlns:a16="http://schemas.microsoft.com/office/drawing/2014/main" id="{73BE18FF-8E82-AB13-589F-311D7E537F23}"/>
              </a:ext>
            </a:extLst>
          </p:cNvPr>
          <p:cNvGraphicFramePr>
            <a:graphicFrameLocks noGrp="1"/>
          </p:cNvGraphicFramePr>
          <p:nvPr>
            <p:extLst>
              <p:ext uri="{D42A27DB-BD31-4B8C-83A1-F6EECF244321}">
                <p14:modId xmlns:p14="http://schemas.microsoft.com/office/powerpoint/2010/main" val="1929275587"/>
              </p:ext>
            </p:extLst>
          </p:nvPr>
        </p:nvGraphicFramePr>
        <p:xfrm>
          <a:off x="190500" y="2208127"/>
          <a:ext cx="11811000" cy="1584960"/>
        </p:xfrm>
        <a:graphic>
          <a:graphicData uri="http://schemas.openxmlformats.org/drawingml/2006/table">
            <a:tbl>
              <a:tblPr firstRow="1" bandRow="1">
                <a:tableStyleId>{073A0DAA-6AF3-43AB-8588-CEC1D06C72B9}</a:tableStyleId>
              </a:tblPr>
              <a:tblGrid>
                <a:gridCol w="651164">
                  <a:extLst>
                    <a:ext uri="{9D8B030D-6E8A-4147-A177-3AD203B41FA5}">
                      <a16:colId xmlns:a16="http://schemas.microsoft.com/office/drawing/2014/main" val="2139974626"/>
                    </a:ext>
                  </a:extLst>
                </a:gridCol>
                <a:gridCol w="5642263">
                  <a:extLst>
                    <a:ext uri="{9D8B030D-6E8A-4147-A177-3AD203B41FA5}">
                      <a16:colId xmlns:a16="http://schemas.microsoft.com/office/drawing/2014/main" val="1219789741"/>
                    </a:ext>
                  </a:extLst>
                </a:gridCol>
                <a:gridCol w="5517573">
                  <a:extLst>
                    <a:ext uri="{9D8B030D-6E8A-4147-A177-3AD203B41FA5}">
                      <a16:colId xmlns:a16="http://schemas.microsoft.com/office/drawing/2014/main" val="193198907"/>
                    </a:ext>
                  </a:extLst>
                </a:gridCol>
              </a:tblGrid>
              <a:tr h="235080">
                <a:tc>
                  <a:txBody>
                    <a:bodyPr/>
                    <a:lstStyle/>
                    <a:p>
                      <a:pPr algn="ctr"/>
                      <a:r>
                        <a:rPr lang="en-IN" sz="1600" dirty="0"/>
                        <a:t>#</a:t>
                      </a:r>
                    </a:p>
                  </a:txBody>
                  <a:tcPr/>
                </a:tc>
                <a:tc>
                  <a:txBody>
                    <a:bodyPr/>
                    <a:lstStyle/>
                    <a:p>
                      <a:pPr algn="ctr"/>
                      <a:r>
                        <a:rPr lang="en-IN" sz="1600" dirty="0"/>
                        <a:t>API</a:t>
                      </a:r>
                    </a:p>
                  </a:txBody>
                  <a:tcPr/>
                </a:tc>
                <a:tc>
                  <a:txBody>
                    <a:bodyPr/>
                    <a:lstStyle/>
                    <a:p>
                      <a:pPr algn="ctr"/>
                      <a:r>
                        <a:rPr lang="en-IN" sz="1600" dirty="0"/>
                        <a:t>Description</a:t>
                      </a:r>
                    </a:p>
                  </a:txBody>
                  <a:tcPr/>
                </a:tc>
                <a:extLst>
                  <a:ext uri="{0D108BD9-81ED-4DB2-BD59-A6C34878D82A}">
                    <a16:rowId xmlns:a16="http://schemas.microsoft.com/office/drawing/2014/main" val="919128788"/>
                  </a:ext>
                </a:extLst>
              </a:tr>
              <a:tr h="235080">
                <a:tc>
                  <a:txBody>
                    <a:bodyPr/>
                    <a:lstStyle/>
                    <a:p>
                      <a:pPr algn="ctr"/>
                      <a:r>
                        <a:rPr lang="en-IN" sz="1600" dirty="0"/>
                        <a:t>1</a:t>
                      </a:r>
                    </a:p>
                  </a:txBody>
                  <a:tcPr/>
                </a:tc>
                <a:tc>
                  <a:txBody>
                    <a:bodyPr/>
                    <a:lstStyle/>
                    <a:p>
                      <a:r>
                        <a:rPr lang="en-IN" sz="1600" dirty="0"/>
                        <a:t>https://api.semanticscholar.org/graph/v1/paper/search</a:t>
                      </a:r>
                    </a:p>
                  </a:txBody>
                  <a:tcPr/>
                </a:tc>
                <a:tc>
                  <a:txBody>
                    <a:bodyPr/>
                    <a:lstStyle/>
                    <a:p>
                      <a:r>
                        <a:rPr lang="en-IN" sz="1600" dirty="0"/>
                        <a:t>Lets user search relevant papers for their query</a:t>
                      </a:r>
                    </a:p>
                  </a:txBody>
                  <a:tcPr/>
                </a:tc>
                <a:extLst>
                  <a:ext uri="{0D108BD9-81ED-4DB2-BD59-A6C34878D82A}">
                    <a16:rowId xmlns:a16="http://schemas.microsoft.com/office/drawing/2014/main" val="3769029517"/>
                  </a:ext>
                </a:extLst>
              </a:tr>
              <a:tr h="235080">
                <a:tc>
                  <a:txBody>
                    <a:bodyPr/>
                    <a:lstStyle/>
                    <a:p>
                      <a:pPr algn="ctr"/>
                      <a:r>
                        <a:rPr lang="en-IN" sz="1600" dirty="0"/>
                        <a:t>2</a:t>
                      </a:r>
                    </a:p>
                  </a:txBody>
                  <a:tcPr/>
                </a:tc>
                <a:tc>
                  <a:txBody>
                    <a:bodyPr/>
                    <a:lstStyle/>
                    <a:p>
                      <a:r>
                        <a:rPr lang="en-IN" sz="1600" dirty="0"/>
                        <a:t>https://api.semanticscholar.org/graph/v1/paper/{paper_id}</a:t>
                      </a:r>
                    </a:p>
                  </a:txBody>
                  <a:tcPr/>
                </a:tc>
                <a:tc>
                  <a:txBody>
                    <a:bodyPr/>
                    <a:lstStyle/>
                    <a:p>
                      <a:r>
                        <a:rPr lang="en-IN" sz="1600" dirty="0"/>
                        <a:t>Lets user find detail of a particular paper with paper ID {</a:t>
                      </a:r>
                      <a:r>
                        <a:rPr lang="en-IN" sz="1600" dirty="0" err="1"/>
                        <a:t>paper_id</a:t>
                      </a:r>
                      <a:r>
                        <a:rPr lang="en-IN" sz="1600" dirty="0"/>
                        <a:t>}</a:t>
                      </a:r>
                    </a:p>
                  </a:txBody>
                  <a:tcPr/>
                </a:tc>
                <a:extLst>
                  <a:ext uri="{0D108BD9-81ED-4DB2-BD59-A6C34878D82A}">
                    <a16:rowId xmlns:a16="http://schemas.microsoft.com/office/drawing/2014/main" val="401728881"/>
                  </a:ext>
                </a:extLst>
              </a:tr>
              <a:tr h="235080">
                <a:tc gridSpan="3">
                  <a:txBody>
                    <a:bodyPr/>
                    <a:lstStyle/>
                    <a:p>
                      <a:pPr algn="l"/>
                      <a:r>
                        <a:rPr lang="en-IN" sz="1600" dirty="0"/>
                        <a:t>Some more APIs. Please check </a:t>
                      </a:r>
                      <a:r>
                        <a:rPr lang="en-IN" sz="1600" dirty="0">
                          <a:hlinkClick r:id="rId4"/>
                        </a:rPr>
                        <a:t>here</a:t>
                      </a:r>
                      <a:r>
                        <a:rPr lang="en-IN" sz="1600" dirty="0"/>
                        <a:t>.</a:t>
                      </a:r>
                    </a:p>
                  </a:txBody>
                  <a:tcPr/>
                </a:tc>
                <a:tc hMerge="1">
                  <a:txBody>
                    <a:bodyPr/>
                    <a:lstStyle/>
                    <a:p>
                      <a:endParaRPr lang="en-IN" sz="1600" dirty="0"/>
                    </a:p>
                  </a:txBody>
                  <a:tcPr/>
                </a:tc>
                <a:tc hMerge="1">
                  <a:txBody>
                    <a:bodyPr/>
                    <a:lstStyle/>
                    <a:p>
                      <a:endParaRPr lang="en-IN" sz="1600" dirty="0"/>
                    </a:p>
                  </a:txBody>
                  <a:tcPr/>
                </a:tc>
                <a:extLst>
                  <a:ext uri="{0D108BD9-81ED-4DB2-BD59-A6C34878D82A}">
                    <a16:rowId xmlns:a16="http://schemas.microsoft.com/office/drawing/2014/main" val="4024382372"/>
                  </a:ext>
                </a:extLst>
              </a:tr>
            </a:tbl>
          </a:graphicData>
        </a:graphic>
      </p:graphicFrame>
      <p:sp>
        <p:nvSpPr>
          <p:cNvPr id="7" name="TextBox 6">
            <a:extLst>
              <a:ext uri="{FF2B5EF4-FFF2-40B4-BE49-F238E27FC236}">
                <a16:creationId xmlns:a16="http://schemas.microsoft.com/office/drawing/2014/main" id="{F0A2E447-EF63-616D-DB57-A4DA082CDFDB}"/>
              </a:ext>
            </a:extLst>
          </p:cNvPr>
          <p:cNvSpPr txBox="1"/>
          <p:nvPr/>
        </p:nvSpPr>
        <p:spPr>
          <a:xfrm>
            <a:off x="190500" y="3869121"/>
            <a:ext cx="11811000" cy="1569660"/>
          </a:xfrm>
          <a:prstGeom prst="rect">
            <a:avLst/>
          </a:prstGeom>
          <a:noFill/>
        </p:spPr>
        <p:txBody>
          <a:bodyPr wrap="square" rtlCol="0">
            <a:spAutoFit/>
          </a:bodyPr>
          <a:lstStyle/>
          <a:p>
            <a:r>
              <a:rPr lang="en-IN" sz="1600" b="1" dirty="0"/>
              <a:t>API Usage</a:t>
            </a:r>
          </a:p>
          <a:p>
            <a:pPr marL="285750" indent="-285750">
              <a:buFont typeface="Arial" panose="020B0604020202020204" pitchFamily="34" charset="0"/>
              <a:buChar char="•"/>
            </a:pPr>
            <a:r>
              <a:rPr lang="en-IN" sz="1600" dirty="0"/>
              <a:t>Most Semantic Scholar endpoints are available to the public without authentication (means no API key is required), but they are limited to 1,000 requests per second shared across all unauthenticated users. At any particular moment, only first 1,000 unauthenticated requests would be served and others would be refused by the server.</a:t>
            </a:r>
          </a:p>
          <a:p>
            <a:pPr marL="285750" indent="-285750">
              <a:buFont typeface="Arial" panose="020B0604020202020204" pitchFamily="34" charset="0"/>
              <a:buChar char="•"/>
            </a:pPr>
            <a:r>
              <a:rPr lang="en-IN" sz="1600" dirty="0"/>
              <a:t>Thus, it is advised to acquire an API key which is free of cost but with a restriction of 1 request per second. All requests after the first request in a particular second of time would be refused by the server.</a:t>
            </a:r>
          </a:p>
        </p:txBody>
      </p:sp>
      <p:sp>
        <p:nvSpPr>
          <p:cNvPr id="8" name="TextBox 7">
            <a:extLst>
              <a:ext uri="{FF2B5EF4-FFF2-40B4-BE49-F238E27FC236}">
                <a16:creationId xmlns:a16="http://schemas.microsoft.com/office/drawing/2014/main" id="{141075FA-AAC1-8921-3F82-C1B11525CDCE}"/>
              </a:ext>
            </a:extLst>
          </p:cNvPr>
          <p:cNvSpPr txBox="1"/>
          <p:nvPr/>
        </p:nvSpPr>
        <p:spPr>
          <a:xfrm>
            <a:off x="190503" y="5438781"/>
            <a:ext cx="11810997" cy="584775"/>
          </a:xfrm>
          <a:prstGeom prst="rect">
            <a:avLst/>
          </a:prstGeom>
          <a:noFill/>
        </p:spPr>
        <p:txBody>
          <a:bodyPr wrap="square" rtlCol="0">
            <a:spAutoFit/>
          </a:bodyPr>
          <a:lstStyle/>
          <a:p>
            <a:r>
              <a:rPr lang="en-IN" sz="1600" b="1" dirty="0"/>
              <a:t>NOTE</a:t>
            </a:r>
          </a:p>
          <a:p>
            <a:pPr marL="800100" lvl="1" indent="-342900">
              <a:buFont typeface="+mj-lt"/>
              <a:buAutoNum type="arabicPeriod"/>
            </a:pPr>
            <a:r>
              <a:rPr lang="en-IN" sz="1600" dirty="0"/>
              <a:t>Since it is a POC, thus only API #1 is used</a:t>
            </a:r>
          </a:p>
        </p:txBody>
      </p:sp>
    </p:spTree>
    <p:extLst>
      <p:ext uri="{BB962C8B-B14F-4D97-AF65-F5344CB8AC3E}">
        <p14:creationId xmlns:p14="http://schemas.microsoft.com/office/powerpoint/2010/main" val="130856358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835D82-81AF-5EB1-4737-C6CFEBB16DFA}"/>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F5BE087-6BD4-0729-15AA-20787A37D02D}"/>
              </a:ext>
            </a:extLst>
          </p:cNvPr>
          <p:cNvSpPr txBox="1"/>
          <p:nvPr/>
        </p:nvSpPr>
        <p:spPr>
          <a:xfrm>
            <a:off x="190500" y="166254"/>
            <a:ext cx="11811000" cy="400110"/>
          </a:xfrm>
          <a:prstGeom prst="rect">
            <a:avLst/>
          </a:prstGeom>
          <a:noFill/>
        </p:spPr>
        <p:txBody>
          <a:bodyPr wrap="square" rtlCol="0">
            <a:spAutoFit/>
          </a:bodyPr>
          <a:lstStyle/>
          <a:p>
            <a:r>
              <a:rPr lang="en-IN" sz="2000" b="1" dirty="0"/>
              <a:t>Tools: Perplexity API</a:t>
            </a:r>
          </a:p>
        </p:txBody>
      </p:sp>
      <p:pic>
        <p:nvPicPr>
          <p:cNvPr id="6146" name="Picture 2" descr="Perplexity Ai Icon SVG Vector &amp; PNG Free Download | UXWing">
            <a:extLst>
              <a:ext uri="{FF2B5EF4-FFF2-40B4-BE49-F238E27FC236}">
                <a16:creationId xmlns:a16="http://schemas.microsoft.com/office/drawing/2014/main" id="{F414D761-D7FB-E7E5-E156-34FDFAF606D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041082" y="566364"/>
            <a:ext cx="1960418" cy="1960418"/>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2429FD8F-47E7-C0A6-A37E-700A7C5CAABF}"/>
              </a:ext>
            </a:extLst>
          </p:cNvPr>
          <p:cNvSpPr txBox="1"/>
          <p:nvPr/>
        </p:nvSpPr>
        <p:spPr>
          <a:xfrm>
            <a:off x="190500" y="884853"/>
            <a:ext cx="9850582" cy="1323439"/>
          </a:xfrm>
          <a:prstGeom prst="rect">
            <a:avLst/>
          </a:prstGeom>
          <a:noFill/>
        </p:spPr>
        <p:txBody>
          <a:bodyPr wrap="square" rtlCol="0">
            <a:spAutoFit/>
          </a:bodyPr>
          <a:lstStyle/>
          <a:p>
            <a:r>
              <a:rPr lang="en-IN" sz="1600" b="1" dirty="0"/>
              <a:t>Perplexity AI</a:t>
            </a:r>
          </a:p>
          <a:p>
            <a:pPr marL="285750" indent="-285750">
              <a:buFont typeface="Arial" panose="020B0604020202020204" pitchFamily="34" charset="0"/>
              <a:buChar char="•"/>
            </a:pPr>
            <a:r>
              <a:rPr lang="en-US" sz="1600" dirty="0"/>
              <a:t>Perplexity AI is an "answer engine" that provides clear, conversational answers to user queries by searching the web in real-time and summarizing the information it finds. </a:t>
            </a:r>
          </a:p>
          <a:p>
            <a:pPr marL="285750" indent="-285750">
              <a:buFont typeface="Arial" panose="020B0604020202020204" pitchFamily="34" charset="0"/>
              <a:buChar char="•"/>
            </a:pPr>
            <a:r>
              <a:rPr lang="en-US" sz="1600" dirty="0"/>
              <a:t>Unlike a traditional search engine that returns a list of links, Perplexity uses large language models (LLMs) to provide a synthesized response with clear, inline citations to the original sources.</a:t>
            </a:r>
            <a:endParaRPr lang="en-IN" sz="1600" dirty="0"/>
          </a:p>
        </p:txBody>
      </p:sp>
      <p:sp>
        <p:nvSpPr>
          <p:cNvPr id="4" name="TextBox 3">
            <a:extLst>
              <a:ext uri="{FF2B5EF4-FFF2-40B4-BE49-F238E27FC236}">
                <a16:creationId xmlns:a16="http://schemas.microsoft.com/office/drawing/2014/main" id="{C60E7F26-6A36-E20E-DBB1-DA8D39C12795}"/>
              </a:ext>
            </a:extLst>
          </p:cNvPr>
          <p:cNvSpPr txBox="1"/>
          <p:nvPr/>
        </p:nvSpPr>
        <p:spPr>
          <a:xfrm>
            <a:off x="190500" y="2526781"/>
            <a:ext cx="11811000" cy="1077218"/>
          </a:xfrm>
          <a:prstGeom prst="rect">
            <a:avLst/>
          </a:prstGeom>
          <a:noFill/>
        </p:spPr>
        <p:txBody>
          <a:bodyPr wrap="square" rtlCol="0">
            <a:spAutoFit/>
          </a:bodyPr>
          <a:lstStyle/>
          <a:p>
            <a:r>
              <a:rPr lang="en-IN" sz="1600" b="1" dirty="0"/>
              <a:t>API</a:t>
            </a:r>
          </a:p>
          <a:p>
            <a:pPr marL="285750" indent="-285750">
              <a:buFont typeface="Arial" panose="020B0604020202020204" pitchFamily="34" charset="0"/>
              <a:buChar char="•"/>
            </a:pPr>
            <a:r>
              <a:rPr lang="en-US" sz="1600" dirty="0"/>
              <a:t>Perplexity API lets user submit a search query and get results from all the Perplexity supported sources.</a:t>
            </a:r>
          </a:p>
          <a:p>
            <a:pPr marL="285750" indent="-285750">
              <a:buFont typeface="Arial" panose="020B0604020202020204" pitchFamily="34" charset="0"/>
              <a:buChar char="•"/>
            </a:pPr>
            <a:r>
              <a:rPr lang="en-US" sz="1600" dirty="0"/>
              <a:t>The API is paid, and the charges depend on the number tokens and model used. Following are the per token pricing of different Perplexity models along with their description [</a:t>
            </a:r>
            <a:r>
              <a:rPr lang="en-US" sz="1600" dirty="0">
                <a:hlinkClick r:id="rId3"/>
              </a:rPr>
              <a:t>Perplexity API Pricing</a:t>
            </a:r>
            <a:r>
              <a:rPr lang="en-US" sz="1600" dirty="0"/>
              <a:t>].</a:t>
            </a:r>
            <a:endParaRPr lang="en-IN" sz="1600" dirty="0"/>
          </a:p>
        </p:txBody>
      </p:sp>
      <p:graphicFrame>
        <p:nvGraphicFramePr>
          <p:cNvPr id="5" name="Table 4">
            <a:extLst>
              <a:ext uri="{FF2B5EF4-FFF2-40B4-BE49-F238E27FC236}">
                <a16:creationId xmlns:a16="http://schemas.microsoft.com/office/drawing/2014/main" id="{7B617ABB-7782-82EE-3269-A3855D9679F2}"/>
              </a:ext>
            </a:extLst>
          </p:cNvPr>
          <p:cNvGraphicFramePr>
            <a:graphicFrameLocks noGrp="1"/>
          </p:cNvGraphicFramePr>
          <p:nvPr>
            <p:extLst>
              <p:ext uri="{D42A27DB-BD31-4B8C-83A1-F6EECF244321}">
                <p14:modId xmlns:p14="http://schemas.microsoft.com/office/powerpoint/2010/main" val="1009215434"/>
              </p:ext>
            </p:extLst>
          </p:nvPr>
        </p:nvGraphicFramePr>
        <p:xfrm>
          <a:off x="190500" y="3603999"/>
          <a:ext cx="11810997" cy="2255520"/>
        </p:xfrm>
        <a:graphic>
          <a:graphicData uri="http://schemas.openxmlformats.org/drawingml/2006/table">
            <a:tbl>
              <a:tblPr firstRow="1" bandRow="1">
                <a:tableStyleId>{073A0DAA-6AF3-43AB-8588-CEC1D06C72B9}</a:tableStyleId>
              </a:tblPr>
              <a:tblGrid>
                <a:gridCol w="391391">
                  <a:extLst>
                    <a:ext uri="{9D8B030D-6E8A-4147-A177-3AD203B41FA5}">
                      <a16:colId xmlns:a16="http://schemas.microsoft.com/office/drawing/2014/main" val="3126118330"/>
                    </a:ext>
                  </a:extLst>
                </a:gridCol>
                <a:gridCol w="2119745">
                  <a:extLst>
                    <a:ext uri="{9D8B030D-6E8A-4147-A177-3AD203B41FA5}">
                      <a16:colId xmlns:a16="http://schemas.microsoft.com/office/drawing/2014/main" val="3706969558"/>
                    </a:ext>
                  </a:extLst>
                </a:gridCol>
                <a:gridCol w="519546">
                  <a:extLst>
                    <a:ext uri="{9D8B030D-6E8A-4147-A177-3AD203B41FA5}">
                      <a16:colId xmlns:a16="http://schemas.microsoft.com/office/drawing/2014/main" val="1253817238"/>
                    </a:ext>
                  </a:extLst>
                </a:gridCol>
                <a:gridCol w="540327">
                  <a:extLst>
                    <a:ext uri="{9D8B030D-6E8A-4147-A177-3AD203B41FA5}">
                      <a16:colId xmlns:a16="http://schemas.microsoft.com/office/drawing/2014/main" val="35359504"/>
                    </a:ext>
                  </a:extLst>
                </a:gridCol>
                <a:gridCol w="976746">
                  <a:extLst>
                    <a:ext uri="{9D8B030D-6E8A-4147-A177-3AD203B41FA5}">
                      <a16:colId xmlns:a16="http://schemas.microsoft.com/office/drawing/2014/main" val="2427336983"/>
                    </a:ext>
                  </a:extLst>
                </a:gridCol>
                <a:gridCol w="966354">
                  <a:extLst>
                    <a:ext uri="{9D8B030D-6E8A-4147-A177-3AD203B41FA5}">
                      <a16:colId xmlns:a16="http://schemas.microsoft.com/office/drawing/2014/main" val="1129739526"/>
                    </a:ext>
                  </a:extLst>
                </a:gridCol>
                <a:gridCol w="1226127">
                  <a:extLst>
                    <a:ext uri="{9D8B030D-6E8A-4147-A177-3AD203B41FA5}">
                      <a16:colId xmlns:a16="http://schemas.microsoft.com/office/drawing/2014/main" val="3863612712"/>
                    </a:ext>
                  </a:extLst>
                </a:gridCol>
                <a:gridCol w="5070761">
                  <a:extLst>
                    <a:ext uri="{9D8B030D-6E8A-4147-A177-3AD203B41FA5}">
                      <a16:colId xmlns:a16="http://schemas.microsoft.com/office/drawing/2014/main" val="3700313419"/>
                    </a:ext>
                  </a:extLst>
                </a:gridCol>
              </a:tblGrid>
              <a:tr h="179536">
                <a:tc>
                  <a:txBody>
                    <a:bodyPr/>
                    <a:lstStyle/>
                    <a:p>
                      <a:pPr algn="ctr"/>
                      <a:r>
                        <a:rPr lang="en-IN" sz="1600" dirty="0"/>
                        <a:t>#</a:t>
                      </a:r>
                    </a:p>
                  </a:txBody>
                  <a:tcPr anchor="ctr"/>
                </a:tc>
                <a:tc>
                  <a:txBody>
                    <a:bodyPr/>
                    <a:lstStyle/>
                    <a:p>
                      <a:pPr algn="ctr"/>
                      <a:r>
                        <a:rPr lang="en-IN" sz="1600" dirty="0"/>
                        <a:t>Model</a:t>
                      </a:r>
                    </a:p>
                  </a:txBody>
                  <a:tcPr anchor="ctr"/>
                </a:tc>
                <a:tc>
                  <a:txBody>
                    <a:bodyPr/>
                    <a:lstStyle/>
                    <a:p>
                      <a:pPr algn="ctr"/>
                      <a:r>
                        <a:rPr lang="en-IN" sz="1600" dirty="0"/>
                        <a:t>I/P</a:t>
                      </a:r>
                    </a:p>
                  </a:txBody>
                  <a:tcPr anchor="ctr"/>
                </a:tc>
                <a:tc>
                  <a:txBody>
                    <a:bodyPr/>
                    <a:lstStyle/>
                    <a:p>
                      <a:pPr algn="ctr"/>
                      <a:r>
                        <a:rPr lang="en-IN" sz="1600" dirty="0"/>
                        <a:t>O/P</a:t>
                      </a:r>
                    </a:p>
                  </a:txBody>
                  <a:tcPr anchor="ctr"/>
                </a:tc>
                <a:tc>
                  <a:txBody>
                    <a:bodyPr/>
                    <a:lstStyle/>
                    <a:p>
                      <a:pPr algn="ctr"/>
                      <a:r>
                        <a:rPr lang="en-IN" sz="1600" dirty="0"/>
                        <a:t>Citation</a:t>
                      </a:r>
                    </a:p>
                  </a:txBody>
                  <a:tcPr anchor="ctr"/>
                </a:tc>
                <a:tc>
                  <a:txBody>
                    <a:bodyPr/>
                    <a:lstStyle/>
                    <a:p>
                      <a:pPr algn="ctr"/>
                      <a:r>
                        <a:rPr lang="en-IN" sz="1600" dirty="0"/>
                        <a:t>Search Queries</a:t>
                      </a:r>
                    </a:p>
                  </a:txBody>
                  <a:tcPr/>
                </a:tc>
                <a:tc>
                  <a:txBody>
                    <a:bodyPr/>
                    <a:lstStyle/>
                    <a:p>
                      <a:pPr algn="ctr"/>
                      <a:r>
                        <a:rPr lang="en-IN" sz="1600" dirty="0"/>
                        <a:t>Reasoning Tokens</a:t>
                      </a:r>
                    </a:p>
                  </a:txBody>
                  <a:tcPr/>
                </a:tc>
                <a:tc>
                  <a:txBody>
                    <a:bodyPr/>
                    <a:lstStyle/>
                    <a:p>
                      <a:pPr algn="ctr"/>
                      <a:r>
                        <a:rPr lang="en-IN" sz="1600" dirty="0"/>
                        <a:t>Best For</a:t>
                      </a:r>
                    </a:p>
                  </a:txBody>
                  <a:tcPr anchor="ctr"/>
                </a:tc>
                <a:extLst>
                  <a:ext uri="{0D108BD9-81ED-4DB2-BD59-A6C34878D82A}">
                    <a16:rowId xmlns:a16="http://schemas.microsoft.com/office/drawing/2014/main" val="655921306"/>
                  </a:ext>
                </a:extLst>
              </a:tr>
              <a:tr h="179536">
                <a:tc>
                  <a:txBody>
                    <a:bodyPr/>
                    <a:lstStyle/>
                    <a:p>
                      <a:pPr algn="ctr"/>
                      <a:r>
                        <a:rPr lang="en-IN" sz="1600" dirty="0"/>
                        <a:t>1</a:t>
                      </a:r>
                    </a:p>
                  </a:txBody>
                  <a:tcPr/>
                </a:tc>
                <a:tc>
                  <a:txBody>
                    <a:bodyPr/>
                    <a:lstStyle/>
                    <a:p>
                      <a:r>
                        <a:rPr lang="en-IN" sz="1600" dirty="0"/>
                        <a:t>Sonar</a:t>
                      </a:r>
                    </a:p>
                  </a:txBody>
                  <a:tcPr/>
                </a:tc>
                <a:tc>
                  <a:txBody>
                    <a:bodyPr/>
                    <a:lstStyle/>
                    <a:p>
                      <a:pPr algn="ctr"/>
                      <a:r>
                        <a:rPr lang="en-IN" sz="1600" dirty="0"/>
                        <a:t>1</a:t>
                      </a:r>
                    </a:p>
                  </a:txBody>
                  <a:tcPr/>
                </a:tc>
                <a:tc>
                  <a:txBody>
                    <a:bodyPr/>
                    <a:lstStyle/>
                    <a:p>
                      <a:pPr algn="ctr"/>
                      <a:r>
                        <a:rPr lang="en-IN" sz="1600" dirty="0"/>
                        <a:t>1</a:t>
                      </a:r>
                    </a:p>
                  </a:txBody>
                  <a:tcPr/>
                </a:tc>
                <a:tc>
                  <a:txBody>
                    <a:bodyPr/>
                    <a:lstStyle/>
                    <a:p>
                      <a:pPr algn="ctr"/>
                      <a:r>
                        <a:rPr lang="en-IN" sz="1600" dirty="0"/>
                        <a:t>-</a:t>
                      </a:r>
                    </a:p>
                  </a:txBody>
                  <a:tcPr/>
                </a:tc>
                <a:tc>
                  <a:txBody>
                    <a:bodyPr/>
                    <a:lstStyle/>
                    <a:p>
                      <a:pPr algn="ctr"/>
                      <a:r>
                        <a:rPr lang="en-IN" sz="1600" dirty="0"/>
                        <a:t>-</a:t>
                      </a:r>
                    </a:p>
                  </a:txBody>
                  <a:tcPr/>
                </a:tc>
                <a:tc>
                  <a:txBody>
                    <a:bodyPr/>
                    <a:lstStyle/>
                    <a:p>
                      <a:pPr algn="ctr"/>
                      <a:r>
                        <a:rPr lang="en-IN" sz="1600" dirty="0"/>
                        <a:t>-</a:t>
                      </a:r>
                    </a:p>
                  </a:txBody>
                  <a:tcPr/>
                </a:tc>
                <a:tc>
                  <a:txBody>
                    <a:bodyPr/>
                    <a:lstStyle/>
                    <a:p>
                      <a:r>
                        <a:rPr lang="en-US" sz="1600" dirty="0"/>
                        <a:t>Quick facts, news updates, simple Q&amp;A</a:t>
                      </a:r>
                      <a:endParaRPr lang="en-IN" sz="1600" dirty="0"/>
                    </a:p>
                  </a:txBody>
                  <a:tcPr/>
                </a:tc>
                <a:extLst>
                  <a:ext uri="{0D108BD9-81ED-4DB2-BD59-A6C34878D82A}">
                    <a16:rowId xmlns:a16="http://schemas.microsoft.com/office/drawing/2014/main" val="3241919724"/>
                  </a:ext>
                </a:extLst>
              </a:tr>
              <a:tr h="179536">
                <a:tc>
                  <a:txBody>
                    <a:bodyPr/>
                    <a:lstStyle/>
                    <a:p>
                      <a:pPr algn="ctr"/>
                      <a:r>
                        <a:rPr lang="en-IN" sz="1600" dirty="0"/>
                        <a:t>2</a:t>
                      </a:r>
                    </a:p>
                  </a:txBody>
                  <a:tcPr/>
                </a:tc>
                <a:tc>
                  <a:txBody>
                    <a:bodyPr/>
                    <a:lstStyle/>
                    <a:p>
                      <a:r>
                        <a:rPr lang="en-IN" sz="1600" dirty="0"/>
                        <a:t>Sonar Pro</a:t>
                      </a:r>
                    </a:p>
                  </a:txBody>
                  <a:tcPr/>
                </a:tc>
                <a:tc>
                  <a:txBody>
                    <a:bodyPr/>
                    <a:lstStyle/>
                    <a:p>
                      <a:pPr algn="ctr"/>
                      <a:r>
                        <a:rPr lang="en-IN" sz="1600" dirty="0"/>
                        <a:t>3</a:t>
                      </a:r>
                    </a:p>
                  </a:txBody>
                  <a:tcPr/>
                </a:tc>
                <a:tc>
                  <a:txBody>
                    <a:bodyPr/>
                    <a:lstStyle/>
                    <a:p>
                      <a:pPr algn="ctr"/>
                      <a:r>
                        <a:rPr lang="en-IN" sz="1600" dirty="0"/>
                        <a:t>15</a:t>
                      </a:r>
                    </a:p>
                  </a:txBody>
                  <a:tcPr/>
                </a:tc>
                <a:tc>
                  <a:txBody>
                    <a:bodyPr/>
                    <a:lstStyle/>
                    <a:p>
                      <a:pPr algn="ctr"/>
                      <a:r>
                        <a:rPr lang="en-IN" sz="1600" dirty="0"/>
                        <a:t>-</a:t>
                      </a:r>
                    </a:p>
                  </a:txBody>
                  <a:tcPr/>
                </a:tc>
                <a:tc>
                  <a:txBody>
                    <a:bodyPr/>
                    <a:lstStyle/>
                    <a:p>
                      <a:pPr algn="ctr"/>
                      <a:r>
                        <a:rPr lang="en-IN" sz="1600" dirty="0"/>
                        <a:t>-</a:t>
                      </a:r>
                    </a:p>
                  </a:txBody>
                  <a:tcPr/>
                </a:tc>
                <a:tc>
                  <a:txBody>
                    <a:bodyPr/>
                    <a:lstStyle/>
                    <a:p>
                      <a:pPr algn="ctr"/>
                      <a:r>
                        <a:rPr lang="en-IN" sz="1600" dirty="0"/>
                        <a:t>-</a:t>
                      </a:r>
                    </a:p>
                  </a:txBody>
                  <a:tcPr/>
                </a:tc>
                <a:tc>
                  <a:txBody>
                    <a:bodyPr/>
                    <a:lstStyle/>
                    <a:p>
                      <a:r>
                        <a:rPr lang="en-US" sz="1600" dirty="0"/>
                        <a:t>Complex queries, competitive analysis, deep research</a:t>
                      </a:r>
                      <a:endParaRPr lang="en-IN" sz="1600" dirty="0"/>
                    </a:p>
                  </a:txBody>
                  <a:tcPr/>
                </a:tc>
                <a:extLst>
                  <a:ext uri="{0D108BD9-81ED-4DB2-BD59-A6C34878D82A}">
                    <a16:rowId xmlns:a16="http://schemas.microsoft.com/office/drawing/2014/main" val="1434497072"/>
                  </a:ext>
                </a:extLst>
              </a:tr>
              <a:tr h="179536">
                <a:tc>
                  <a:txBody>
                    <a:bodyPr/>
                    <a:lstStyle/>
                    <a:p>
                      <a:pPr algn="ctr"/>
                      <a:r>
                        <a:rPr lang="en-IN" sz="1600" dirty="0"/>
                        <a:t>3</a:t>
                      </a:r>
                    </a:p>
                  </a:txBody>
                  <a:tcPr/>
                </a:tc>
                <a:tc>
                  <a:txBody>
                    <a:bodyPr/>
                    <a:lstStyle/>
                    <a:p>
                      <a:r>
                        <a:rPr lang="en-IN" sz="1600" dirty="0"/>
                        <a:t>Sonar Reasoning</a:t>
                      </a:r>
                    </a:p>
                  </a:txBody>
                  <a:tcPr/>
                </a:tc>
                <a:tc>
                  <a:txBody>
                    <a:bodyPr/>
                    <a:lstStyle/>
                    <a:p>
                      <a:pPr algn="ctr"/>
                      <a:r>
                        <a:rPr lang="en-IN" sz="1600" dirty="0"/>
                        <a:t>1</a:t>
                      </a:r>
                    </a:p>
                  </a:txBody>
                  <a:tcPr/>
                </a:tc>
                <a:tc>
                  <a:txBody>
                    <a:bodyPr/>
                    <a:lstStyle/>
                    <a:p>
                      <a:pPr algn="ctr"/>
                      <a:r>
                        <a:rPr lang="en-IN" sz="1600" dirty="0"/>
                        <a:t>5</a:t>
                      </a:r>
                    </a:p>
                  </a:txBody>
                  <a:tcPr/>
                </a:tc>
                <a:tc>
                  <a:txBody>
                    <a:bodyPr/>
                    <a:lstStyle/>
                    <a:p>
                      <a:pPr algn="ctr"/>
                      <a:r>
                        <a:rPr lang="en-IN" sz="1600" dirty="0"/>
                        <a:t>-</a:t>
                      </a:r>
                    </a:p>
                  </a:txBody>
                  <a:tcPr/>
                </a:tc>
                <a:tc>
                  <a:txBody>
                    <a:bodyPr/>
                    <a:lstStyle/>
                    <a:p>
                      <a:pPr algn="ctr"/>
                      <a:r>
                        <a:rPr lang="en-IN" sz="1600" dirty="0"/>
                        <a:t>-</a:t>
                      </a:r>
                    </a:p>
                  </a:txBody>
                  <a:tcPr/>
                </a:tc>
                <a:tc>
                  <a:txBody>
                    <a:bodyPr/>
                    <a:lstStyle/>
                    <a:p>
                      <a:pPr algn="ctr"/>
                      <a:r>
                        <a:rPr lang="en-IN" sz="1600" dirty="0"/>
                        <a:t>-</a:t>
                      </a:r>
                    </a:p>
                  </a:txBody>
                  <a:tcPr/>
                </a:tc>
                <a:tc>
                  <a:txBody>
                    <a:bodyPr/>
                    <a:lstStyle/>
                    <a:p>
                      <a:r>
                        <a:rPr lang="en-US" sz="1600" dirty="0"/>
                        <a:t>Logic puzzles, math problems, transparent reasoning</a:t>
                      </a:r>
                      <a:endParaRPr lang="en-IN" sz="1600" dirty="0"/>
                    </a:p>
                  </a:txBody>
                  <a:tcPr/>
                </a:tc>
                <a:extLst>
                  <a:ext uri="{0D108BD9-81ED-4DB2-BD59-A6C34878D82A}">
                    <a16:rowId xmlns:a16="http://schemas.microsoft.com/office/drawing/2014/main" val="498907361"/>
                  </a:ext>
                </a:extLst>
              </a:tr>
              <a:tr h="179536">
                <a:tc>
                  <a:txBody>
                    <a:bodyPr/>
                    <a:lstStyle/>
                    <a:p>
                      <a:pPr algn="ctr"/>
                      <a:r>
                        <a:rPr lang="en-IN" sz="1600" dirty="0"/>
                        <a:t>4</a:t>
                      </a:r>
                    </a:p>
                  </a:txBody>
                  <a:tcPr/>
                </a:tc>
                <a:tc>
                  <a:txBody>
                    <a:bodyPr/>
                    <a:lstStyle/>
                    <a:p>
                      <a:r>
                        <a:rPr lang="en-IN" sz="1600" dirty="0"/>
                        <a:t>Sonar Reasoning Pro</a:t>
                      </a:r>
                    </a:p>
                  </a:txBody>
                  <a:tcPr/>
                </a:tc>
                <a:tc>
                  <a:txBody>
                    <a:bodyPr/>
                    <a:lstStyle/>
                    <a:p>
                      <a:pPr algn="ctr"/>
                      <a:r>
                        <a:rPr lang="en-IN" sz="1600" dirty="0"/>
                        <a:t>2</a:t>
                      </a:r>
                    </a:p>
                  </a:txBody>
                  <a:tcPr/>
                </a:tc>
                <a:tc>
                  <a:txBody>
                    <a:bodyPr/>
                    <a:lstStyle/>
                    <a:p>
                      <a:pPr algn="ctr"/>
                      <a:r>
                        <a:rPr lang="en-IN" sz="1600" dirty="0"/>
                        <a:t>8</a:t>
                      </a:r>
                    </a:p>
                  </a:txBody>
                  <a:tcPr/>
                </a:tc>
                <a:tc>
                  <a:txBody>
                    <a:bodyPr/>
                    <a:lstStyle/>
                    <a:p>
                      <a:pPr algn="ctr"/>
                      <a:r>
                        <a:rPr lang="en-IN" sz="1600" dirty="0"/>
                        <a:t>-</a:t>
                      </a:r>
                    </a:p>
                  </a:txBody>
                  <a:tcPr/>
                </a:tc>
                <a:tc>
                  <a:txBody>
                    <a:bodyPr/>
                    <a:lstStyle/>
                    <a:p>
                      <a:pPr algn="ctr"/>
                      <a:r>
                        <a:rPr lang="en-IN" sz="1600" dirty="0"/>
                        <a:t>-</a:t>
                      </a:r>
                    </a:p>
                  </a:txBody>
                  <a:tcPr/>
                </a:tc>
                <a:tc>
                  <a:txBody>
                    <a:bodyPr/>
                    <a:lstStyle/>
                    <a:p>
                      <a:pPr algn="ctr"/>
                      <a:r>
                        <a:rPr lang="en-IN" sz="1600" dirty="0"/>
                        <a:t>-</a:t>
                      </a:r>
                    </a:p>
                  </a:txBody>
                  <a:tcPr/>
                </a:tc>
                <a:tc>
                  <a:txBody>
                    <a:bodyPr/>
                    <a:lstStyle/>
                    <a:p>
                      <a:r>
                        <a:rPr lang="en-US" sz="1600" dirty="0"/>
                        <a:t>Complex problem-solving, research analysis, planning</a:t>
                      </a:r>
                      <a:endParaRPr lang="en-IN" sz="1600" dirty="0"/>
                    </a:p>
                  </a:txBody>
                  <a:tcPr/>
                </a:tc>
                <a:extLst>
                  <a:ext uri="{0D108BD9-81ED-4DB2-BD59-A6C34878D82A}">
                    <a16:rowId xmlns:a16="http://schemas.microsoft.com/office/drawing/2014/main" val="197506361"/>
                  </a:ext>
                </a:extLst>
              </a:tr>
              <a:tr h="179536">
                <a:tc>
                  <a:txBody>
                    <a:bodyPr/>
                    <a:lstStyle/>
                    <a:p>
                      <a:pPr algn="ctr"/>
                      <a:r>
                        <a:rPr lang="en-IN" sz="1600" dirty="0"/>
                        <a:t>5</a:t>
                      </a:r>
                    </a:p>
                  </a:txBody>
                  <a:tcPr/>
                </a:tc>
                <a:tc>
                  <a:txBody>
                    <a:bodyPr/>
                    <a:lstStyle/>
                    <a:p>
                      <a:r>
                        <a:rPr lang="en-IN" sz="1600" dirty="0"/>
                        <a:t>Sonar Deep Research</a:t>
                      </a:r>
                    </a:p>
                  </a:txBody>
                  <a:tcPr/>
                </a:tc>
                <a:tc>
                  <a:txBody>
                    <a:bodyPr/>
                    <a:lstStyle/>
                    <a:p>
                      <a:pPr algn="ctr"/>
                      <a:r>
                        <a:rPr lang="en-IN" sz="1600" dirty="0"/>
                        <a:t>2</a:t>
                      </a:r>
                    </a:p>
                  </a:txBody>
                  <a:tcPr/>
                </a:tc>
                <a:tc>
                  <a:txBody>
                    <a:bodyPr/>
                    <a:lstStyle/>
                    <a:p>
                      <a:pPr algn="ctr"/>
                      <a:r>
                        <a:rPr lang="en-IN" sz="1600" dirty="0"/>
                        <a:t>8</a:t>
                      </a:r>
                    </a:p>
                  </a:txBody>
                  <a:tcPr/>
                </a:tc>
                <a:tc>
                  <a:txBody>
                    <a:bodyPr/>
                    <a:lstStyle/>
                    <a:p>
                      <a:pPr algn="ctr"/>
                      <a:r>
                        <a:rPr lang="en-IN" sz="1600" dirty="0"/>
                        <a:t>2</a:t>
                      </a:r>
                    </a:p>
                  </a:txBody>
                  <a:tcPr/>
                </a:tc>
                <a:tc>
                  <a:txBody>
                    <a:bodyPr/>
                    <a:lstStyle/>
                    <a:p>
                      <a:pPr algn="ctr"/>
                      <a:r>
                        <a:rPr lang="en-IN" sz="1600" dirty="0"/>
                        <a:t>5</a:t>
                      </a:r>
                    </a:p>
                  </a:txBody>
                  <a:tcPr/>
                </a:tc>
                <a:tc>
                  <a:txBody>
                    <a:bodyPr/>
                    <a:lstStyle/>
                    <a:p>
                      <a:pPr algn="ctr"/>
                      <a:r>
                        <a:rPr lang="en-IN" sz="1600" dirty="0"/>
                        <a:t>3</a:t>
                      </a:r>
                    </a:p>
                  </a:txBody>
                  <a:tcPr/>
                </a:tc>
                <a:tc>
                  <a:txBody>
                    <a:bodyPr/>
                    <a:lstStyle/>
                    <a:p>
                      <a:r>
                        <a:rPr lang="en-US" sz="1600" dirty="0"/>
                        <a:t>Academic research, market analysis &amp; reports</a:t>
                      </a:r>
                      <a:endParaRPr lang="en-IN" sz="1600" dirty="0"/>
                    </a:p>
                  </a:txBody>
                  <a:tcPr/>
                </a:tc>
                <a:extLst>
                  <a:ext uri="{0D108BD9-81ED-4DB2-BD59-A6C34878D82A}">
                    <a16:rowId xmlns:a16="http://schemas.microsoft.com/office/drawing/2014/main" val="3008304071"/>
                  </a:ext>
                </a:extLst>
              </a:tr>
            </a:tbl>
          </a:graphicData>
        </a:graphic>
      </p:graphicFrame>
      <p:sp>
        <p:nvSpPr>
          <p:cNvPr id="6" name="TextBox 5">
            <a:extLst>
              <a:ext uri="{FF2B5EF4-FFF2-40B4-BE49-F238E27FC236}">
                <a16:creationId xmlns:a16="http://schemas.microsoft.com/office/drawing/2014/main" id="{8C757C7E-40B4-7D79-37F3-CCAB1CA2519C}"/>
              </a:ext>
            </a:extLst>
          </p:cNvPr>
          <p:cNvSpPr txBox="1"/>
          <p:nvPr/>
        </p:nvSpPr>
        <p:spPr>
          <a:xfrm>
            <a:off x="190500" y="5870862"/>
            <a:ext cx="11810997" cy="830997"/>
          </a:xfrm>
          <a:prstGeom prst="rect">
            <a:avLst/>
          </a:prstGeom>
          <a:noFill/>
        </p:spPr>
        <p:txBody>
          <a:bodyPr wrap="square" rtlCol="0">
            <a:spAutoFit/>
          </a:bodyPr>
          <a:lstStyle/>
          <a:p>
            <a:r>
              <a:rPr lang="en-IN" sz="1600" b="1" dirty="0"/>
              <a:t>NOTE</a:t>
            </a:r>
          </a:p>
          <a:p>
            <a:pPr marL="800100" lvl="1" indent="-342900">
              <a:buFont typeface="+mj-lt"/>
              <a:buAutoNum type="arabicPeriod"/>
            </a:pPr>
            <a:r>
              <a:rPr lang="en-IN" sz="1600" dirty="0"/>
              <a:t>Above prices are in US Dollars per million tokens</a:t>
            </a:r>
          </a:p>
          <a:p>
            <a:pPr marL="800100" lvl="1" indent="-342900">
              <a:buFont typeface="+mj-lt"/>
              <a:buAutoNum type="arabicPeriod"/>
            </a:pPr>
            <a:r>
              <a:rPr lang="en-IN" sz="1600" dirty="0"/>
              <a:t>Since it is a POC, thus only Sonar is used</a:t>
            </a:r>
          </a:p>
        </p:txBody>
      </p:sp>
    </p:spTree>
    <p:extLst>
      <p:ext uri="{BB962C8B-B14F-4D97-AF65-F5344CB8AC3E}">
        <p14:creationId xmlns:p14="http://schemas.microsoft.com/office/powerpoint/2010/main" val="210976955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81E04C-2A07-A524-B2F0-EBB188F616A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6F044555-0521-AFF6-618F-0EA129474A0B}"/>
              </a:ext>
            </a:extLst>
          </p:cNvPr>
          <p:cNvSpPr txBox="1"/>
          <p:nvPr/>
        </p:nvSpPr>
        <p:spPr>
          <a:xfrm>
            <a:off x="190500" y="166254"/>
            <a:ext cx="11811000" cy="400110"/>
          </a:xfrm>
          <a:prstGeom prst="rect">
            <a:avLst/>
          </a:prstGeom>
          <a:noFill/>
        </p:spPr>
        <p:txBody>
          <a:bodyPr wrap="square" rtlCol="0">
            <a:spAutoFit/>
          </a:bodyPr>
          <a:lstStyle/>
          <a:p>
            <a:r>
              <a:rPr lang="en-IN" sz="2000" b="1" dirty="0"/>
              <a:t>Large Language Model (LLM)</a:t>
            </a:r>
          </a:p>
        </p:txBody>
      </p:sp>
      <p:pic>
        <p:nvPicPr>
          <p:cNvPr id="1026" name="Picture 2" descr="ChatGPT Logo PNG Images With Transparent Background">
            <a:extLst>
              <a:ext uri="{FF2B5EF4-FFF2-40B4-BE49-F238E27FC236}">
                <a16:creationId xmlns:a16="http://schemas.microsoft.com/office/drawing/2014/main" id="{43D7BD52-5730-74D8-EDEF-DF29A768AAF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387445" y="566364"/>
            <a:ext cx="1614055" cy="1614055"/>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C0045C30-09B0-6C28-7FF1-85012D157060}"/>
              </a:ext>
            </a:extLst>
          </p:cNvPr>
          <p:cNvSpPr txBox="1"/>
          <p:nvPr/>
        </p:nvSpPr>
        <p:spPr>
          <a:xfrm>
            <a:off x="190500" y="957892"/>
            <a:ext cx="10196945" cy="830997"/>
          </a:xfrm>
          <a:prstGeom prst="rect">
            <a:avLst/>
          </a:prstGeom>
          <a:noFill/>
        </p:spPr>
        <p:txBody>
          <a:bodyPr wrap="square" rtlCol="0">
            <a:spAutoFit/>
          </a:bodyPr>
          <a:lstStyle/>
          <a:p>
            <a:pPr marL="285750" indent="-285750">
              <a:buFont typeface="Arial" panose="020B0604020202020204" pitchFamily="34" charset="0"/>
              <a:buChar char="•"/>
            </a:pPr>
            <a:r>
              <a:rPr lang="en-IN" sz="1600" dirty="0"/>
              <a:t>OpenAI LLM is used in this project.</a:t>
            </a:r>
          </a:p>
          <a:p>
            <a:pPr marL="285750" indent="-285750">
              <a:buFont typeface="Arial" panose="020B0604020202020204" pitchFamily="34" charset="0"/>
              <a:buChar char="•"/>
            </a:pPr>
            <a:r>
              <a:rPr lang="en-IN" sz="1600" dirty="0"/>
              <a:t>The pricing of OpenAI API depends on the number input / output tokens and the model used.</a:t>
            </a:r>
          </a:p>
          <a:p>
            <a:pPr marL="285750" indent="-285750">
              <a:buFont typeface="Arial" panose="020B0604020202020204" pitchFamily="34" charset="0"/>
              <a:buChar char="•"/>
            </a:pPr>
            <a:r>
              <a:rPr lang="en-IN" sz="1600" dirty="0"/>
              <a:t>Below are the </a:t>
            </a:r>
            <a:r>
              <a:rPr lang="en-IN" sz="1600" dirty="0">
                <a:hlinkClick r:id="rId3"/>
              </a:rPr>
              <a:t>pricing details</a:t>
            </a:r>
            <a:r>
              <a:rPr lang="en-IN" sz="1600" dirty="0"/>
              <a:t> OpenAI API.</a:t>
            </a:r>
          </a:p>
        </p:txBody>
      </p:sp>
      <p:graphicFrame>
        <p:nvGraphicFramePr>
          <p:cNvPr id="4" name="Table 3">
            <a:extLst>
              <a:ext uri="{FF2B5EF4-FFF2-40B4-BE49-F238E27FC236}">
                <a16:creationId xmlns:a16="http://schemas.microsoft.com/office/drawing/2014/main" id="{9A06DE22-B9D8-4B35-71B7-4C7DDB70AD53}"/>
              </a:ext>
            </a:extLst>
          </p:cNvPr>
          <p:cNvGraphicFramePr>
            <a:graphicFrameLocks noGrp="1"/>
          </p:cNvGraphicFramePr>
          <p:nvPr>
            <p:extLst>
              <p:ext uri="{D42A27DB-BD31-4B8C-83A1-F6EECF244321}">
                <p14:modId xmlns:p14="http://schemas.microsoft.com/office/powerpoint/2010/main" val="81221967"/>
              </p:ext>
            </p:extLst>
          </p:nvPr>
        </p:nvGraphicFramePr>
        <p:xfrm>
          <a:off x="190499" y="2413384"/>
          <a:ext cx="11811000" cy="1584960"/>
        </p:xfrm>
        <a:graphic>
          <a:graphicData uri="http://schemas.openxmlformats.org/drawingml/2006/table">
            <a:tbl>
              <a:tblPr firstRow="1" bandRow="1">
                <a:tableStyleId>{073A0DAA-6AF3-43AB-8588-CEC1D06C72B9}</a:tableStyleId>
              </a:tblPr>
              <a:tblGrid>
                <a:gridCol w="588819">
                  <a:extLst>
                    <a:ext uri="{9D8B030D-6E8A-4147-A177-3AD203B41FA5}">
                      <a16:colId xmlns:a16="http://schemas.microsoft.com/office/drawing/2014/main" val="3526513268"/>
                    </a:ext>
                  </a:extLst>
                </a:gridCol>
                <a:gridCol w="1423555">
                  <a:extLst>
                    <a:ext uri="{9D8B030D-6E8A-4147-A177-3AD203B41FA5}">
                      <a16:colId xmlns:a16="http://schemas.microsoft.com/office/drawing/2014/main" val="486555153"/>
                    </a:ext>
                  </a:extLst>
                </a:gridCol>
                <a:gridCol w="1080654">
                  <a:extLst>
                    <a:ext uri="{9D8B030D-6E8A-4147-A177-3AD203B41FA5}">
                      <a16:colId xmlns:a16="http://schemas.microsoft.com/office/drawing/2014/main" val="4098910979"/>
                    </a:ext>
                  </a:extLst>
                </a:gridCol>
                <a:gridCol w="1579418">
                  <a:extLst>
                    <a:ext uri="{9D8B030D-6E8A-4147-A177-3AD203B41FA5}">
                      <a16:colId xmlns:a16="http://schemas.microsoft.com/office/drawing/2014/main" val="2365097283"/>
                    </a:ext>
                  </a:extLst>
                </a:gridCol>
                <a:gridCol w="1153391">
                  <a:extLst>
                    <a:ext uri="{9D8B030D-6E8A-4147-A177-3AD203B41FA5}">
                      <a16:colId xmlns:a16="http://schemas.microsoft.com/office/drawing/2014/main" val="2315594704"/>
                    </a:ext>
                  </a:extLst>
                </a:gridCol>
                <a:gridCol w="5985163">
                  <a:extLst>
                    <a:ext uri="{9D8B030D-6E8A-4147-A177-3AD203B41FA5}">
                      <a16:colId xmlns:a16="http://schemas.microsoft.com/office/drawing/2014/main" val="1591502838"/>
                    </a:ext>
                  </a:extLst>
                </a:gridCol>
              </a:tblGrid>
              <a:tr h="276999">
                <a:tc>
                  <a:txBody>
                    <a:bodyPr/>
                    <a:lstStyle/>
                    <a:p>
                      <a:pPr algn="ctr"/>
                      <a:r>
                        <a:rPr lang="en-IN" sz="1600" dirty="0"/>
                        <a:t>#</a:t>
                      </a:r>
                    </a:p>
                  </a:txBody>
                  <a:tcPr anchor="ctr"/>
                </a:tc>
                <a:tc>
                  <a:txBody>
                    <a:bodyPr/>
                    <a:lstStyle/>
                    <a:p>
                      <a:pPr algn="ctr"/>
                      <a:r>
                        <a:rPr lang="en-IN" sz="1600" dirty="0"/>
                        <a:t>Model Name</a:t>
                      </a:r>
                    </a:p>
                  </a:txBody>
                  <a:tcPr anchor="ctr"/>
                </a:tc>
                <a:tc>
                  <a:txBody>
                    <a:bodyPr/>
                    <a:lstStyle/>
                    <a:p>
                      <a:pPr algn="ctr"/>
                      <a:r>
                        <a:rPr lang="en-IN" sz="1600" dirty="0"/>
                        <a:t>I/P Token</a:t>
                      </a:r>
                    </a:p>
                  </a:txBody>
                  <a:tcPr anchor="ctr"/>
                </a:tc>
                <a:tc>
                  <a:txBody>
                    <a:bodyPr/>
                    <a:lstStyle/>
                    <a:p>
                      <a:pPr algn="ctr"/>
                      <a:r>
                        <a:rPr lang="en-IN" sz="1600" dirty="0"/>
                        <a:t>Cached Token</a:t>
                      </a:r>
                    </a:p>
                  </a:txBody>
                  <a:tcPr anchor="ctr"/>
                </a:tc>
                <a:tc>
                  <a:txBody>
                    <a:bodyPr/>
                    <a:lstStyle/>
                    <a:p>
                      <a:pPr algn="ctr"/>
                      <a:r>
                        <a:rPr lang="en-IN" sz="1600" dirty="0"/>
                        <a:t>O/P Token</a:t>
                      </a:r>
                    </a:p>
                  </a:txBody>
                  <a:tcPr anchor="ctr"/>
                </a:tc>
                <a:tc>
                  <a:txBody>
                    <a:bodyPr/>
                    <a:lstStyle/>
                    <a:p>
                      <a:pPr algn="ctr"/>
                      <a:r>
                        <a:rPr lang="en-IN" sz="1600" dirty="0"/>
                        <a:t>Description</a:t>
                      </a:r>
                    </a:p>
                  </a:txBody>
                  <a:tcPr anchor="ctr"/>
                </a:tc>
                <a:extLst>
                  <a:ext uri="{0D108BD9-81ED-4DB2-BD59-A6C34878D82A}">
                    <a16:rowId xmlns:a16="http://schemas.microsoft.com/office/drawing/2014/main" val="569838651"/>
                  </a:ext>
                </a:extLst>
              </a:tr>
              <a:tr h="276999">
                <a:tc>
                  <a:txBody>
                    <a:bodyPr/>
                    <a:lstStyle/>
                    <a:p>
                      <a:pPr algn="ctr"/>
                      <a:r>
                        <a:rPr lang="en-IN" sz="1600" dirty="0"/>
                        <a:t>1</a:t>
                      </a:r>
                    </a:p>
                  </a:txBody>
                  <a:tcPr/>
                </a:tc>
                <a:tc>
                  <a:txBody>
                    <a:bodyPr/>
                    <a:lstStyle/>
                    <a:p>
                      <a:r>
                        <a:rPr lang="en-IN" sz="1600" dirty="0"/>
                        <a:t>GPT – 5</a:t>
                      </a:r>
                    </a:p>
                  </a:txBody>
                  <a:tcPr/>
                </a:tc>
                <a:tc>
                  <a:txBody>
                    <a:bodyPr/>
                    <a:lstStyle/>
                    <a:p>
                      <a:pPr algn="ctr"/>
                      <a:r>
                        <a:rPr lang="en-IN" sz="1600" dirty="0"/>
                        <a:t>1.250</a:t>
                      </a:r>
                    </a:p>
                  </a:txBody>
                  <a:tcPr/>
                </a:tc>
                <a:tc>
                  <a:txBody>
                    <a:bodyPr/>
                    <a:lstStyle/>
                    <a:p>
                      <a:pPr algn="ctr"/>
                      <a:r>
                        <a:rPr lang="en-IN" sz="1600" dirty="0"/>
                        <a:t>0.125</a:t>
                      </a:r>
                    </a:p>
                  </a:txBody>
                  <a:tcPr/>
                </a:tc>
                <a:tc>
                  <a:txBody>
                    <a:bodyPr/>
                    <a:lstStyle/>
                    <a:p>
                      <a:pPr algn="ctr"/>
                      <a:r>
                        <a:rPr lang="en-IN" sz="1600" dirty="0"/>
                        <a:t>10</a:t>
                      </a:r>
                    </a:p>
                  </a:txBody>
                  <a:tcPr/>
                </a:tc>
                <a:tc>
                  <a:txBody>
                    <a:bodyPr/>
                    <a:lstStyle/>
                    <a:p>
                      <a:r>
                        <a:rPr lang="en-IN" sz="1600" dirty="0"/>
                        <a:t>The best model for coding and agentic tasks</a:t>
                      </a:r>
                    </a:p>
                  </a:txBody>
                  <a:tcPr/>
                </a:tc>
                <a:extLst>
                  <a:ext uri="{0D108BD9-81ED-4DB2-BD59-A6C34878D82A}">
                    <a16:rowId xmlns:a16="http://schemas.microsoft.com/office/drawing/2014/main" val="553668903"/>
                  </a:ext>
                </a:extLst>
              </a:tr>
              <a:tr h="276999">
                <a:tc>
                  <a:txBody>
                    <a:bodyPr/>
                    <a:lstStyle/>
                    <a:p>
                      <a:pPr algn="ctr"/>
                      <a:r>
                        <a:rPr lang="en-IN" sz="1600" dirty="0"/>
                        <a:t>2</a:t>
                      </a:r>
                    </a:p>
                  </a:txBody>
                  <a:tcPr/>
                </a:tc>
                <a:tc>
                  <a:txBody>
                    <a:bodyPr/>
                    <a:lstStyle/>
                    <a:p>
                      <a:r>
                        <a:rPr lang="en-IN" sz="1600" dirty="0"/>
                        <a:t>GPT – 5 mini</a:t>
                      </a:r>
                    </a:p>
                  </a:txBody>
                  <a:tcPr/>
                </a:tc>
                <a:tc>
                  <a:txBody>
                    <a:bodyPr/>
                    <a:lstStyle/>
                    <a:p>
                      <a:pPr algn="ctr"/>
                      <a:r>
                        <a:rPr lang="en-IN" sz="1600" dirty="0"/>
                        <a:t>0.250</a:t>
                      </a:r>
                    </a:p>
                  </a:txBody>
                  <a:tcPr/>
                </a:tc>
                <a:tc>
                  <a:txBody>
                    <a:bodyPr/>
                    <a:lstStyle/>
                    <a:p>
                      <a:pPr algn="ctr"/>
                      <a:r>
                        <a:rPr lang="en-IN" sz="1600" dirty="0"/>
                        <a:t>0.025</a:t>
                      </a:r>
                    </a:p>
                  </a:txBody>
                  <a:tcPr/>
                </a:tc>
                <a:tc>
                  <a:txBody>
                    <a:bodyPr/>
                    <a:lstStyle/>
                    <a:p>
                      <a:pPr algn="ctr"/>
                      <a:r>
                        <a:rPr lang="en-IN" sz="1600" dirty="0"/>
                        <a:t>2</a:t>
                      </a:r>
                    </a:p>
                  </a:txBody>
                  <a:tcPr/>
                </a:tc>
                <a:tc>
                  <a:txBody>
                    <a:bodyPr/>
                    <a:lstStyle/>
                    <a:p>
                      <a:r>
                        <a:rPr lang="en-IN" sz="1600" dirty="0"/>
                        <a:t>A faster, cheaper version of GPT-5 for well-defined tasks</a:t>
                      </a:r>
                    </a:p>
                  </a:txBody>
                  <a:tcPr/>
                </a:tc>
                <a:extLst>
                  <a:ext uri="{0D108BD9-81ED-4DB2-BD59-A6C34878D82A}">
                    <a16:rowId xmlns:a16="http://schemas.microsoft.com/office/drawing/2014/main" val="2804918551"/>
                  </a:ext>
                </a:extLst>
              </a:tr>
              <a:tr h="276999">
                <a:tc>
                  <a:txBody>
                    <a:bodyPr/>
                    <a:lstStyle/>
                    <a:p>
                      <a:pPr algn="ctr"/>
                      <a:r>
                        <a:rPr lang="en-IN" sz="1600" dirty="0"/>
                        <a:t>3</a:t>
                      </a:r>
                    </a:p>
                  </a:txBody>
                  <a:tcPr/>
                </a:tc>
                <a:tc>
                  <a:txBody>
                    <a:bodyPr/>
                    <a:lstStyle/>
                    <a:p>
                      <a:r>
                        <a:rPr lang="en-IN" sz="1600" dirty="0"/>
                        <a:t>GPT – 5 nano</a:t>
                      </a:r>
                    </a:p>
                  </a:txBody>
                  <a:tcPr/>
                </a:tc>
                <a:tc>
                  <a:txBody>
                    <a:bodyPr/>
                    <a:lstStyle/>
                    <a:p>
                      <a:pPr algn="ctr"/>
                      <a:r>
                        <a:rPr lang="en-IN" sz="1600" dirty="0"/>
                        <a:t>0.050</a:t>
                      </a:r>
                    </a:p>
                  </a:txBody>
                  <a:tcPr/>
                </a:tc>
                <a:tc>
                  <a:txBody>
                    <a:bodyPr/>
                    <a:lstStyle/>
                    <a:p>
                      <a:pPr algn="ctr"/>
                      <a:r>
                        <a:rPr lang="en-IN" sz="1600" dirty="0"/>
                        <a:t>0.005</a:t>
                      </a:r>
                    </a:p>
                  </a:txBody>
                  <a:tcPr/>
                </a:tc>
                <a:tc>
                  <a:txBody>
                    <a:bodyPr/>
                    <a:lstStyle/>
                    <a:p>
                      <a:pPr algn="ctr"/>
                      <a:r>
                        <a:rPr lang="en-IN" sz="1600" dirty="0"/>
                        <a:t>0.4</a:t>
                      </a:r>
                    </a:p>
                  </a:txBody>
                  <a:tcPr/>
                </a:tc>
                <a:tc>
                  <a:txBody>
                    <a:bodyPr/>
                    <a:lstStyle/>
                    <a:p>
                      <a:r>
                        <a:rPr lang="en-IN" sz="1600" dirty="0"/>
                        <a:t>The fastest, cheapest version of GPT-5 for summarization and classification tasks</a:t>
                      </a:r>
                    </a:p>
                  </a:txBody>
                  <a:tcPr/>
                </a:tc>
                <a:extLst>
                  <a:ext uri="{0D108BD9-81ED-4DB2-BD59-A6C34878D82A}">
                    <a16:rowId xmlns:a16="http://schemas.microsoft.com/office/drawing/2014/main" val="3793817770"/>
                  </a:ext>
                </a:extLst>
              </a:tr>
            </a:tbl>
          </a:graphicData>
        </a:graphic>
      </p:graphicFrame>
      <p:sp>
        <p:nvSpPr>
          <p:cNvPr id="5" name="TextBox 4">
            <a:extLst>
              <a:ext uri="{FF2B5EF4-FFF2-40B4-BE49-F238E27FC236}">
                <a16:creationId xmlns:a16="http://schemas.microsoft.com/office/drawing/2014/main" id="{6B8DD3E4-5EF0-0F16-673B-4F2BD7563AD0}"/>
              </a:ext>
            </a:extLst>
          </p:cNvPr>
          <p:cNvSpPr txBox="1"/>
          <p:nvPr/>
        </p:nvSpPr>
        <p:spPr>
          <a:xfrm>
            <a:off x="190502" y="3998344"/>
            <a:ext cx="11810997" cy="338554"/>
          </a:xfrm>
          <a:prstGeom prst="rect">
            <a:avLst/>
          </a:prstGeom>
          <a:noFill/>
        </p:spPr>
        <p:txBody>
          <a:bodyPr wrap="square" rtlCol="0">
            <a:spAutoFit/>
          </a:bodyPr>
          <a:lstStyle/>
          <a:p>
            <a:r>
              <a:rPr lang="en-IN" sz="1600" b="1" dirty="0"/>
              <a:t>NOTE: </a:t>
            </a:r>
            <a:r>
              <a:rPr lang="en-IN" sz="1600" dirty="0"/>
              <a:t>Above prices are in US Dollars per million tokens</a:t>
            </a:r>
          </a:p>
        </p:txBody>
      </p:sp>
    </p:spTree>
    <p:extLst>
      <p:ext uri="{BB962C8B-B14F-4D97-AF65-F5344CB8AC3E}">
        <p14:creationId xmlns:p14="http://schemas.microsoft.com/office/powerpoint/2010/main" val="18720730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4A8911-BBE3-4F16-C51A-6DA6DC242A86}"/>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C6F367F-C662-ECD5-C197-FE708BC49109}"/>
              </a:ext>
            </a:extLst>
          </p:cNvPr>
          <p:cNvSpPr txBox="1"/>
          <p:nvPr/>
        </p:nvSpPr>
        <p:spPr>
          <a:xfrm>
            <a:off x="190500" y="166254"/>
            <a:ext cx="11811000" cy="400110"/>
          </a:xfrm>
          <a:prstGeom prst="rect">
            <a:avLst/>
          </a:prstGeom>
          <a:noFill/>
        </p:spPr>
        <p:txBody>
          <a:bodyPr wrap="square" rtlCol="0">
            <a:spAutoFit/>
          </a:bodyPr>
          <a:lstStyle/>
          <a:p>
            <a:r>
              <a:rPr lang="en-IN" sz="2000" b="1" dirty="0"/>
              <a:t>LLMOps Frameworks: LangSmith vs LangFuse</a:t>
            </a:r>
          </a:p>
        </p:txBody>
      </p:sp>
      <p:pic>
        <p:nvPicPr>
          <p:cNvPr id="5" name="Picture 4" descr="A blue and white text&#10;&#10;AI-generated content may be incorrect.">
            <a:extLst>
              <a:ext uri="{FF2B5EF4-FFF2-40B4-BE49-F238E27FC236}">
                <a16:creationId xmlns:a16="http://schemas.microsoft.com/office/drawing/2014/main" id="{70ABBFE9-9695-67B2-CD28-10290D20027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514730" y="3458263"/>
            <a:ext cx="1866840" cy="464561"/>
          </a:xfrm>
          <a:prstGeom prst="rect">
            <a:avLst/>
          </a:prstGeom>
        </p:spPr>
      </p:pic>
      <p:pic>
        <p:nvPicPr>
          <p:cNvPr id="7" name="Picture 6" descr="A black and white logo&#10;&#10;AI-generated content may be incorrect.">
            <a:extLst>
              <a:ext uri="{FF2B5EF4-FFF2-40B4-BE49-F238E27FC236}">
                <a16:creationId xmlns:a16="http://schemas.microsoft.com/office/drawing/2014/main" id="{84EFBE2D-09F5-E504-0327-A01FBA47124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rot="16200000">
            <a:off x="-508594" y="5435619"/>
            <a:ext cx="1866842" cy="468651"/>
          </a:xfrm>
          <a:prstGeom prst="rect">
            <a:avLst/>
          </a:prstGeom>
        </p:spPr>
      </p:pic>
      <p:sp>
        <p:nvSpPr>
          <p:cNvPr id="8" name="Rectangle 7">
            <a:extLst>
              <a:ext uri="{FF2B5EF4-FFF2-40B4-BE49-F238E27FC236}">
                <a16:creationId xmlns:a16="http://schemas.microsoft.com/office/drawing/2014/main" id="{CF0BE3B4-6BF0-EB68-221D-E154629EE7A7}"/>
              </a:ext>
            </a:extLst>
          </p:cNvPr>
          <p:cNvSpPr/>
          <p:nvPr/>
        </p:nvSpPr>
        <p:spPr>
          <a:xfrm>
            <a:off x="650969" y="2757123"/>
            <a:ext cx="11338257" cy="1866841"/>
          </a:xfrm>
          <a:prstGeom prst="rect">
            <a:avLst/>
          </a:prstGeom>
          <a:solidFill>
            <a:schemeClr val="bg1">
              <a:lumMod val="9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marL="72000" indent="-144000">
              <a:buFont typeface="Arial" panose="020B0604020202020204" pitchFamily="34" charset="0"/>
              <a:buChar char="•"/>
            </a:pPr>
            <a:r>
              <a:rPr lang="en-IN" sz="1600" dirty="0">
                <a:solidFill>
                  <a:schemeClr val="tx1"/>
                </a:solidFill>
              </a:rPr>
              <a:t>A cloud-hosted LLMOps platform by </a:t>
            </a:r>
            <a:r>
              <a:rPr lang="en-IN" sz="1600" dirty="0" err="1">
                <a:solidFill>
                  <a:schemeClr val="tx1"/>
                </a:solidFill>
              </a:rPr>
              <a:t>LangChain</a:t>
            </a:r>
            <a:endParaRPr lang="en-IN" sz="1600" dirty="0">
              <a:solidFill>
                <a:schemeClr val="tx1"/>
              </a:solidFill>
            </a:endParaRPr>
          </a:p>
          <a:p>
            <a:pPr marL="72000" indent="-144000">
              <a:buFont typeface="Arial" panose="020B0604020202020204" pitchFamily="34" charset="0"/>
              <a:buChar char="•"/>
            </a:pPr>
            <a:r>
              <a:rPr lang="en-IN" sz="1600" dirty="0">
                <a:solidFill>
                  <a:schemeClr val="tx1"/>
                </a:solidFill>
              </a:rPr>
              <a:t>Tight integration with </a:t>
            </a:r>
            <a:r>
              <a:rPr lang="en-IN" sz="1600" dirty="0" err="1">
                <a:solidFill>
                  <a:schemeClr val="tx1"/>
                </a:solidFill>
              </a:rPr>
              <a:t>LangChain</a:t>
            </a:r>
            <a:r>
              <a:rPr lang="en-IN" sz="1600" dirty="0">
                <a:solidFill>
                  <a:schemeClr val="tx1"/>
                </a:solidFill>
              </a:rPr>
              <a:t> ecosystem (LangGraph, etc.)</a:t>
            </a:r>
          </a:p>
          <a:p>
            <a:pPr marL="72000" indent="-144000">
              <a:buFont typeface="Arial" panose="020B0604020202020204" pitchFamily="34" charset="0"/>
              <a:buChar char="•"/>
            </a:pPr>
            <a:r>
              <a:rPr lang="en-IN" sz="1600" dirty="0">
                <a:solidFill>
                  <a:schemeClr val="tx1"/>
                </a:solidFill>
              </a:rPr>
              <a:t>Self-hosting on local machine is possible but only for enterprise plan</a:t>
            </a:r>
          </a:p>
          <a:p>
            <a:pPr marL="72000" indent="-144000">
              <a:buFont typeface="Arial" panose="020B0604020202020204" pitchFamily="34" charset="0"/>
              <a:buChar char="•"/>
            </a:pPr>
            <a:r>
              <a:rPr lang="en-IN" sz="1600" dirty="0">
                <a:solidFill>
                  <a:schemeClr val="tx1"/>
                </a:solidFill>
              </a:rPr>
              <a:t>The free-tier of LangSmith offers 5,000 base traces per month (i.e., one run of your code will be counted as 1 trace)</a:t>
            </a:r>
          </a:p>
          <a:p>
            <a:pPr marL="72000" indent="-144000">
              <a:buFont typeface="Arial" panose="020B0604020202020204" pitchFamily="34" charset="0"/>
              <a:buChar char="•"/>
            </a:pPr>
            <a:r>
              <a:rPr lang="en-IN" sz="1600" dirty="0">
                <a:solidFill>
                  <a:schemeClr val="tx1"/>
                </a:solidFill>
              </a:rPr>
              <a:t>Great UI / UX</a:t>
            </a:r>
          </a:p>
        </p:txBody>
      </p:sp>
      <p:sp>
        <p:nvSpPr>
          <p:cNvPr id="9" name="Rectangle 8">
            <a:extLst>
              <a:ext uri="{FF2B5EF4-FFF2-40B4-BE49-F238E27FC236}">
                <a16:creationId xmlns:a16="http://schemas.microsoft.com/office/drawing/2014/main" id="{D2D621BD-2B28-746D-7EA1-047983F9C994}"/>
              </a:ext>
            </a:extLst>
          </p:cNvPr>
          <p:cNvSpPr/>
          <p:nvPr/>
        </p:nvSpPr>
        <p:spPr>
          <a:xfrm>
            <a:off x="659151" y="4736524"/>
            <a:ext cx="11338257" cy="1866842"/>
          </a:xfrm>
          <a:prstGeom prst="rect">
            <a:avLst/>
          </a:prstGeom>
          <a:solidFill>
            <a:schemeClr val="bg1">
              <a:lumMod val="9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marL="72000" indent="-144000">
              <a:buFont typeface="Arial" panose="020B0604020202020204" pitchFamily="34" charset="0"/>
              <a:buChar char="•"/>
            </a:pPr>
            <a:r>
              <a:rPr lang="en-IN" dirty="0">
                <a:solidFill>
                  <a:schemeClr val="tx1"/>
                </a:solidFill>
              </a:rPr>
              <a:t>An open-source LLMOps platform</a:t>
            </a:r>
          </a:p>
          <a:p>
            <a:pPr marL="72000" indent="-144000">
              <a:buFont typeface="Arial" panose="020B0604020202020204" pitchFamily="34" charset="0"/>
              <a:buChar char="•"/>
            </a:pPr>
            <a:r>
              <a:rPr lang="en-IN" dirty="0">
                <a:solidFill>
                  <a:schemeClr val="tx1"/>
                </a:solidFill>
              </a:rPr>
              <a:t>Framework-agnostic: it works with </a:t>
            </a:r>
            <a:r>
              <a:rPr lang="en-IN" dirty="0" err="1">
                <a:solidFill>
                  <a:schemeClr val="tx1"/>
                </a:solidFill>
              </a:rPr>
              <a:t>LangChain</a:t>
            </a:r>
            <a:r>
              <a:rPr lang="en-IN" dirty="0">
                <a:solidFill>
                  <a:schemeClr val="tx1"/>
                </a:solidFill>
              </a:rPr>
              <a:t>, </a:t>
            </a:r>
            <a:r>
              <a:rPr lang="en-IN" dirty="0" err="1">
                <a:solidFill>
                  <a:schemeClr val="tx1"/>
                </a:solidFill>
              </a:rPr>
              <a:t>LlamaIndex</a:t>
            </a:r>
            <a:r>
              <a:rPr lang="en-IN" dirty="0">
                <a:solidFill>
                  <a:schemeClr val="tx1"/>
                </a:solidFill>
              </a:rPr>
              <a:t>, custom SDKs, etc.</a:t>
            </a:r>
          </a:p>
          <a:p>
            <a:pPr marL="72000" indent="-144000">
              <a:buFont typeface="Arial" panose="020B0604020202020204" pitchFamily="34" charset="0"/>
              <a:buChar char="•"/>
            </a:pPr>
            <a:r>
              <a:rPr lang="en-IN" dirty="0">
                <a:solidFill>
                  <a:schemeClr val="tx1"/>
                </a:solidFill>
              </a:rPr>
              <a:t>Offers both: self-hostable docker free of cost and cloud service</a:t>
            </a:r>
          </a:p>
          <a:p>
            <a:pPr marL="72000" indent="-144000">
              <a:buFont typeface="Arial" panose="020B0604020202020204" pitchFamily="34" charset="0"/>
              <a:buChar char="•"/>
            </a:pPr>
            <a:endParaRPr lang="en-IN" dirty="0">
              <a:solidFill>
                <a:schemeClr val="tx1"/>
              </a:solidFill>
            </a:endParaRPr>
          </a:p>
        </p:txBody>
      </p:sp>
      <p:sp>
        <p:nvSpPr>
          <p:cNvPr id="11" name="Rectangle 10">
            <a:extLst>
              <a:ext uri="{FF2B5EF4-FFF2-40B4-BE49-F238E27FC236}">
                <a16:creationId xmlns:a16="http://schemas.microsoft.com/office/drawing/2014/main" id="{FE75F4C5-F90C-976F-F174-6897D65AAA1D}"/>
              </a:ext>
            </a:extLst>
          </p:cNvPr>
          <p:cNvSpPr/>
          <p:nvPr/>
        </p:nvSpPr>
        <p:spPr>
          <a:xfrm>
            <a:off x="190500" y="566364"/>
            <a:ext cx="11806908" cy="2078199"/>
          </a:xfrm>
          <a:prstGeom prst="rect">
            <a:avLst/>
          </a:prstGeom>
          <a:solidFill>
            <a:schemeClr val="bg1">
              <a:lumMod val="9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marL="72000" indent="-144000">
              <a:buFont typeface="Arial" panose="020B0604020202020204" pitchFamily="34" charset="0"/>
              <a:buChar char="•"/>
            </a:pPr>
            <a:r>
              <a:rPr lang="en-IN" sz="1600" dirty="0">
                <a:solidFill>
                  <a:schemeClr val="tx1"/>
                </a:solidFill>
              </a:rPr>
              <a:t>LLMOps (</a:t>
            </a:r>
            <a:r>
              <a:rPr lang="en-IN" sz="1600" dirty="0" err="1">
                <a:solidFill>
                  <a:schemeClr val="tx1"/>
                </a:solidFill>
              </a:rPr>
              <a:t>MLOps</a:t>
            </a:r>
            <a:r>
              <a:rPr lang="en-IN" sz="1600" dirty="0">
                <a:solidFill>
                  <a:schemeClr val="tx1"/>
                </a:solidFill>
              </a:rPr>
              <a:t> for Large Language Models) tools help you develop, test, deploy, monitor, and manage LLM-powered applications.</a:t>
            </a:r>
          </a:p>
          <a:p>
            <a:pPr marL="72000" indent="-144000">
              <a:buFont typeface="Arial" panose="020B0604020202020204" pitchFamily="34" charset="0"/>
              <a:buChar char="•"/>
            </a:pPr>
            <a:r>
              <a:rPr lang="en-IN" sz="1600" dirty="0">
                <a:solidFill>
                  <a:schemeClr val="tx1"/>
                </a:solidFill>
              </a:rPr>
              <a:t>Within LLMOps, both LangSmith and LangFuse focus on:</a:t>
            </a:r>
          </a:p>
          <a:p>
            <a:pPr marL="670950" lvl="1" indent="-285750">
              <a:buFont typeface="Courier New" panose="02070309020205020404" pitchFamily="49" charset="0"/>
              <a:buChar char="o"/>
            </a:pPr>
            <a:r>
              <a:rPr lang="en-IN" sz="1600" dirty="0">
                <a:solidFill>
                  <a:schemeClr val="tx1"/>
                </a:solidFill>
              </a:rPr>
              <a:t>Prompt Management: versioning, templating, evaluation</a:t>
            </a:r>
          </a:p>
          <a:p>
            <a:pPr marL="670950" lvl="1" indent="-285750">
              <a:buFont typeface="Courier New" panose="02070309020205020404" pitchFamily="49" charset="0"/>
              <a:buChar char="o"/>
            </a:pPr>
            <a:r>
              <a:rPr lang="en-IN" sz="1600" dirty="0">
                <a:solidFill>
                  <a:schemeClr val="tx1"/>
                </a:solidFill>
              </a:rPr>
              <a:t>Tracing &amp; Observability: records what prompts / LLM calls ran, inputs / outputs, costs, latency</a:t>
            </a:r>
          </a:p>
          <a:p>
            <a:pPr marL="670950" lvl="1" indent="-285750">
              <a:buFont typeface="Courier New" panose="02070309020205020404" pitchFamily="49" charset="0"/>
              <a:buChar char="o"/>
            </a:pPr>
            <a:r>
              <a:rPr lang="en-IN" sz="1600" dirty="0">
                <a:solidFill>
                  <a:schemeClr val="tx1"/>
                </a:solidFill>
              </a:rPr>
              <a:t>Evaluation &amp; Debugging: compare prompt versions, run eval datasets, records where app fails</a:t>
            </a:r>
          </a:p>
          <a:p>
            <a:pPr marL="670950" lvl="1" indent="-285750">
              <a:buFont typeface="Courier New" panose="02070309020205020404" pitchFamily="49" charset="0"/>
              <a:buChar char="o"/>
            </a:pPr>
            <a:r>
              <a:rPr lang="en-IN" sz="1600" dirty="0">
                <a:solidFill>
                  <a:schemeClr val="tx1"/>
                </a:solidFill>
              </a:rPr>
              <a:t>Collaboration: UI dashboard for teams to test and iterate</a:t>
            </a:r>
          </a:p>
        </p:txBody>
      </p:sp>
    </p:spTree>
    <p:extLst>
      <p:ext uri="{BB962C8B-B14F-4D97-AF65-F5344CB8AC3E}">
        <p14:creationId xmlns:p14="http://schemas.microsoft.com/office/powerpoint/2010/main" val="269911369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2856C5-767D-2E1F-D62A-0E2BB097863A}"/>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F7E8B644-A74C-5CD4-985B-3DAB5AD1BBC2}"/>
              </a:ext>
            </a:extLst>
          </p:cNvPr>
          <p:cNvSpPr txBox="1"/>
          <p:nvPr/>
        </p:nvSpPr>
        <p:spPr>
          <a:xfrm>
            <a:off x="190500" y="166254"/>
            <a:ext cx="11811000" cy="400110"/>
          </a:xfrm>
          <a:prstGeom prst="rect">
            <a:avLst/>
          </a:prstGeom>
          <a:noFill/>
        </p:spPr>
        <p:txBody>
          <a:bodyPr wrap="square" rtlCol="0">
            <a:spAutoFit/>
          </a:bodyPr>
          <a:lstStyle/>
          <a:p>
            <a:r>
              <a:rPr lang="en-IN" sz="2000" b="1" dirty="0"/>
              <a:t>LLMOps Frameworks: LangFuse Cloud vs LangFuse Docker</a:t>
            </a:r>
          </a:p>
        </p:txBody>
      </p:sp>
      <p:sp>
        <p:nvSpPr>
          <p:cNvPr id="3" name="Rectangle 2">
            <a:extLst>
              <a:ext uri="{FF2B5EF4-FFF2-40B4-BE49-F238E27FC236}">
                <a16:creationId xmlns:a16="http://schemas.microsoft.com/office/drawing/2014/main" id="{995A1D32-F3CF-F654-588C-776AD8E6CF21}"/>
              </a:ext>
            </a:extLst>
          </p:cNvPr>
          <p:cNvSpPr/>
          <p:nvPr/>
        </p:nvSpPr>
        <p:spPr>
          <a:xfrm>
            <a:off x="720004" y="566362"/>
            <a:ext cx="1940349" cy="2770629"/>
          </a:xfrm>
          <a:prstGeom prst="rect">
            <a:avLst/>
          </a:prstGeom>
          <a:solidFill>
            <a:schemeClr val="bg1">
              <a:lumMod val="9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IN" sz="1600" dirty="0">
                <a:solidFill>
                  <a:schemeClr val="tx1"/>
                </a:solidFill>
              </a:rPr>
              <a:t>LangFuse Cloud</a:t>
            </a:r>
          </a:p>
        </p:txBody>
      </p:sp>
      <p:pic>
        <p:nvPicPr>
          <p:cNvPr id="7" name="Graphic 6" descr="Cloud with solid fill">
            <a:extLst>
              <a:ext uri="{FF2B5EF4-FFF2-40B4-BE49-F238E27FC236}">
                <a16:creationId xmlns:a16="http://schemas.microsoft.com/office/drawing/2014/main" id="{D70F6A96-AFC8-4A7A-662F-710A4AFCB43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29909" y="1191407"/>
            <a:ext cx="1520538" cy="1520538"/>
          </a:xfrm>
          <a:prstGeom prst="rect">
            <a:avLst/>
          </a:prstGeom>
        </p:spPr>
      </p:pic>
      <p:pic>
        <p:nvPicPr>
          <p:cNvPr id="5" name="Picture 4" descr="A black and white logo&#10;&#10;AI-generated content may be incorrect.">
            <a:extLst>
              <a:ext uri="{FF2B5EF4-FFF2-40B4-BE49-F238E27FC236}">
                <a16:creationId xmlns:a16="http://schemas.microsoft.com/office/drawing/2014/main" id="{0E19101B-E32B-FE97-4A38-AC97E43140E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rot="16200000">
            <a:off x="-938390" y="1695254"/>
            <a:ext cx="2770629" cy="512848"/>
          </a:xfrm>
          <a:prstGeom prst="rect">
            <a:avLst/>
          </a:prstGeom>
        </p:spPr>
      </p:pic>
      <p:sp>
        <p:nvSpPr>
          <p:cNvPr id="12" name="Rectangle 11">
            <a:extLst>
              <a:ext uri="{FF2B5EF4-FFF2-40B4-BE49-F238E27FC236}">
                <a16:creationId xmlns:a16="http://schemas.microsoft.com/office/drawing/2014/main" id="{16F2D748-987F-DF31-BB98-2A1AA989AF1A}"/>
              </a:ext>
            </a:extLst>
          </p:cNvPr>
          <p:cNvSpPr/>
          <p:nvPr/>
        </p:nvSpPr>
        <p:spPr>
          <a:xfrm>
            <a:off x="2736706" y="566362"/>
            <a:ext cx="9264793" cy="2770628"/>
          </a:xfrm>
          <a:prstGeom prst="rect">
            <a:avLst/>
          </a:prstGeom>
          <a:solidFill>
            <a:schemeClr val="bg1">
              <a:lumMod val="9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marL="72000" indent="-144000">
              <a:buFont typeface="Arial" panose="020B0604020202020204" pitchFamily="34" charset="0"/>
              <a:buChar char="•"/>
            </a:pPr>
            <a:r>
              <a:rPr lang="en-IN" sz="1600" dirty="0">
                <a:solidFill>
                  <a:srgbClr val="00B050"/>
                </a:solidFill>
              </a:rPr>
              <a:t>Pros:</a:t>
            </a:r>
          </a:p>
          <a:p>
            <a:pPr marL="670950" lvl="1" indent="-285750">
              <a:buFont typeface="Courier New" panose="02070309020205020404" pitchFamily="49" charset="0"/>
              <a:buChar char="o"/>
            </a:pPr>
            <a:r>
              <a:rPr lang="en-IN" sz="1600" dirty="0">
                <a:solidFill>
                  <a:schemeClr val="tx1"/>
                </a:solidFill>
              </a:rPr>
              <a:t>Zero setup: Sign up, get API key, done</a:t>
            </a:r>
          </a:p>
          <a:p>
            <a:pPr marL="670950" lvl="1" indent="-285750">
              <a:buFont typeface="Courier New" panose="02070309020205020404" pitchFamily="49" charset="0"/>
              <a:buChar char="o"/>
            </a:pPr>
            <a:r>
              <a:rPr lang="en-IN" sz="1600" dirty="0">
                <a:solidFill>
                  <a:schemeClr val="tx1"/>
                </a:solidFill>
              </a:rPr>
              <a:t>Always-on dashboard, accessible anywhere</a:t>
            </a:r>
          </a:p>
          <a:p>
            <a:pPr marL="670950" lvl="1" indent="-285750">
              <a:buFont typeface="Courier New" panose="02070309020205020404" pitchFamily="49" charset="0"/>
              <a:buChar char="o"/>
            </a:pPr>
            <a:r>
              <a:rPr lang="en-IN" sz="1600" dirty="0">
                <a:solidFill>
                  <a:schemeClr val="tx1"/>
                </a:solidFill>
              </a:rPr>
              <a:t>No DevOps, no Docker</a:t>
            </a:r>
          </a:p>
          <a:p>
            <a:pPr marL="72000" indent="-144000">
              <a:buFont typeface="Arial" panose="020B0604020202020204" pitchFamily="34" charset="0"/>
              <a:buChar char="•"/>
            </a:pPr>
            <a:r>
              <a:rPr lang="en-IN" sz="1600" dirty="0">
                <a:solidFill>
                  <a:srgbClr val="FF0000"/>
                </a:solidFill>
              </a:rPr>
              <a:t>Cons:</a:t>
            </a:r>
          </a:p>
          <a:p>
            <a:pPr marL="670950" lvl="1" indent="-285750">
              <a:buFont typeface="Courier New" panose="02070309020205020404" pitchFamily="49" charset="0"/>
              <a:buChar char="o"/>
            </a:pPr>
            <a:r>
              <a:rPr lang="en-IN" sz="1600" dirty="0">
                <a:solidFill>
                  <a:schemeClr val="tx1"/>
                </a:solidFill>
              </a:rPr>
              <a:t>Privacy concerns</a:t>
            </a:r>
          </a:p>
          <a:p>
            <a:pPr marL="670950" lvl="1" indent="-285750">
              <a:buFont typeface="Courier New" panose="02070309020205020404" pitchFamily="49" charset="0"/>
              <a:buChar char="o"/>
            </a:pPr>
            <a:r>
              <a:rPr lang="en-IN" sz="1600" dirty="0">
                <a:solidFill>
                  <a:schemeClr val="tx1"/>
                </a:solidFill>
              </a:rPr>
              <a:t>Free tier is limited (5,000 traces per month)</a:t>
            </a:r>
          </a:p>
          <a:p>
            <a:pPr marL="670950" lvl="1" indent="-285750">
              <a:buFont typeface="Courier New" panose="02070309020205020404" pitchFamily="49" charset="0"/>
              <a:buChar char="o"/>
            </a:pPr>
            <a:r>
              <a:rPr lang="en-IN" sz="1600" dirty="0">
                <a:solidFill>
                  <a:schemeClr val="tx1"/>
                </a:solidFill>
              </a:rPr>
              <a:t>Cost increases with scaling</a:t>
            </a:r>
          </a:p>
        </p:txBody>
      </p:sp>
      <p:pic>
        <p:nvPicPr>
          <p:cNvPr id="14" name="Picture 13" descr="A black and white logo&#10;&#10;AI-generated content may be incorrect.">
            <a:extLst>
              <a:ext uri="{FF2B5EF4-FFF2-40B4-BE49-F238E27FC236}">
                <a16:creationId xmlns:a16="http://schemas.microsoft.com/office/drawing/2014/main" id="{41FB6A18-6401-BB4D-6CB5-B6537EB3C7E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rot="16200000">
            <a:off x="-938391" y="4556380"/>
            <a:ext cx="2770629" cy="512848"/>
          </a:xfrm>
          <a:prstGeom prst="rect">
            <a:avLst/>
          </a:prstGeom>
        </p:spPr>
      </p:pic>
      <p:sp>
        <p:nvSpPr>
          <p:cNvPr id="15" name="Rectangle 14">
            <a:extLst>
              <a:ext uri="{FF2B5EF4-FFF2-40B4-BE49-F238E27FC236}">
                <a16:creationId xmlns:a16="http://schemas.microsoft.com/office/drawing/2014/main" id="{FF474642-0E70-14D2-24E3-615922E30A72}"/>
              </a:ext>
            </a:extLst>
          </p:cNvPr>
          <p:cNvSpPr/>
          <p:nvPr/>
        </p:nvSpPr>
        <p:spPr>
          <a:xfrm>
            <a:off x="703348" y="3427487"/>
            <a:ext cx="1940349" cy="2770629"/>
          </a:xfrm>
          <a:prstGeom prst="rect">
            <a:avLst/>
          </a:prstGeom>
          <a:solidFill>
            <a:schemeClr val="bg1">
              <a:lumMod val="9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IN" sz="1600" dirty="0">
                <a:solidFill>
                  <a:schemeClr val="tx1"/>
                </a:solidFill>
              </a:rPr>
              <a:t>LangFuse Docker</a:t>
            </a:r>
          </a:p>
        </p:txBody>
      </p:sp>
      <p:pic>
        <p:nvPicPr>
          <p:cNvPr id="2050" name="Picture 2" descr="Docker, logo, logos icon - Free download on Iconfinder">
            <a:extLst>
              <a:ext uri="{FF2B5EF4-FFF2-40B4-BE49-F238E27FC236}">
                <a16:creationId xmlns:a16="http://schemas.microsoft.com/office/drawing/2014/main" id="{840120A0-6AAC-A8BF-360B-1B4788A7C686}"/>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929909" y="4052532"/>
            <a:ext cx="1520538" cy="1520538"/>
          </a:xfrm>
          <a:prstGeom prst="rect">
            <a:avLst/>
          </a:prstGeom>
          <a:noFill/>
          <a:extLst>
            <a:ext uri="{909E8E84-426E-40DD-AFC4-6F175D3DCCD1}">
              <a14:hiddenFill xmlns:a14="http://schemas.microsoft.com/office/drawing/2010/main">
                <a:solidFill>
                  <a:srgbClr val="FFFFFF"/>
                </a:solidFill>
              </a14:hiddenFill>
            </a:ext>
          </a:extLst>
        </p:spPr>
      </p:pic>
      <p:sp>
        <p:nvSpPr>
          <p:cNvPr id="16" name="Rectangle 15">
            <a:extLst>
              <a:ext uri="{FF2B5EF4-FFF2-40B4-BE49-F238E27FC236}">
                <a16:creationId xmlns:a16="http://schemas.microsoft.com/office/drawing/2014/main" id="{07A0FC5E-D801-DAC1-8633-E6F7879E5910}"/>
              </a:ext>
            </a:extLst>
          </p:cNvPr>
          <p:cNvSpPr/>
          <p:nvPr/>
        </p:nvSpPr>
        <p:spPr>
          <a:xfrm>
            <a:off x="2736706" y="3427488"/>
            <a:ext cx="9264793" cy="2770628"/>
          </a:xfrm>
          <a:prstGeom prst="rect">
            <a:avLst/>
          </a:prstGeom>
          <a:solidFill>
            <a:schemeClr val="bg1">
              <a:lumMod val="9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marL="72000" indent="-144000">
              <a:buFont typeface="Arial" panose="020B0604020202020204" pitchFamily="34" charset="0"/>
              <a:buChar char="•"/>
            </a:pPr>
            <a:r>
              <a:rPr lang="en-IN" sz="1600" dirty="0">
                <a:solidFill>
                  <a:srgbClr val="00B050"/>
                </a:solidFill>
              </a:rPr>
              <a:t>Pros:</a:t>
            </a:r>
          </a:p>
          <a:p>
            <a:pPr marL="670950" lvl="1" indent="-285750">
              <a:buFont typeface="Courier New" panose="02070309020205020404" pitchFamily="49" charset="0"/>
              <a:buChar char="o"/>
            </a:pPr>
            <a:r>
              <a:rPr lang="en-IN" sz="1600" dirty="0">
                <a:solidFill>
                  <a:schemeClr val="tx1"/>
                </a:solidFill>
              </a:rPr>
              <a:t>Privacy: Data never leaves your premises</a:t>
            </a:r>
          </a:p>
          <a:p>
            <a:pPr marL="670950" lvl="1" indent="-285750">
              <a:buFont typeface="Courier New" panose="02070309020205020404" pitchFamily="49" charset="0"/>
              <a:buChar char="o"/>
            </a:pPr>
            <a:r>
              <a:rPr lang="en-IN" sz="1600" dirty="0">
                <a:solidFill>
                  <a:schemeClr val="tx1"/>
                </a:solidFill>
              </a:rPr>
              <a:t>Cost: free</a:t>
            </a:r>
          </a:p>
          <a:p>
            <a:pPr marL="670950" lvl="1" indent="-285750">
              <a:buFont typeface="Courier New" panose="02070309020205020404" pitchFamily="49" charset="0"/>
              <a:buChar char="o"/>
            </a:pPr>
            <a:r>
              <a:rPr lang="en-IN" sz="1600" dirty="0">
                <a:solidFill>
                  <a:schemeClr val="tx1"/>
                </a:solidFill>
              </a:rPr>
              <a:t>Learning: You get to know how LangFuse works under the hood</a:t>
            </a:r>
          </a:p>
          <a:p>
            <a:pPr marL="670950" lvl="1" indent="-285750">
              <a:buFont typeface="Courier New" panose="02070309020205020404" pitchFamily="49" charset="0"/>
              <a:buChar char="o"/>
            </a:pPr>
            <a:r>
              <a:rPr lang="en-IN" sz="1600" dirty="0">
                <a:solidFill>
                  <a:schemeClr val="tx1"/>
                </a:solidFill>
              </a:rPr>
              <a:t>Independence: No vendor lock-in, you can later deploy the same Docker setup to the cloud</a:t>
            </a:r>
          </a:p>
          <a:p>
            <a:pPr marL="72000" indent="-144000">
              <a:buFont typeface="Arial" panose="020B0604020202020204" pitchFamily="34" charset="0"/>
              <a:buChar char="•"/>
            </a:pPr>
            <a:r>
              <a:rPr lang="en-IN" sz="1600" dirty="0">
                <a:solidFill>
                  <a:srgbClr val="FF0000"/>
                </a:solidFill>
              </a:rPr>
              <a:t>Cons:</a:t>
            </a:r>
          </a:p>
          <a:p>
            <a:pPr marL="670950" lvl="1" indent="-285750">
              <a:buFont typeface="Courier New" panose="02070309020205020404" pitchFamily="49" charset="0"/>
              <a:buChar char="o"/>
            </a:pPr>
            <a:r>
              <a:rPr lang="en-IN" sz="1600" dirty="0">
                <a:solidFill>
                  <a:schemeClr val="tx1"/>
                </a:solidFill>
              </a:rPr>
              <a:t>You will need Docker running</a:t>
            </a:r>
          </a:p>
          <a:p>
            <a:pPr marL="670950" lvl="1" indent="-285750">
              <a:buFont typeface="Courier New" panose="02070309020205020404" pitchFamily="49" charset="0"/>
              <a:buChar char="o"/>
            </a:pPr>
            <a:r>
              <a:rPr lang="en-IN" sz="1600" dirty="0">
                <a:solidFill>
                  <a:schemeClr val="tx1"/>
                </a:solidFill>
              </a:rPr>
              <a:t>Local setup: Traces only available on your machine unless you expose it</a:t>
            </a:r>
          </a:p>
          <a:p>
            <a:pPr marL="670950" lvl="1" indent="-285750">
              <a:buFont typeface="Courier New" panose="02070309020205020404" pitchFamily="49" charset="0"/>
              <a:buChar char="o"/>
            </a:pPr>
            <a:r>
              <a:rPr lang="en-IN" sz="1600" dirty="0">
                <a:solidFill>
                  <a:schemeClr val="tx1"/>
                </a:solidFill>
              </a:rPr>
              <a:t>If you want to share dashboard, then host it on a cloud</a:t>
            </a:r>
          </a:p>
          <a:p>
            <a:pPr marL="670950" lvl="1" indent="-285750">
              <a:buFont typeface="Courier New" panose="02070309020205020404" pitchFamily="49" charset="0"/>
              <a:buChar char="o"/>
            </a:pPr>
            <a:endParaRPr lang="en-IN" sz="1600" dirty="0">
              <a:solidFill>
                <a:schemeClr val="tx1"/>
              </a:solidFill>
            </a:endParaRPr>
          </a:p>
        </p:txBody>
      </p:sp>
    </p:spTree>
    <p:extLst>
      <p:ext uri="{BB962C8B-B14F-4D97-AF65-F5344CB8AC3E}">
        <p14:creationId xmlns:p14="http://schemas.microsoft.com/office/powerpoint/2010/main" val="35530919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A3344C-A4BD-88BB-F6EC-7A18C1BFABC0}"/>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16F83D2-167F-09D4-34C7-1ED58196114B}"/>
              </a:ext>
            </a:extLst>
          </p:cNvPr>
          <p:cNvSpPr txBox="1"/>
          <p:nvPr/>
        </p:nvSpPr>
        <p:spPr>
          <a:xfrm>
            <a:off x="190500" y="166254"/>
            <a:ext cx="11811000" cy="400110"/>
          </a:xfrm>
          <a:prstGeom prst="rect">
            <a:avLst/>
          </a:prstGeom>
          <a:noFill/>
        </p:spPr>
        <p:txBody>
          <a:bodyPr wrap="square" rtlCol="0">
            <a:spAutoFit/>
          </a:bodyPr>
          <a:lstStyle/>
          <a:p>
            <a:r>
              <a:rPr lang="en-IN" sz="2000" b="1" dirty="0"/>
              <a:t>&lt;Template&gt;</a:t>
            </a:r>
          </a:p>
        </p:txBody>
      </p:sp>
    </p:spTree>
    <p:extLst>
      <p:ext uri="{BB962C8B-B14F-4D97-AF65-F5344CB8AC3E}">
        <p14:creationId xmlns:p14="http://schemas.microsoft.com/office/powerpoint/2010/main" val="54551911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432</TotalTime>
  <Words>1384</Words>
  <Application>Microsoft Office PowerPoint</Application>
  <PresentationFormat>Widescreen</PresentationFormat>
  <Paragraphs>201</Paragraphs>
  <Slides>12</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12</vt:i4>
      </vt:variant>
    </vt:vector>
  </HeadingPairs>
  <TitlesOfParts>
    <vt:vector size="18" baseType="lpstr">
      <vt:lpstr>Aptos</vt:lpstr>
      <vt:lpstr>Aptos Display</vt:lpstr>
      <vt:lpstr>Arial</vt:lpstr>
      <vt:lpstr>Calibri</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Sanjay Singh</dc:creator>
  <cp:lastModifiedBy>Sanjay Singh</cp:lastModifiedBy>
  <cp:revision>38</cp:revision>
  <dcterms:created xsi:type="dcterms:W3CDTF">2025-09-15T13:54:25Z</dcterms:created>
  <dcterms:modified xsi:type="dcterms:W3CDTF">2025-09-18T08:36:43Z</dcterms:modified>
</cp:coreProperties>
</file>